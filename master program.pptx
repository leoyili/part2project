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sldIdLst>
    <p:sldId id="256" r:id="rId3"/>
    <p:sldId id="282" r:id="rId5"/>
    <p:sldId id="283" r:id="rId6"/>
    <p:sldId id="287" r:id="rId7"/>
    <p:sldId id="288" r:id="rId8"/>
    <p:sldId id="258" r:id="rId9"/>
    <p:sldId id="272" r:id="rId10"/>
    <p:sldId id="273" r:id="rId11"/>
    <p:sldId id="274" r:id="rId12"/>
    <p:sldId id="262" r:id="rId13"/>
    <p:sldId id="270" r:id="rId14"/>
    <p:sldId id="275" r:id="rId15"/>
    <p:sldId id="276" r:id="rId16"/>
    <p:sldId id="285" r:id="rId17"/>
    <p:sldId id="286" r:id="rId18"/>
    <p:sldId id="269" r:id="rId19"/>
    <p:sldId id="277" r:id="rId20"/>
    <p:sldId id="278" r:id="rId21"/>
    <p:sldId id="279" r:id="rId22"/>
    <p:sldId id="280" r:id="rId23"/>
    <p:sldId id="281" r:id="rId24"/>
  </p:sldIdLst>
  <p:sldSz cx="12192000" cy="6858000"/>
  <p:notesSz cx="6858000" cy="9144000"/>
  <p:embeddedFontLst>
    <p:embeddedFont>
      <p:font typeface="DejaVu Math TeX Gyre" panose="02000503000000000000" charset="0"/>
      <p:regular r:id="rId2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8"/>
    <p:restoredTop sz="94652"/>
  </p:normalViewPr>
  <p:slideViewPr>
    <p:cSldViewPr snapToGrid="0">
      <p:cViewPr varScale="1">
        <p:scale>
          <a:sx n="120" d="100"/>
          <a:sy n="120" d="100"/>
        </p:scale>
        <p:origin x="192"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High-temperature superconductors like REBCO are very important for next-generation fusion reactors, because they can generate the extremely strong magnetic fields needed to confine plasma.</a:t>
            </a:r>
            <a:endParaRPr lang="en-US" dirty="0"/>
          </a:p>
          <a:p>
            <a:r>
              <a:rPr lang="en-US" dirty="0"/>
              <a:t>The reactor will generate neutrons, but these neutrons will also damage the material in magnets and other materials in reactor, and REBCO is very sensitive to the damage. </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need about 4 displacement per 1000 atoms in REBCO to drop critical temperature 10% down Which means there are many defects in the REBCO after irradiation, and irradiated REBCO can suffer significant degradation in superconducting performance.. Previous research have pointed out the defect type in irradiated REBCO , mainly O vacancy in Cu O plane, O interstitial, and Frankel defects, and how these defects affect the superconductivity of the material.</a:t>
            </a:r>
            <a:endParaRPr lang="en-US" dirty="0"/>
          </a:p>
          <a:p>
            <a:endParaRPr lang="en-US" dirty="0"/>
          </a:p>
          <a:p>
            <a:r>
              <a:rPr lang="en-US" dirty="0"/>
              <a:t>However, most of these studies are based on static observations, such as using microscopy to observe irradiated REBCO. We are also interested in the dynamic behaviour of these defects, for example how defects interact after they are formed, and whether vacancies and interstitials influence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zh-CN" dirty="0">
                <a:sym typeface="+mn-ea"/>
              </a:rPr>
              <a:t>Therefore, we want to study </a:t>
            </a:r>
            <a:r>
              <a:rPr lang="en-GB" altLang="zh-CN" b="1" dirty="0">
                <a:sym typeface="+mn-ea"/>
              </a:rPr>
              <a:t>REBCO</a:t>
            </a:r>
            <a:r>
              <a:rPr lang="en-GB" altLang="zh-CN" dirty="0">
                <a:sym typeface="+mn-ea"/>
              </a:rPr>
              <a:t> using </a:t>
            </a:r>
            <a:r>
              <a:rPr lang="en-GB" altLang="zh-CN" b="1" dirty="0">
                <a:sym typeface="+mn-ea"/>
              </a:rPr>
              <a:t>molecular dynamics (MD)</a:t>
            </a:r>
            <a:r>
              <a:rPr lang="en-US" altLang="en-GB" b="1" dirty="0">
                <a:sym typeface="+mn-ea"/>
              </a:rPr>
              <a:t>. </a:t>
            </a:r>
            <a:r>
              <a:rPr lang="en-US" altLang="zh-CN" b="1" dirty="0">
                <a:sym typeface="+mn-ea"/>
              </a:rPr>
              <a:t>However, DFT based MD is computationally very expensive. At every MD time step, the forces on all atoms must be recalculated using quantum-mechanical calculations. </a:t>
            </a:r>
            <a:r>
              <a:rPr lang="en-GB" altLang="zh-CN" dirty="0">
                <a:sym typeface="+mn-ea"/>
              </a:rPr>
              <a:t>For a complex system like </a:t>
            </a:r>
            <a:r>
              <a:rPr lang="en-GB" altLang="zh-CN" b="1" dirty="0">
                <a:sym typeface="+mn-ea"/>
              </a:rPr>
              <a:t>REBCO</a:t>
            </a:r>
            <a:r>
              <a:rPr lang="en-GB" altLang="zh-CN" dirty="0">
                <a:sym typeface="+mn-ea"/>
              </a:rPr>
              <a:t>, especially when a large </a:t>
            </a:r>
            <a:r>
              <a:rPr lang="en-GB" altLang="zh-CN" b="1" dirty="0">
                <a:sym typeface="+mn-ea"/>
              </a:rPr>
              <a:t>supercell</a:t>
            </a:r>
            <a:r>
              <a:rPr lang="en-GB" altLang="zh-CN" dirty="0">
                <a:sym typeface="+mn-ea"/>
              </a:rPr>
              <a:t> is needed to model defects, the simulation becomes far too slow.</a:t>
            </a:r>
            <a:br>
              <a:rPr lang="en-GB" altLang="zh-CN" dirty="0">
                <a:sym typeface="+mn-ea"/>
              </a:rPr>
            </a:br>
            <a:br>
              <a:rPr lang="en-GB" altLang="zh-CN" dirty="0">
                <a:sym typeface="+mn-ea"/>
              </a:rPr>
            </a:br>
            <a:r>
              <a:rPr lang="en-GB" altLang="zh-CN" dirty="0">
                <a:sym typeface="+mn-ea"/>
              </a:rPr>
              <a:t>By using </a:t>
            </a:r>
            <a:r>
              <a:rPr lang="en-GB" altLang="zh-CN" b="1" dirty="0">
                <a:sym typeface="+mn-ea"/>
              </a:rPr>
              <a:t>ASE</a:t>
            </a:r>
            <a:r>
              <a:rPr lang="en-GB" altLang="zh-CN" dirty="0">
                <a:sym typeface="+mn-ea"/>
              </a:rPr>
              <a:t>, it is much easier to run </a:t>
            </a:r>
            <a:r>
              <a:rPr lang="en-GB" altLang="zh-CN" b="1" dirty="0">
                <a:sym typeface="+mn-ea"/>
              </a:rPr>
              <a:t>MD</a:t>
            </a:r>
            <a:r>
              <a:rPr lang="en-GB" altLang="zh-CN" dirty="0">
                <a:sym typeface="+mn-ea"/>
              </a:rPr>
              <a:t> simulations</a:t>
            </a:r>
            <a:r>
              <a:rPr lang="en-US" altLang="en-GB" dirty="0">
                <a:sym typeface="+mn-ea"/>
              </a:rPr>
              <a:t>. </a:t>
            </a:r>
            <a:r>
              <a:rPr lang="en-GB" altLang="zh-CN" dirty="0">
                <a:sym typeface="+mn-ea"/>
              </a:rPr>
              <a:t>However, due to the complicated structure, conventional empirical potentials have limitations  like </a:t>
            </a:r>
            <a:r>
              <a:rPr lang="en-GB" altLang="zh-CN" b="1" dirty="0" err="1">
                <a:sym typeface="+mn-ea"/>
              </a:rPr>
              <a:t>Chaplot</a:t>
            </a:r>
            <a:r>
              <a:rPr lang="en-GB" altLang="zh-CN" b="1" dirty="0">
                <a:sym typeface="+mn-ea"/>
              </a:rPr>
              <a:t> potential</a:t>
            </a:r>
            <a:r>
              <a:rPr lang="en-GB" altLang="zh-CN" dirty="0">
                <a:sym typeface="+mn-ea"/>
              </a:rPr>
              <a:t>, it was developed for more ideal and regular crystal environments. In particular, after irradiation, </a:t>
            </a:r>
            <a:r>
              <a:rPr lang="en-GB" altLang="zh-CN" b="1" dirty="0">
                <a:sym typeface="+mn-ea"/>
              </a:rPr>
              <a:t>REBCO</a:t>
            </a:r>
            <a:r>
              <a:rPr lang="en-GB" altLang="zh-CN" dirty="0">
                <a:sym typeface="+mn-ea"/>
              </a:rPr>
              <a:t> shows significant extension along the </a:t>
            </a:r>
            <a:r>
              <a:rPr lang="en-GB" altLang="zh-CN" b="1" dirty="0">
                <a:sym typeface="+mn-ea"/>
              </a:rPr>
              <a:t>c axis</a:t>
            </a:r>
            <a:r>
              <a:rPr lang="en-GB" altLang="zh-CN" dirty="0">
                <a:sym typeface="+mn-ea"/>
              </a:rPr>
              <a:t>, and these traditional </a:t>
            </a:r>
            <a:r>
              <a:rPr lang="en-GB" altLang="zh-CN" b="1" dirty="0">
                <a:sym typeface="+mn-ea"/>
              </a:rPr>
              <a:t>potentials</a:t>
            </a:r>
            <a:r>
              <a:rPr lang="en-GB" altLang="zh-CN" dirty="0">
                <a:sym typeface="+mn-ea"/>
              </a:rPr>
              <a:t> often struggle to describe such large deformation. </a:t>
            </a:r>
            <a:br>
              <a:rPr lang="en-GB" altLang="zh-CN" dirty="0">
                <a:sym typeface="+mn-ea"/>
              </a:rPr>
            </a:br>
            <a:br>
              <a:rPr lang="en-GB" altLang="zh-CN" dirty="0">
                <a:sym typeface="+mn-ea"/>
              </a:rPr>
            </a:br>
            <a:r>
              <a:rPr lang="en-GB" altLang="zh-CN" dirty="0">
                <a:sym typeface="+mn-ea"/>
              </a:rPr>
              <a:t>So ,we choose MACE. MACE is a machine learning potential, </a:t>
            </a:r>
            <a:r>
              <a:rPr lang="en-GB" altLang="zh-CN" dirty="0" err="1">
                <a:sym typeface="+mn-ea"/>
              </a:rPr>
              <a:t>doesnt</a:t>
            </a:r>
            <a:r>
              <a:rPr lang="en-GB" altLang="zh-CN" dirty="0">
                <a:sym typeface="+mn-ea"/>
              </a:rPr>
              <a:t> have an analytic expression, it works more like a black box, you give it a structure as input, it returns energy and forces. However, MACE is trained on conventional materials and regular crystals, Irradiated </a:t>
            </a:r>
            <a:r>
              <a:rPr lang="en-GB" altLang="zh-CN" b="1" dirty="0">
                <a:sym typeface="+mn-ea"/>
              </a:rPr>
              <a:t>REBCO</a:t>
            </a:r>
            <a:r>
              <a:rPr lang="en-GB" altLang="zh-CN" dirty="0">
                <a:sym typeface="+mn-ea"/>
              </a:rPr>
              <a:t> is much more complicated, we are not sure MACE is accurate or not. </a:t>
            </a:r>
            <a:endParaRPr lang="en-GB" altLang="zh-CN" dirty="0"/>
          </a:p>
          <a:p>
            <a:endParaRPr lang="en-GB" altLang="zh-CN" b="1" dirty="0">
              <a:sym typeface="+mn-ea"/>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first task of my project is to validate the accuracy of MACE. I first performed geometry optimisation in DFT for both pristine REBCO and defective structures containing interstitials, vacancies, and Frenkel defects, in order to obtain a set benchmark data.</a:t>
            </a:r>
            <a:endParaRPr lang="en-US" dirty="0"/>
          </a:p>
          <a:p>
            <a:endParaRPr lang="en-US" dirty="0"/>
          </a:p>
          <a:p>
            <a:r>
              <a:rPr lang="en-US" dirty="0"/>
              <a:t>For the DFT calculations, I used the PBE functional, because the MACE was also trained on PBE DFT data. </a:t>
            </a:r>
            <a:br>
              <a:rPr lang="en-US" dirty="0"/>
            </a:br>
            <a:endParaRPr lang="en-US" dirty="0"/>
          </a:p>
          <a:p>
            <a:r>
              <a:rPr lang="en-US" dirty="0"/>
              <a:t>I then used MACE within ASE to perform geometry optimisation on the same structures, and compared the resulting structural data with the DFT results. The main quantity I focused on was bond length, because it directly reflects the local atomic environment and is very sensitive to structural distortion near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dirty="0"/>
              <a:t>Therefore, we want to study </a:t>
            </a:r>
            <a:r>
              <a:rPr lang="en-GB" altLang="zh-CN" b="1" dirty="0"/>
              <a:t>REBCO</a:t>
            </a:r>
            <a:r>
              <a:rPr lang="en-GB" altLang="zh-CN" dirty="0"/>
              <a:t> using </a:t>
            </a:r>
            <a:r>
              <a:rPr lang="en-GB" altLang="zh-CN" b="1" dirty="0"/>
              <a:t>molecular dynamics (MD)</a:t>
            </a:r>
            <a:r>
              <a:rPr lang="en-GB" altLang="zh-CN" dirty="0"/>
              <a:t> in order to understand the </a:t>
            </a:r>
            <a:r>
              <a:rPr lang="en-GB" altLang="zh-CN" dirty="0" err="1"/>
              <a:t>behaviour</a:t>
            </a:r>
            <a:r>
              <a:rPr lang="en-GB" altLang="zh-CN" dirty="0"/>
              <a:t> of irradiation-induced defects at the atomic scale.</a:t>
            </a:r>
            <a:endParaRPr lang="en-GB" altLang="zh-CN" dirty="0"/>
          </a:p>
          <a:p>
            <a:r>
              <a:rPr lang="en-GB" altLang="zh-CN" dirty="0"/>
              <a:t>However, although traditional </a:t>
            </a:r>
            <a:r>
              <a:rPr lang="en-GB" altLang="zh-CN" b="1" dirty="0"/>
              <a:t>DFT-based MD</a:t>
            </a:r>
            <a:r>
              <a:rPr lang="en-GB" altLang="zh-CN" dirty="0"/>
              <a:t> is highly accurate, it is also computationally very expensive. For a complex system like </a:t>
            </a:r>
            <a:r>
              <a:rPr lang="en-GB" altLang="zh-CN" b="1" dirty="0"/>
              <a:t>REBCO</a:t>
            </a:r>
            <a:r>
              <a:rPr lang="en-GB" altLang="zh-CN" dirty="0"/>
              <a:t>, especially when a large </a:t>
            </a:r>
            <a:r>
              <a:rPr lang="en-GB" altLang="zh-CN" b="1" dirty="0"/>
              <a:t>supercell</a:t>
            </a:r>
            <a:r>
              <a:rPr lang="en-GB" altLang="zh-CN" dirty="0"/>
              <a:t> is needed to model defects, the simulation becomes far too slow. </a:t>
            </a:r>
            <a:endParaRPr lang="en-GB" altLang="zh-CN" dirty="0"/>
          </a:p>
          <a:p>
            <a:endParaRPr lang="en-GB"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GB" altLang="zh-CN" dirty="0"/>
              <a:t>By using </a:t>
            </a:r>
            <a:r>
              <a:rPr lang="en-GB" altLang="zh-CN" b="1" dirty="0"/>
              <a:t>ASE</a:t>
            </a:r>
            <a:r>
              <a:rPr lang="en-GB" altLang="zh-CN" dirty="0"/>
              <a:t>, it is much easier to run </a:t>
            </a:r>
            <a:r>
              <a:rPr lang="en-GB" altLang="zh-CN" b="1" dirty="0"/>
              <a:t>MD</a:t>
            </a:r>
            <a:r>
              <a:rPr lang="en-GB" altLang="zh-CN" dirty="0"/>
              <a:t> simulations</a:t>
            </a:r>
            <a:r>
              <a:rPr lang="en-US" altLang="en-GB" dirty="0"/>
              <a:t>. </a:t>
            </a:r>
            <a:r>
              <a:rPr lang="en-GB" altLang="zh-CN" dirty="0"/>
              <a:t>However, due to the complicated structure, conventional empirical potentials have limitations  like </a:t>
            </a:r>
            <a:r>
              <a:rPr lang="en-GB" altLang="zh-CN" b="1" dirty="0" err="1"/>
              <a:t>Chaplot</a:t>
            </a:r>
            <a:r>
              <a:rPr lang="en-GB" altLang="zh-CN" b="1" dirty="0"/>
              <a:t> potential</a:t>
            </a:r>
            <a:r>
              <a:rPr lang="en-GB" altLang="zh-CN" dirty="0"/>
              <a:t>, it was developed for more ideal and regular crystal environments. In particular, after irradiation, </a:t>
            </a:r>
            <a:r>
              <a:rPr lang="en-GB" altLang="zh-CN" b="1" dirty="0"/>
              <a:t>REBCO</a:t>
            </a:r>
            <a:r>
              <a:rPr lang="en-GB" altLang="zh-CN" dirty="0"/>
              <a:t> shows significant extension along the </a:t>
            </a:r>
            <a:r>
              <a:rPr lang="en-GB" altLang="zh-CN" b="1" dirty="0"/>
              <a:t>c axis</a:t>
            </a:r>
            <a:r>
              <a:rPr lang="en-GB" altLang="zh-CN" dirty="0"/>
              <a:t>, and these traditional </a:t>
            </a:r>
            <a:r>
              <a:rPr lang="en-GB" altLang="zh-CN" b="1" dirty="0"/>
              <a:t>potentials</a:t>
            </a:r>
            <a:r>
              <a:rPr lang="en-GB" altLang="zh-CN" dirty="0"/>
              <a:t> often struggle to describe such large deformation. </a:t>
            </a:r>
            <a:br>
              <a:rPr lang="en-GB" altLang="zh-CN" dirty="0"/>
            </a:br>
            <a:br>
              <a:rPr lang="en-GB" altLang="zh-CN" dirty="0"/>
            </a:br>
            <a:r>
              <a:rPr lang="en-GB" altLang="zh-CN" dirty="0"/>
              <a:t>So ,we choose MACE. MACE is a machine learning potential, </a:t>
            </a:r>
            <a:r>
              <a:rPr lang="en-GB" altLang="zh-CN" dirty="0" err="1"/>
              <a:t>doesnt</a:t>
            </a:r>
            <a:r>
              <a:rPr lang="en-GB" altLang="zh-CN" dirty="0"/>
              <a:t> have an analytic expression, it works more like a black box, you give it a structure as input, it returns energy and forces. However, MACE is trained on conventional materials and regular crystals, Irradiated </a:t>
            </a:r>
            <a:r>
              <a:rPr lang="en-GB" altLang="zh-CN" b="1" dirty="0"/>
              <a:t>REBCO</a:t>
            </a:r>
            <a:r>
              <a:rPr lang="en-GB" altLang="zh-CN" dirty="0"/>
              <a:t> is much more complicated, we are not sure MACE is accurate or not. </a:t>
            </a:r>
            <a:endParaRPr lang="en-GB"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GB"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GB" altLang="zh-CN" dirty="0"/>
          </a:p>
          <a:p>
            <a:endParaRPr lang="en-GB"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dirty="0"/>
              <a:t>So, the first task of my project is to validate the accuracy of </a:t>
            </a:r>
            <a:r>
              <a:rPr lang="en-GB" altLang="zh-CN" b="1" dirty="0"/>
              <a:t>MACE</a:t>
            </a:r>
            <a:r>
              <a:rPr lang="en-GB" altLang="zh-CN" dirty="0"/>
              <a:t>. I first performed </a:t>
            </a:r>
            <a:r>
              <a:rPr lang="en-GB" altLang="zh-CN" b="1" dirty="0"/>
              <a:t>geometry </a:t>
            </a:r>
            <a:r>
              <a:rPr lang="en-GB" altLang="zh-CN" b="1" dirty="0" err="1"/>
              <a:t>optimisation</a:t>
            </a:r>
            <a:r>
              <a:rPr lang="en-GB" altLang="zh-CN" dirty="0"/>
              <a:t> in </a:t>
            </a:r>
            <a:r>
              <a:rPr lang="en-GB" altLang="zh-CN" b="1" dirty="0"/>
              <a:t>DFT</a:t>
            </a:r>
            <a:r>
              <a:rPr lang="en-GB" altLang="zh-CN" dirty="0"/>
              <a:t> for both </a:t>
            </a:r>
            <a:r>
              <a:rPr lang="en-GB" altLang="zh-CN" b="1" dirty="0"/>
              <a:t>pristine REBCO</a:t>
            </a:r>
            <a:r>
              <a:rPr lang="en-GB" altLang="zh-CN" dirty="0"/>
              <a:t> and defective structures containing </a:t>
            </a:r>
            <a:r>
              <a:rPr lang="en-GB" altLang="zh-CN" b="1" dirty="0"/>
              <a:t>interstitials</a:t>
            </a:r>
            <a:r>
              <a:rPr lang="en-GB" altLang="zh-CN" dirty="0"/>
              <a:t>, </a:t>
            </a:r>
            <a:r>
              <a:rPr lang="en-GB" altLang="zh-CN" b="1" dirty="0"/>
              <a:t>vacancies</a:t>
            </a:r>
            <a:r>
              <a:rPr lang="en-GB" altLang="zh-CN" dirty="0"/>
              <a:t>, and </a:t>
            </a:r>
            <a:r>
              <a:rPr lang="en-GB" altLang="zh-CN" b="1" dirty="0"/>
              <a:t>Frenkel defects</a:t>
            </a:r>
            <a:r>
              <a:rPr lang="en-GB" altLang="zh-CN" dirty="0"/>
              <a:t>, in order to obtain a set benchmark data.</a:t>
            </a:r>
            <a:endParaRPr lang="en-GB" altLang="zh-CN" dirty="0"/>
          </a:p>
          <a:p>
            <a:endParaRPr lang="en-GB" altLang="zh-CN" dirty="0"/>
          </a:p>
          <a:p>
            <a:r>
              <a:rPr lang="en-GB" altLang="zh-CN" dirty="0"/>
              <a:t>For the </a:t>
            </a:r>
            <a:r>
              <a:rPr lang="en-GB" altLang="zh-CN" b="1" dirty="0"/>
              <a:t>DFT</a:t>
            </a:r>
            <a:r>
              <a:rPr lang="en-GB" altLang="zh-CN" dirty="0"/>
              <a:t> calculations, I used the </a:t>
            </a:r>
            <a:r>
              <a:rPr lang="en-GB" altLang="zh-CN" b="1" dirty="0"/>
              <a:t>PBE functional</a:t>
            </a:r>
            <a:r>
              <a:rPr lang="en-GB" altLang="zh-CN" dirty="0"/>
              <a:t>, because the </a:t>
            </a:r>
            <a:r>
              <a:rPr lang="en-GB" altLang="zh-CN" b="1" dirty="0"/>
              <a:t>MACE </a:t>
            </a:r>
            <a:r>
              <a:rPr lang="en-GB" altLang="zh-CN" dirty="0"/>
              <a:t>was also trained on </a:t>
            </a:r>
            <a:r>
              <a:rPr lang="en-GB" altLang="zh-CN" b="1" dirty="0"/>
              <a:t>PBE DFT data</a:t>
            </a:r>
            <a:r>
              <a:rPr lang="en-GB" altLang="zh-CN" dirty="0"/>
              <a:t>. </a:t>
            </a:r>
            <a:br>
              <a:rPr lang="en-GB" altLang="zh-CN" dirty="0"/>
            </a:br>
            <a:endParaRPr lang="en-GB" altLang="zh-CN" dirty="0"/>
          </a:p>
          <a:p>
            <a:r>
              <a:rPr lang="en-GB" altLang="zh-CN" dirty="0"/>
              <a:t>I then used </a:t>
            </a:r>
            <a:r>
              <a:rPr lang="en-GB" altLang="zh-CN" b="1" dirty="0"/>
              <a:t>MACE</a:t>
            </a:r>
            <a:r>
              <a:rPr lang="en-GB" altLang="zh-CN" dirty="0"/>
              <a:t> within </a:t>
            </a:r>
            <a:r>
              <a:rPr lang="en-GB" altLang="zh-CN" b="1" dirty="0"/>
              <a:t>ASE</a:t>
            </a:r>
            <a:r>
              <a:rPr lang="en-GB" altLang="zh-CN" dirty="0"/>
              <a:t> to perform </a:t>
            </a:r>
            <a:r>
              <a:rPr lang="en-GB" altLang="zh-CN" b="1" dirty="0"/>
              <a:t>geometry </a:t>
            </a:r>
            <a:r>
              <a:rPr lang="en-GB" altLang="zh-CN" b="1" dirty="0" err="1"/>
              <a:t>optimisation</a:t>
            </a:r>
            <a:r>
              <a:rPr lang="en-GB" altLang="zh-CN" dirty="0"/>
              <a:t> on the same structures, and compared the resulting structural data with the </a:t>
            </a:r>
            <a:r>
              <a:rPr lang="en-GB" altLang="zh-CN" b="1" dirty="0"/>
              <a:t>DFT</a:t>
            </a:r>
            <a:r>
              <a:rPr lang="en-GB" altLang="zh-CN" dirty="0"/>
              <a:t> results. The main quantity I focused on was </a:t>
            </a:r>
            <a:r>
              <a:rPr lang="en-GB" altLang="zh-CN" b="1" dirty="0"/>
              <a:t>bond length</a:t>
            </a:r>
            <a:r>
              <a:rPr lang="en-GB" altLang="zh-CN" dirty="0"/>
              <a:t>, because it directly reflects the local atomic environment and is very sensitive to structural distortion near defects.</a:t>
            </a:r>
            <a:endParaRPr lang="en-GB" altLang="zh-CN" dirty="0"/>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b="1" dirty="0"/>
              <a:t>This figure shows the comparison of bond lengths between MACE and DFT</a:t>
            </a:r>
            <a:r>
              <a:rPr lang="zh-CN" altLang="en-US" b="1" dirty="0"/>
              <a:t> </a:t>
            </a:r>
            <a:r>
              <a:rPr lang="en-US" altLang="zh-CN" b="1" dirty="0"/>
              <a:t>for pristine </a:t>
            </a:r>
            <a:r>
              <a:rPr lang="en-US" altLang="zh-CN" b="1" dirty="0" err="1"/>
              <a:t>Rebco</a:t>
            </a:r>
            <a:endParaRPr lang="en-GB" altLang="zh-CN" dirty="0"/>
          </a:p>
          <a:p>
            <a:r>
              <a:rPr lang="en-GB" altLang="zh-CN" dirty="0"/>
              <a:t>The </a:t>
            </a:r>
            <a:r>
              <a:rPr lang="en-GB" altLang="zh-CN" b="1" dirty="0"/>
              <a:t>orange line</a:t>
            </a:r>
            <a:r>
              <a:rPr lang="en-GB" altLang="zh-CN" dirty="0"/>
              <a:t> corresponds to </a:t>
            </a:r>
            <a:r>
              <a:rPr lang="en-GB" altLang="zh-CN" b="1" dirty="0"/>
              <a:t>MACE</a:t>
            </a:r>
            <a:r>
              <a:rPr lang="en-GB" altLang="zh-CN" dirty="0"/>
              <a:t>, and the </a:t>
            </a:r>
            <a:r>
              <a:rPr lang="en-GB" altLang="zh-CN" b="1" dirty="0"/>
              <a:t>blue line</a:t>
            </a:r>
            <a:r>
              <a:rPr lang="en-GB" altLang="zh-CN" dirty="0"/>
              <a:t> corresponds to </a:t>
            </a:r>
            <a:r>
              <a:rPr lang="en-GB" altLang="zh-CN" b="1" dirty="0"/>
              <a:t>DFT</a:t>
            </a:r>
            <a:r>
              <a:rPr lang="en-GB" altLang="zh-CN" dirty="0"/>
              <a:t>.</a:t>
            </a:r>
            <a:endParaRPr lang="en-GB" altLang="zh-CN" dirty="0"/>
          </a:p>
          <a:p>
            <a:r>
              <a:rPr lang="en-GB" altLang="zh-CN" dirty="0"/>
              <a:t>On the </a:t>
            </a:r>
            <a:r>
              <a:rPr lang="en-GB" altLang="zh-CN" b="1" dirty="0"/>
              <a:t>x-axis</a:t>
            </a:r>
            <a:r>
              <a:rPr lang="en-GB" altLang="zh-CN" dirty="0"/>
              <a:t>, I list different </a:t>
            </a:r>
            <a:r>
              <a:rPr lang="en-GB" altLang="zh-CN" b="1" dirty="0"/>
              <a:t>bond types</a:t>
            </a:r>
            <a:r>
              <a:rPr lang="en-GB" altLang="zh-CN" dirty="0"/>
              <a:t>, and on the </a:t>
            </a:r>
            <a:r>
              <a:rPr lang="en-GB" altLang="zh-CN" b="1" dirty="0"/>
              <a:t>y-axis</a:t>
            </a:r>
            <a:r>
              <a:rPr lang="en-GB" altLang="zh-CN" dirty="0"/>
              <a:t> is the </a:t>
            </a:r>
            <a:r>
              <a:rPr lang="en-GB" altLang="zh-CN" b="1" dirty="0"/>
              <a:t>bond length</a:t>
            </a:r>
            <a:r>
              <a:rPr lang="en-GB" altLang="zh-CN" dirty="0"/>
              <a:t> in angstrom.</a:t>
            </a:r>
            <a:endParaRPr lang="en-GB" altLang="zh-CN" dirty="0"/>
          </a:p>
          <a:p>
            <a:r>
              <a:rPr lang="en-GB" altLang="zh-CN" dirty="0"/>
              <a:t>As we can see, the two sets of data are in very close agreement across almost all bond types.</a:t>
            </a:r>
            <a:endParaRPr lang="en-GB" altLang="zh-CN" dirty="0"/>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b="1" dirty="0"/>
              <a:t>This figure shows the comparison of bond lengths between MACE and DFT</a:t>
            </a:r>
            <a:r>
              <a:rPr lang="zh-CN" altLang="en-US" b="1" dirty="0"/>
              <a:t> </a:t>
            </a:r>
            <a:r>
              <a:rPr lang="en-US" altLang="zh-CN" b="1" dirty="0"/>
              <a:t>for Oxygen vacancy defect.</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a:t>The data sets are also very close. </a:t>
            </a:r>
            <a:endParaRPr lang="en-GB" altLang="zh-CN" dirty="0"/>
          </a:p>
          <a:p>
            <a:endParaRPr kumimoji="1" lang="en-US" altLang="zh-CN" dirty="0"/>
          </a:p>
          <a:p>
            <a:r>
              <a:rPr lang="en-GB" altLang="zh-CN" dirty="0"/>
              <a:t>This suggests that </a:t>
            </a:r>
            <a:r>
              <a:rPr lang="en-GB" altLang="zh-CN" b="1" dirty="0"/>
              <a:t>MACE</a:t>
            </a:r>
            <a:r>
              <a:rPr lang="en-GB" altLang="zh-CN" dirty="0"/>
              <a:t> can reproduce the local structure of </a:t>
            </a:r>
            <a:r>
              <a:rPr lang="en-GB" altLang="zh-CN" b="1" dirty="0"/>
              <a:t>REBCO</a:t>
            </a:r>
            <a:r>
              <a:rPr lang="en-GB" altLang="zh-CN" dirty="0"/>
              <a:t> very </a:t>
            </a:r>
            <a:r>
              <a:rPr lang="en-GB" altLang="zh-CN" dirty="0" err="1"/>
              <a:t>well,So</a:t>
            </a:r>
            <a:r>
              <a:rPr lang="en-GB" altLang="zh-CN" dirty="0"/>
              <a:t> this gives confidence that </a:t>
            </a:r>
            <a:r>
              <a:rPr lang="en-GB" altLang="zh-CN" b="1" dirty="0"/>
              <a:t>MACE</a:t>
            </a:r>
            <a:r>
              <a:rPr lang="en-GB" altLang="zh-CN" dirty="0"/>
              <a:t> is a reliable tool for modelling </a:t>
            </a:r>
            <a:r>
              <a:rPr lang="en-GB" altLang="zh-CN" b="1" dirty="0" err="1"/>
              <a:t>Rebco</a:t>
            </a:r>
            <a:endParaRPr lang="en-GB" altLang="zh-CN" dirty="0"/>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b="1" dirty="0"/>
              <a:t>Since MACE shows very good agreement with DFT in terms of geometry-</a:t>
            </a:r>
            <a:r>
              <a:rPr lang="en-GB" altLang="zh-CN" b="1" dirty="0" err="1"/>
              <a:t>optimised</a:t>
            </a:r>
            <a:r>
              <a:rPr lang="en-GB" altLang="zh-CN" b="1" dirty="0"/>
              <a:t> bond lengths, I then used it for molecular dynamics simulations.</a:t>
            </a:r>
            <a:endParaRPr lang="en-GB" altLang="zh-CN" b="1" dirty="0"/>
          </a:p>
          <a:p>
            <a:pPr marL="0" marR="0" lvl="0" indent="0" algn="l" defTabSz="914400" rtl="0" eaLnBrk="1" fontAlgn="auto" latinLnBrk="0" hangingPunct="1">
              <a:lnSpc>
                <a:spcPct val="100000"/>
              </a:lnSpc>
              <a:spcBef>
                <a:spcPts val="0"/>
              </a:spcBef>
              <a:spcAft>
                <a:spcPts val="0"/>
              </a:spcAft>
              <a:buClrTx/>
              <a:buSzTx/>
              <a:buFontTx/>
              <a:buNone/>
              <a:defRPr/>
            </a:pPr>
            <a:endParaRPr lang="en-GB" altLang="zh-CN" b="1" dirty="0"/>
          </a:p>
          <a:p>
            <a:r>
              <a:rPr lang="en-GB" altLang="zh-CN" dirty="0"/>
              <a:t>My research focuses on the stability of defects in irradiated </a:t>
            </a:r>
            <a:r>
              <a:rPr lang="en-GB" altLang="zh-CN" b="1" dirty="0"/>
              <a:t>REBCO</a:t>
            </a:r>
            <a:r>
              <a:rPr lang="en-GB" altLang="zh-CN" dirty="0"/>
              <a:t>.</a:t>
            </a:r>
            <a:endParaRPr lang="en-GB" altLang="zh-CN" dirty="0"/>
          </a:p>
          <a:p>
            <a:r>
              <a:rPr lang="en-GB" altLang="zh-CN" dirty="0"/>
              <a:t>After irradiation, the material loses its superconductivity and would be removed from the fusion reactor. So in the simulation, I used the </a:t>
            </a:r>
            <a:r>
              <a:rPr lang="en-GB" altLang="zh-CN" b="1" dirty="0"/>
              <a:t>NVT ensemble</a:t>
            </a:r>
            <a:r>
              <a:rPr lang="en-GB" altLang="zh-CN" dirty="0"/>
              <a:t>, where the number of particles, volume, and temperature are kept constant, with the temperature set to </a:t>
            </a:r>
            <a:r>
              <a:rPr lang="en-GB" altLang="zh-CN" b="1" dirty="0"/>
              <a:t>room temperature (298 K)</a:t>
            </a:r>
            <a:r>
              <a:rPr lang="en-GB" altLang="zh-CN" dirty="0"/>
              <a:t>. </a:t>
            </a:r>
            <a:br>
              <a:rPr lang="en-GB" altLang="zh-CN" dirty="0"/>
            </a:br>
            <a:endParaRPr lang="en-GB" altLang="zh-CN" dirty="0"/>
          </a:p>
          <a:p>
            <a:r>
              <a:rPr lang="en-GB" altLang="zh-CN" dirty="0"/>
              <a:t>For temperature control, I used the </a:t>
            </a:r>
            <a:r>
              <a:rPr lang="en-GB" altLang="zh-CN" b="1" dirty="0"/>
              <a:t>Langevin thermostat</a:t>
            </a:r>
            <a:r>
              <a:rPr lang="en-GB" altLang="zh-CN" dirty="0"/>
              <a:t>.</a:t>
            </a:r>
            <a:endParaRPr lang="en-GB" altLang="zh-CN" dirty="0"/>
          </a:p>
          <a:p>
            <a:r>
              <a:rPr lang="en-GB" altLang="zh-CN" dirty="0"/>
              <a:t>This method maintains the system temperature by adding both damping and random forces to the equations of motion, while also mimicking the energy exchange between the lattice and a thermal bath.</a:t>
            </a:r>
            <a:endParaRPr lang="en-GB" altLang="zh-CN" dirty="0"/>
          </a:p>
          <a:p>
            <a:endParaRPr lang="en-GB" altLang="zh-CN" dirty="0"/>
          </a:p>
          <a:p>
            <a:r>
              <a:rPr lang="en-GB" altLang="zh-CN" dirty="0"/>
              <a:t>For the structural model, I used a </a:t>
            </a:r>
            <a:r>
              <a:rPr lang="en-GB" altLang="zh-CN" b="1" dirty="0"/>
              <a:t>5×5×3 REBCO supercell</a:t>
            </a:r>
            <a:r>
              <a:rPr lang="en-GB" altLang="zh-CN" dirty="0"/>
              <a:t>.</a:t>
            </a:r>
            <a:endParaRPr lang="en-GB" altLang="zh-CN" dirty="0"/>
          </a:p>
          <a:p>
            <a:r>
              <a:rPr lang="en-GB" altLang="zh-CN" dirty="0"/>
              <a:t>which provides a more realistic representation of low-concentration irradiation defects.</a:t>
            </a: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sz="1200" kern="1200" dirty="0">
                <a:solidFill>
                  <a:schemeClr val="tx1"/>
                </a:solidFill>
                <a:effectLst/>
                <a:latin typeface="+mn-lt"/>
                <a:ea typeface="+mn-ea"/>
                <a:cs typeface="+mn-cs"/>
              </a:rPr>
              <a:t>From the MD simulations we observe two different </a:t>
            </a:r>
            <a:r>
              <a:rPr lang="en-GB" altLang="zh-CN" sz="1200" kern="1200" dirty="0" err="1">
                <a:solidFill>
                  <a:schemeClr val="tx1"/>
                </a:solidFill>
                <a:effectLst/>
                <a:latin typeface="+mn-lt"/>
                <a:ea typeface="+mn-ea"/>
                <a:cs typeface="+mn-cs"/>
              </a:rPr>
              <a:t>behaviours</a:t>
            </a:r>
            <a:r>
              <a:rPr lang="en-GB" altLang="zh-CN" sz="1200" kern="1200" dirty="0">
                <a:solidFill>
                  <a:schemeClr val="tx1"/>
                </a:solidFill>
                <a:effectLst/>
                <a:latin typeface="+mn-lt"/>
                <a:ea typeface="+mn-ea"/>
                <a:cs typeface="+mn-cs"/>
              </a:rPr>
              <a:t> depending on the defect configuration.</a:t>
            </a:r>
            <a:endParaRPr lang="en-GB" altLang="zh-CN" sz="1200" kern="1200" dirty="0">
              <a:solidFill>
                <a:schemeClr val="tx1"/>
              </a:solidFill>
              <a:effectLst/>
              <a:latin typeface="+mn-lt"/>
              <a:ea typeface="+mn-ea"/>
              <a:cs typeface="+mn-cs"/>
            </a:endParaRPr>
          </a:p>
          <a:p>
            <a:br>
              <a:rPr lang="en-GB" altLang="zh-CN" sz="1200" kern="1200" dirty="0">
                <a:solidFill>
                  <a:schemeClr val="tx1"/>
                </a:solidFill>
                <a:effectLst/>
                <a:latin typeface="+mn-lt"/>
                <a:ea typeface="+mn-ea"/>
                <a:cs typeface="+mn-cs"/>
              </a:rPr>
            </a:br>
            <a:endParaRPr lang="en-GB" altLang="zh-CN" sz="1200" kern="1200" dirty="0">
              <a:solidFill>
                <a:schemeClr val="tx1"/>
              </a:solidFill>
              <a:effectLst/>
              <a:latin typeface="+mn-lt"/>
              <a:ea typeface="+mn-ea"/>
              <a:cs typeface="+mn-cs"/>
            </a:endParaRPr>
          </a:p>
          <a:p>
            <a:r>
              <a:rPr lang="en-GB" altLang="zh-CN" sz="1200" kern="1200" dirty="0">
                <a:solidFill>
                  <a:schemeClr val="tx1"/>
                </a:solidFill>
                <a:effectLst/>
                <a:latin typeface="+mn-lt"/>
                <a:ea typeface="+mn-ea"/>
                <a:cs typeface="+mn-cs"/>
              </a:rPr>
              <a:t>In Case 1 the interstitial oxygen recombines with the vacancy during the simulation, while in Case 2 the Frenkel defect remains stable.</a:t>
            </a:r>
            <a:endParaRPr lang="en-GB" altLang="zh-CN" sz="1200" kern="1200" dirty="0">
              <a:solidFill>
                <a:schemeClr val="tx1"/>
              </a:solidFill>
              <a:effectLst/>
              <a:latin typeface="+mn-lt"/>
              <a:ea typeface="+mn-ea"/>
              <a:cs typeface="+mn-cs"/>
            </a:endParaRPr>
          </a:p>
          <a:p>
            <a:br>
              <a:rPr lang="en-GB" altLang="zh-CN" sz="1200" kern="1200" dirty="0">
                <a:solidFill>
                  <a:schemeClr val="tx1"/>
                </a:solidFill>
                <a:effectLst/>
                <a:latin typeface="+mn-lt"/>
                <a:ea typeface="+mn-ea"/>
                <a:cs typeface="+mn-cs"/>
              </a:rPr>
            </a:br>
            <a:endParaRPr lang="en-GB" altLang="zh-CN" sz="1200" kern="1200" dirty="0">
              <a:solidFill>
                <a:schemeClr val="tx1"/>
              </a:solidFill>
              <a:effectLst/>
              <a:latin typeface="+mn-lt"/>
              <a:ea typeface="+mn-ea"/>
              <a:cs typeface="+mn-cs"/>
            </a:endParaRPr>
          </a:p>
          <a:p>
            <a:r>
              <a:rPr lang="en-GB" altLang="zh-CN" sz="1200" kern="1200" dirty="0">
                <a:solidFill>
                  <a:schemeClr val="tx1"/>
                </a:solidFill>
                <a:effectLst/>
                <a:latin typeface="+mn-lt"/>
                <a:ea typeface="+mn-ea"/>
                <a:cs typeface="+mn-cs"/>
              </a:rPr>
              <a:t>Beyond simply observing whether recombination occurs, we are also interested in how these defects influence the </a:t>
            </a:r>
            <a:r>
              <a:rPr lang="en-GB" altLang="zh-CN" sz="1200" b="1" kern="1200" dirty="0">
                <a:solidFill>
                  <a:schemeClr val="tx1"/>
                </a:solidFill>
                <a:effectLst/>
                <a:latin typeface="+mn-lt"/>
                <a:ea typeface="+mn-ea"/>
                <a:cs typeface="+mn-cs"/>
              </a:rPr>
              <a:t>lattice dynamics</a:t>
            </a:r>
            <a:r>
              <a:rPr lang="en-GB" altLang="zh-CN" sz="1200" kern="1200" dirty="0">
                <a:solidFill>
                  <a:schemeClr val="tx1"/>
                </a:solidFill>
                <a:effectLst/>
                <a:latin typeface="+mn-lt"/>
                <a:ea typeface="+mn-ea"/>
                <a:cs typeface="+mn-cs"/>
              </a:rPr>
              <a:t> of the material, including defect vibration, bond stiffness, disorder </a:t>
            </a:r>
            <a:r>
              <a:rPr lang="en-GB" altLang="zh-CN" sz="1200" kern="1200" dirty="0" err="1">
                <a:solidFill>
                  <a:schemeClr val="tx1"/>
                </a:solidFill>
                <a:effectLst/>
                <a:latin typeface="+mn-lt"/>
                <a:ea typeface="+mn-ea"/>
                <a:cs typeface="+mn-cs"/>
              </a:rPr>
              <a:t>ect</a:t>
            </a:r>
            <a:r>
              <a:rPr lang="en-GB" altLang="zh-CN" sz="1200" kern="1200" dirty="0">
                <a:solidFill>
                  <a:schemeClr val="tx1"/>
                </a:solidFill>
                <a:effectLst/>
                <a:latin typeface="+mn-lt"/>
                <a:ea typeface="+mn-ea"/>
                <a:cs typeface="+mn-cs"/>
              </a:rPr>
              <a:t>.</a:t>
            </a:r>
            <a:endParaRPr lang="en-GB" altLang="zh-CN" sz="1200" kern="1200" dirty="0">
              <a:solidFill>
                <a:schemeClr val="tx1"/>
              </a:solidFill>
              <a:effectLst/>
              <a:latin typeface="+mn-lt"/>
              <a:ea typeface="+mn-ea"/>
              <a:cs typeface="+mn-cs"/>
            </a:endParaRPr>
          </a:p>
          <a:p>
            <a:br>
              <a:rPr lang="en-GB" altLang="zh-CN" sz="1200" kern="1200" dirty="0">
                <a:solidFill>
                  <a:schemeClr val="tx1"/>
                </a:solidFill>
                <a:effectLst/>
                <a:latin typeface="+mn-lt"/>
                <a:ea typeface="+mn-ea"/>
                <a:cs typeface="+mn-cs"/>
              </a:rPr>
            </a:br>
            <a:endParaRPr lang="en-GB" altLang="zh-CN" sz="1200" kern="1200" dirty="0">
              <a:solidFill>
                <a:schemeClr val="tx1"/>
              </a:solidFill>
              <a:effectLst/>
              <a:latin typeface="+mn-lt"/>
              <a:ea typeface="+mn-ea"/>
              <a:cs typeface="+mn-cs"/>
            </a:endParaRPr>
          </a:p>
          <a:p>
            <a:r>
              <a:rPr lang="en-GB" altLang="zh-CN" sz="1200" kern="1200" dirty="0">
                <a:solidFill>
                  <a:schemeClr val="tx1"/>
                </a:solidFill>
                <a:effectLst/>
                <a:latin typeface="+mn-lt"/>
                <a:ea typeface="+mn-ea"/>
                <a:cs typeface="+mn-cs"/>
              </a:rPr>
              <a:t>To </a:t>
            </a:r>
            <a:r>
              <a:rPr lang="en-GB" altLang="zh-CN" sz="1200" kern="1200" dirty="0" err="1">
                <a:solidFill>
                  <a:schemeClr val="tx1"/>
                </a:solidFill>
                <a:effectLst/>
                <a:latin typeface="+mn-lt"/>
                <a:ea typeface="+mn-ea"/>
                <a:cs typeface="+mn-cs"/>
              </a:rPr>
              <a:t>analyse</a:t>
            </a:r>
            <a:r>
              <a:rPr lang="en-GB" altLang="zh-CN" sz="1200" kern="1200" dirty="0">
                <a:solidFill>
                  <a:schemeClr val="tx1"/>
                </a:solidFill>
                <a:effectLst/>
                <a:latin typeface="+mn-lt"/>
                <a:ea typeface="+mn-ea"/>
                <a:cs typeface="+mn-cs"/>
              </a:rPr>
              <a:t> these effects, we calculate the </a:t>
            </a:r>
            <a:r>
              <a:rPr lang="en-GB" altLang="zh-CN" sz="1200" b="1" kern="1200" dirty="0">
                <a:solidFill>
                  <a:schemeClr val="tx1"/>
                </a:solidFill>
                <a:effectLst/>
                <a:latin typeface="+mn-lt"/>
                <a:ea typeface="+mn-ea"/>
                <a:cs typeface="+mn-cs"/>
              </a:rPr>
              <a:t>velocity autocorrelation function (VACF)</a:t>
            </a:r>
            <a:r>
              <a:rPr lang="en-GB" altLang="zh-CN" sz="1200" kern="1200" dirty="0">
                <a:solidFill>
                  <a:schemeClr val="tx1"/>
                </a:solidFill>
                <a:effectLst/>
                <a:latin typeface="+mn-lt"/>
                <a:ea typeface="+mn-ea"/>
                <a:cs typeface="+mn-cs"/>
              </a:rPr>
              <a:t> from the MD trajectories and obtain the </a:t>
            </a:r>
            <a:r>
              <a:rPr lang="en-GB" altLang="zh-CN" sz="1200" b="1" kern="1200" dirty="0">
                <a:solidFill>
                  <a:schemeClr val="tx1"/>
                </a:solidFill>
                <a:effectLst/>
                <a:latin typeface="+mn-lt"/>
                <a:ea typeface="+mn-ea"/>
                <a:cs typeface="+mn-cs"/>
              </a:rPr>
              <a:t>vibrational density of states (VDOS)</a:t>
            </a:r>
            <a:r>
              <a:rPr lang="en-GB" altLang="zh-CN" sz="1200" kern="1200" dirty="0">
                <a:solidFill>
                  <a:schemeClr val="tx1"/>
                </a:solidFill>
                <a:effectLst/>
                <a:latin typeface="+mn-lt"/>
                <a:ea typeface="+mn-ea"/>
                <a:cs typeface="+mn-cs"/>
              </a:rPr>
              <a:t> through Fourier transform.</a:t>
            </a:r>
            <a:endParaRPr lang="en-GB" altLang="zh-CN" sz="120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 little bit equations for VDOS and VACF. </a:t>
            </a:r>
            <a:endParaRPr lang="en-US" altLang="zh-CN" dirty="0"/>
          </a:p>
          <a:p>
            <a:endParaRPr lang="en-US" altLang="zh-CN" dirty="0"/>
          </a:p>
          <a:p>
            <a:r>
              <a:rPr lang="en-GB" altLang="zh-CN" dirty="0"/>
              <a:t>The velocity autocorrelation function, or VACF, measures how the velocity of atoms correlates with itself over time.</a:t>
            </a:r>
            <a:endParaRPr lang="en-GB" altLang="zh-CN" dirty="0"/>
          </a:p>
          <a:p>
            <a:r>
              <a:rPr lang="en-GB" altLang="zh-CN" dirty="0"/>
              <a:t>Mathematically, it is defined as the average dot product between the velocity at time zero and the velocity at a later time.</a:t>
            </a:r>
            <a:endParaRPr lang="en-GB" altLang="zh-CN" dirty="0"/>
          </a:p>
          <a:p>
            <a:r>
              <a:rPr lang="en-GB" altLang="zh-CN" dirty="0"/>
              <a:t>Physically, VACF describes how atomic motion evolves in time and therefore reflects the vibrational dynamics of the system.</a:t>
            </a:r>
            <a:endParaRPr lang="en-GB"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GB" altLang="zh-CN" dirty="0"/>
              <a:t>From the VACF, we can obtain the vibrational density of states by performing a Fourier transform.</a:t>
            </a:r>
            <a:endParaRPr lang="en-GB" altLang="zh-CN" dirty="0"/>
          </a:p>
          <a:p>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dirty="0"/>
              <a:t>During the MD simulation, the vacancy and interstitial remain separated, and the overall lattice structure remains relatively stable.</a:t>
            </a:r>
            <a:endParaRPr lang="en-GB" altLang="zh-CN" dirty="0"/>
          </a:p>
          <a:p>
            <a:r>
              <a:rPr lang="en-GB" altLang="zh-CN" dirty="0"/>
              <a:t>First, looking at the total VDOS, the main vibrational intensity is between approximately 5 and 10 THz, with the strongest peak around 8 to 9 THz.</a:t>
            </a:r>
            <a:br>
              <a:rPr lang="en-GB" altLang="zh-CN" dirty="0"/>
            </a:br>
            <a:endParaRPr lang="en-GB" altLang="zh-CN" dirty="0"/>
          </a:p>
          <a:p>
            <a:r>
              <a:rPr lang="en-GB" altLang="zh-CN" dirty="0"/>
              <a:t>Next, we examine the element-resolved VDOS.</a:t>
            </a:r>
            <a:endParaRPr lang="en-GB" altLang="zh-CN" dirty="0"/>
          </a:p>
          <a:p>
            <a:r>
              <a:rPr lang="en-GB" altLang="zh-CN" dirty="0"/>
              <a:t>For oxygen, the spectrum closely follows the total VDOS, indicating that oxygen atoms dominate the vibrational </a:t>
            </a:r>
            <a:r>
              <a:rPr lang="en-GB" altLang="zh-CN" dirty="0" err="1"/>
              <a:t>behaviour</a:t>
            </a:r>
            <a:r>
              <a:rPr lang="en-GB" altLang="zh-CN" dirty="0"/>
              <a:t> of the system.</a:t>
            </a:r>
            <a:br>
              <a:rPr lang="en-GB" altLang="zh-CN" dirty="0"/>
            </a:br>
            <a:endParaRPr lang="en-GB" altLang="zh-CN" dirty="0"/>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dirty="0"/>
              <a:t>For barium and yttrium, the peaks are mainly located in the low-frequency region, around 3 to 5 THz.</a:t>
            </a:r>
            <a:br>
              <a:rPr lang="en-GB" altLang="zh-CN" dirty="0"/>
            </a:br>
            <a:r>
              <a:rPr lang="en-GB" altLang="zh-CN" dirty="0"/>
              <a:t>This is dur to their larger atomic masses, which lead to lower vibrational frequencies.</a:t>
            </a:r>
            <a:endParaRPr lang="en-GB" altLang="zh-CN" dirty="0"/>
          </a:p>
          <a:p>
            <a:r>
              <a:rPr lang="en-GB" altLang="zh-CN" dirty="0"/>
              <a:t>For copper, the main contribution appears in the intermediate frequency range, roughly between 4 and 8 THz, with a small contribution extending into higher frequencies.</a:t>
            </a:r>
            <a:br>
              <a:rPr lang="en-GB" altLang="zh-CN" dirty="0"/>
            </a:br>
            <a:endParaRPr lang="en-GB" altLang="zh-CN" dirty="0"/>
          </a:p>
          <a:p>
            <a:endParaRPr lang="en-GB" altLang="zh-CN" dirty="0"/>
          </a:p>
          <a:p>
            <a:endParaRPr lang="en-GB" altLang="zh-CN" dirty="0"/>
          </a:p>
          <a:p>
            <a:endParaRPr lang="en-GB" altLang="zh-CN" dirty="0"/>
          </a:p>
          <a:p>
            <a:r>
              <a:rPr lang="en-GB" altLang="zh-CN" dirty="0"/>
              <a:t>Overall, the absence of any sharp abnormal peaks suggests that the Frenkel defect does not introduce strong lattice instability in this configuration, although it still perturbs the local vibrational environment.</a:t>
            </a:r>
            <a:endParaRPr lang="en-GB" altLang="zh-CN" dirty="0"/>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292FC087-FCEC-1242-B0EB-C2B768C0D9E7}"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71E6060C-114B-B540-901E-413CEC7D4601}" type="slidenum">
              <a:rPr kumimoji="1" lang="zh-CN" altLang="en-US" smtClean="0"/>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2FC087-FCEC-1242-B0EB-C2B768C0D9E7}"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E6060C-114B-B540-901E-413CEC7D460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kumimoji="1" lang="en-US" altLang="zh-CN" dirty="0"/>
              <a:t>Investigating Defects in REBCO Using DFT and Machine Learning Potentials</a:t>
            </a:r>
            <a:endParaRPr kumimoji="1" lang="zh-CN" altLang="en-US" dirty="0"/>
          </a:p>
        </p:txBody>
      </p:sp>
      <p:sp>
        <p:nvSpPr>
          <p:cNvPr id="3" name="副标题 2"/>
          <p:cNvSpPr>
            <a:spLocks noGrp="1"/>
          </p:cNvSpPr>
          <p:nvPr>
            <p:ph type="subTitle" idx="1"/>
          </p:nvPr>
        </p:nvSpPr>
        <p:spPr>
          <a:xfrm>
            <a:off x="1397876" y="3875307"/>
            <a:ext cx="9144000" cy="1655762"/>
          </a:xfrm>
        </p:spPr>
        <p:txBody>
          <a:bodyPr/>
          <a:lstStyle/>
          <a:p>
            <a:endParaRPr kumimoji="1" lang="en-US" altLang="zh-CN" dirty="0"/>
          </a:p>
          <a:p>
            <a:r>
              <a:rPr kumimoji="1" lang="en-US" altLang="zh-CN" dirty="0"/>
              <a:t>Supervisors: Rebecca Nicholls &amp; Jonathan Yates</a:t>
            </a: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4584" y="327960"/>
            <a:ext cx="11447943" cy="510159"/>
          </a:xfrm>
          <a:prstGeom prst="rect">
            <a:avLst/>
          </a:prstGeom>
          <a:noFill/>
        </p:spPr>
        <p:txBody>
          <a:bodyPr wrap="square" lIns="0" tIns="0" rIns="0" bIns="0" rtlCol="0" anchor="t">
            <a:normAutofit/>
          </a:bodyPr>
          <a:lstStyle/>
          <a:p>
            <a:pPr marL="0" indent="0" algn="l">
              <a:buNone/>
            </a:pPr>
            <a:r>
              <a:rPr lang="en-US" sz="3000" b="1" dirty="0">
                <a:solidFill>
                  <a:srgbClr val="061B4A"/>
                </a:solidFill>
                <a:latin typeface="Aptos Display" pitchFamily="34" charset="0"/>
                <a:ea typeface="Aptos Display" pitchFamily="34" charset="-122"/>
                <a:cs typeface="Aptos Display" pitchFamily="34" charset="-120"/>
              </a:rPr>
              <a:t>High magnetic fields in fusion magnets rely on REBCO superconductors</a:t>
            </a:r>
            <a:endParaRPr lang="en-US" sz="3000" dirty="0"/>
          </a:p>
        </p:txBody>
      </p:sp>
      <p:sp>
        <p:nvSpPr>
          <p:cNvPr id="4" name="Text 2"/>
          <p:cNvSpPr/>
          <p:nvPr/>
        </p:nvSpPr>
        <p:spPr>
          <a:xfrm>
            <a:off x="364354" y="1392973"/>
            <a:ext cx="3062507" cy="510159"/>
          </a:xfrm>
          <a:prstGeom prst="rect">
            <a:avLst/>
          </a:prstGeom>
          <a:noFill/>
        </p:spPr>
        <p:txBody>
          <a:bodyPr wrap="square" lIns="0" tIns="0" rIns="0" bIns="0" rtlCol="0" anchor="t">
            <a:normAutofit/>
          </a:bodyPr>
          <a:lstStyle/>
          <a:p>
            <a:pPr marL="0" indent="0" algn="ctr">
              <a:buNone/>
            </a:pPr>
            <a:r>
              <a:rPr lang="en-US" sz="1350" b="1" dirty="0">
                <a:solidFill>
                  <a:srgbClr val="0B2B7C"/>
                </a:solidFill>
                <a:latin typeface="Aptos" pitchFamily="34" charset="0"/>
                <a:ea typeface="Aptos" pitchFamily="34" charset="-122"/>
                <a:cs typeface="Aptos" pitchFamily="34" charset="-120"/>
              </a:rPr>
              <a:t>1.  Fusion plasma requires</a:t>
            </a:r>
            <a:endParaRPr lang="en-US" sz="1350" dirty="0"/>
          </a:p>
          <a:p>
            <a:pPr marL="0" indent="0" algn="ctr">
              <a:buNone/>
            </a:pPr>
            <a:r>
              <a:rPr lang="en-US" sz="1350" b="1" dirty="0">
                <a:solidFill>
                  <a:srgbClr val="0B2B7C"/>
                </a:solidFill>
                <a:latin typeface="Aptos" pitchFamily="34" charset="0"/>
                <a:ea typeface="Aptos" pitchFamily="34" charset="-122"/>
                <a:cs typeface="Aptos" pitchFamily="34" charset="-120"/>
              </a:rPr>
              <a:t>magnetic confinement</a:t>
            </a:r>
            <a:endParaRPr lang="en-US" sz="1350" dirty="0"/>
          </a:p>
        </p:txBody>
      </p:sp>
      <p:sp>
        <p:nvSpPr>
          <p:cNvPr id="5" name="Text 3"/>
          <p:cNvSpPr/>
          <p:nvPr/>
        </p:nvSpPr>
        <p:spPr>
          <a:xfrm>
            <a:off x="4375010" y="1384718"/>
            <a:ext cx="2989590" cy="546599"/>
          </a:xfrm>
          <a:prstGeom prst="rect">
            <a:avLst/>
          </a:prstGeom>
          <a:noFill/>
        </p:spPr>
        <p:txBody>
          <a:bodyPr wrap="square" lIns="0" tIns="0" rIns="0" bIns="0" rtlCol="0" anchor="t">
            <a:normAutofit/>
          </a:bodyPr>
          <a:lstStyle/>
          <a:p>
            <a:pPr marL="0" indent="0" algn="ctr">
              <a:buNone/>
            </a:pPr>
            <a:r>
              <a:rPr lang="en-US" sz="1350" b="1" dirty="0">
                <a:solidFill>
                  <a:srgbClr val="0B2B7C"/>
                </a:solidFill>
                <a:latin typeface="Aptos" pitchFamily="34" charset="0"/>
                <a:ea typeface="Aptos" pitchFamily="34" charset="-122"/>
                <a:cs typeface="Aptos" pitchFamily="34" charset="-120"/>
              </a:rPr>
              <a:t>2.  Strong magnetic fields are</a:t>
            </a:r>
            <a:endParaRPr lang="en-US" sz="1350" dirty="0"/>
          </a:p>
          <a:p>
            <a:pPr marL="0" indent="0" algn="ctr">
              <a:buNone/>
            </a:pPr>
            <a:r>
              <a:rPr lang="en-US" sz="1350" b="1" dirty="0">
                <a:solidFill>
                  <a:srgbClr val="0B2B7C"/>
                </a:solidFill>
                <a:latin typeface="Aptos" pitchFamily="34" charset="0"/>
                <a:ea typeface="Aptos" pitchFamily="34" charset="-122"/>
                <a:cs typeface="Aptos" pitchFamily="34" charset="-120"/>
              </a:rPr>
              <a:t>generated by superconducting magnets</a:t>
            </a:r>
            <a:endParaRPr lang="en-US" sz="1350" dirty="0"/>
          </a:p>
        </p:txBody>
      </p:sp>
      <p:sp>
        <p:nvSpPr>
          <p:cNvPr id="6" name="Text 4"/>
          <p:cNvSpPr/>
          <p:nvPr/>
        </p:nvSpPr>
        <p:spPr>
          <a:xfrm>
            <a:off x="8822937" y="1384718"/>
            <a:ext cx="2843757" cy="546599"/>
          </a:xfrm>
          <a:prstGeom prst="rect">
            <a:avLst/>
          </a:prstGeom>
          <a:noFill/>
        </p:spPr>
        <p:txBody>
          <a:bodyPr wrap="square" lIns="0" tIns="0" rIns="0" bIns="0" rtlCol="0" anchor="t">
            <a:normAutofit/>
          </a:bodyPr>
          <a:lstStyle/>
          <a:p>
            <a:pPr marL="0" indent="0" algn="ctr">
              <a:buNone/>
            </a:pPr>
            <a:r>
              <a:rPr lang="en-US" sz="1350" b="1" dirty="0">
                <a:solidFill>
                  <a:srgbClr val="0B2B7C"/>
                </a:solidFill>
                <a:latin typeface="Aptos" pitchFamily="34" charset="0"/>
                <a:ea typeface="Aptos" pitchFamily="34" charset="-122"/>
                <a:cs typeface="Aptos" pitchFamily="34" charset="-120"/>
              </a:rPr>
              <a:t>3.  REBCO enables high-field</a:t>
            </a:r>
            <a:endParaRPr lang="en-US" sz="1350" dirty="0"/>
          </a:p>
          <a:p>
            <a:pPr marL="0" indent="0" algn="ctr">
              <a:buNone/>
            </a:pPr>
            <a:r>
              <a:rPr lang="en-US" sz="1350" b="1" dirty="0">
                <a:solidFill>
                  <a:srgbClr val="0B2B7C"/>
                </a:solidFill>
                <a:latin typeface="Aptos" pitchFamily="34" charset="0"/>
                <a:ea typeface="Aptos" pitchFamily="34" charset="-122"/>
                <a:cs typeface="Aptos" pitchFamily="34" charset="-120"/>
              </a:rPr>
              <a:t>magnet operation</a:t>
            </a:r>
            <a:endParaRPr lang="en-US" sz="1350" dirty="0"/>
          </a:p>
        </p:txBody>
      </p:sp>
      <p:pic>
        <p:nvPicPr>
          <p:cNvPr id="7" name="Image 0" descr="/mnt/data/split_visual_elements/page2_elements/p2_06_fusion_reactor_visual.png"/>
          <p:cNvPicPr>
            <a:picLocks noChangeAspect="1"/>
          </p:cNvPicPr>
          <p:nvPr/>
        </p:nvPicPr>
        <p:blipFill>
          <a:blip r:embed="rId1"/>
          <a:stretch>
            <a:fillRect/>
          </a:stretch>
        </p:blipFill>
        <p:spPr>
          <a:xfrm>
            <a:off x="255209" y="2040638"/>
            <a:ext cx="3645842" cy="2623677"/>
          </a:xfrm>
          <a:prstGeom prst="rect">
            <a:avLst/>
          </a:prstGeom>
        </p:spPr>
      </p:pic>
      <p:pic>
        <p:nvPicPr>
          <p:cNvPr id="8" name="Image 1" descr="/mnt/data/split_visual_elements/page2_elements/p2_07_reactor_to_magnet_connectors.png"/>
          <p:cNvPicPr>
            <a:picLocks noChangeAspect="1"/>
          </p:cNvPicPr>
          <p:nvPr/>
        </p:nvPicPr>
        <p:blipFill>
          <a:blip r:embed="rId2"/>
          <a:stretch>
            <a:fillRect/>
          </a:stretch>
        </p:blipFill>
        <p:spPr>
          <a:xfrm>
            <a:off x="3317716" y="2259277"/>
            <a:ext cx="1239586" cy="2295717"/>
          </a:xfrm>
          <a:prstGeom prst="rect">
            <a:avLst/>
          </a:prstGeom>
        </p:spPr>
      </p:pic>
      <p:pic>
        <p:nvPicPr>
          <p:cNvPr id="9" name="Image 2" descr="/mnt/data/split_visual_elements/page2_elements/p2_08_superconducting_magnet_visual.png"/>
          <p:cNvPicPr>
            <a:picLocks noChangeAspect="1"/>
          </p:cNvPicPr>
          <p:nvPr/>
        </p:nvPicPr>
        <p:blipFill>
          <a:blip r:embed="rId3"/>
          <a:stretch>
            <a:fillRect/>
          </a:stretch>
        </p:blipFill>
        <p:spPr>
          <a:xfrm>
            <a:off x="4484385" y="2186397"/>
            <a:ext cx="2843757" cy="2660117"/>
          </a:xfrm>
          <a:prstGeom prst="rect">
            <a:avLst/>
          </a:prstGeom>
        </p:spPr>
      </p:pic>
      <p:pic>
        <p:nvPicPr>
          <p:cNvPr id="10" name="Image 3" descr="/mnt/data/split_visual_elements/page2_elements/p2_09_magnet_to_rebco_connectors.png"/>
          <p:cNvPicPr>
            <a:picLocks noChangeAspect="1"/>
          </p:cNvPicPr>
          <p:nvPr/>
        </p:nvPicPr>
        <p:blipFill>
          <a:blip r:embed="rId4"/>
          <a:stretch>
            <a:fillRect/>
          </a:stretch>
        </p:blipFill>
        <p:spPr>
          <a:xfrm>
            <a:off x="7145850" y="1967758"/>
            <a:ext cx="1020836" cy="2878757"/>
          </a:xfrm>
          <a:prstGeom prst="rect">
            <a:avLst/>
          </a:prstGeom>
        </p:spPr>
      </p:pic>
      <p:sp>
        <p:nvSpPr>
          <p:cNvPr id="11" name="Shape 5"/>
          <p:cNvSpPr/>
          <p:nvPr/>
        </p:nvSpPr>
        <p:spPr>
          <a:xfrm>
            <a:off x="8069220" y="2004198"/>
            <a:ext cx="3828134" cy="2915197"/>
          </a:xfrm>
          <a:prstGeom prst="roundRect">
            <a:avLst>
              <a:gd name="adj" fmla="val 2509"/>
            </a:avLst>
          </a:prstGeom>
          <a:solidFill>
            <a:srgbClr val="FFFFFF">
              <a:alpha val="0"/>
            </a:srgbClr>
          </a:solidFill>
          <a:ln w="12700">
            <a:solidFill>
              <a:srgbClr val="111111"/>
            </a:solidFill>
            <a:prstDash val="solid"/>
          </a:ln>
        </p:spPr>
      </p:sp>
      <p:sp>
        <p:nvSpPr>
          <p:cNvPr id="12" name="Text 6"/>
          <p:cNvSpPr/>
          <p:nvPr/>
        </p:nvSpPr>
        <p:spPr>
          <a:xfrm>
            <a:off x="8677104" y="2186397"/>
            <a:ext cx="3062507" cy="291520"/>
          </a:xfrm>
          <a:prstGeom prst="rect">
            <a:avLst/>
          </a:prstGeom>
          <a:noFill/>
        </p:spPr>
        <p:txBody>
          <a:bodyPr wrap="square" lIns="0" tIns="0" rIns="0" bIns="0" rtlCol="0" anchor="t">
            <a:normAutofit/>
          </a:bodyPr>
          <a:lstStyle/>
          <a:p>
            <a:pPr marL="0" indent="0" algn="ctr">
              <a:buNone/>
            </a:pPr>
            <a:r>
              <a:rPr lang="en-US" sz="1450" b="1" dirty="0">
                <a:solidFill>
                  <a:srgbClr val="111111"/>
                </a:solidFill>
                <a:latin typeface="Aptos" pitchFamily="34" charset="0"/>
                <a:ea typeface="Aptos" pitchFamily="34" charset="-122"/>
                <a:cs typeface="Aptos" pitchFamily="34" charset="-120"/>
              </a:rPr>
              <a:t>REBCO coated conductor tape</a:t>
            </a:r>
            <a:endParaRPr lang="en-US" sz="1450" dirty="0"/>
          </a:p>
        </p:txBody>
      </p:sp>
      <p:pic>
        <p:nvPicPr>
          <p:cNvPr id="13" name="Image 4" descr="/mnt/data/asset_layered_stack_trans.png"/>
          <p:cNvPicPr>
            <a:picLocks noChangeAspect="1"/>
          </p:cNvPicPr>
          <p:nvPr/>
        </p:nvPicPr>
        <p:blipFill>
          <a:blip r:embed="rId5"/>
          <a:stretch>
            <a:fillRect/>
          </a:stretch>
        </p:blipFill>
        <p:spPr>
          <a:xfrm>
            <a:off x="7705725" y="2388235"/>
            <a:ext cx="2393315" cy="2441575"/>
          </a:xfrm>
          <a:prstGeom prst="rect">
            <a:avLst/>
          </a:prstGeom>
        </p:spPr>
      </p:pic>
      <p:sp>
        <p:nvSpPr>
          <p:cNvPr id="14" name="Shape 7"/>
          <p:cNvSpPr/>
          <p:nvPr/>
        </p:nvSpPr>
        <p:spPr>
          <a:xfrm>
            <a:off x="9588564" y="2714981"/>
            <a:ext cx="437266" cy="0"/>
          </a:xfrm>
          <a:prstGeom prst="line">
            <a:avLst/>
          </a:prstGeom>
          <a:noFill/>
          <a:ln w="12700">
            <a:solidFill>
              <a:srgbClr val="111111"/>
            </a:solidFill>
            <a:prstDash val="solid"/>
          </a:ln>
        </p:spPr>
      </p:sp>
      <p:sp>
        <p:nvSpPr>
          <p:cNvPr id="15" name="Text 8"/>
          <p:cNvSpPr/>
          <p:nvPr/>
        </p:nvSpPr>
        <p:spPr>
          <a:xfrm>
            <a:off x="10098982" y="2614397"/>
            <a:ext cx="1822921" cy="437279"/>
          </a:xfrm>
          <a:prstGeom prst="rect">
            <a:avLst/>
          </a:prstGeom>
          <a:noFill/>
        </p:spPr>
        <p:txBody>
          <a:bodyPr wrap="square" lIns="0" tIns="0" rIns="0" bIns="0" rtlCol="0" anchor="t">
            <a:normAutofit/>
          </a:bodyPr>
          <a:lstStyle/>
          <a:p>
            <a:pPr marL="0" indent="0" algn="l">
              <a:buNone/>
            </a:pPr>
            <a:r>
              <a:rPr lang="en-US" sz="1220" dirty="0">
                <a:solidFill>
                  <a:srgbClr val="111111"/>
                </a:solidFill>
                <a:latin typeface="Aptos" pitchFamily="34" charset="0"/>
                <a:ea typeface="Aptos" pitchFamily="34" charset="-122"/>
                <a:cs typeface="Aptos" pitchFamily="34" charset="-120"/>
              </a:rPr>
              <a:t>Copper stabilizer</a:t>
            </a:r>
            <a:endParaRPr lang="en-US" sz="1220" dirty="0"/>
          </a:p>
        </p:txBody>
      </p:sp>
      <p:sp>
        <p:nvSpPr>
          <p:cNvPr id="16" name="Shape 9"/>
          <p:cNvSpPr/>
          <p:nvPr/>
        </p:nvSpPr>
        <p:spPr>
          <a:xfrm>
            <a:off x="9588564" y="3055740"/>
            <a:ext cx="437266" cy="0"/>
          </a:xfrm>
          <a:prstGeom prst="line">
            <a:avLst/>
          </a:prstGeom>
          <a:noFill/>
          <a:ln w="12700">
            <a:solidFill>
              <a:srgbClr val="111111"/>
            </a:solidFill>
            <a:prstDash val="solid"/>
          </a:ln>
        </p:spPr>
      </p:sp>
      <p:sp>
        <p:nvSpPr>
          <p:cNvPr id="17" name="Text 10"/>
          <p:cNvSpPr/>
          <p:nvPr/>
        </p:nvSpPr>
        <p:spPr>
          <a:xfrm>
            <a:off x="10098982" y="2904991"/>
            <a:ext cx="1822921" cy="437279"/>
          </a:xfrm>
          <a:prstGeom prst="rect">
            <a:avLst/>
          </a:prstGeom>
          <a:noFill/>
        </p:spPr>
        <p:txBody>
          <a:bodyPr wrap="square" lIns="0" tIns="0" rIns="0" bIns="0" rtlCol="0" anchor="t">
            <a:normAutofit/>
          </a:bodyPr>
          <a:lstStyle/>
          <a:p>
            <a:pPr marL="0" indent="0" algn="l">
              <a:buNone/>
            </a:pPr>
            <a:r>
              <a:rPr lang="en-US" sz="1220" dirty="0">
                <a:solidFill>
                  <a:srgbClr val="111111"/>
                </a:solidFill>
                <a:latin typeface="Aptos" pitchFamily="34" charset="0"/>
                <a:ea typeface="Aptos" pitchFamily="34" charset="-122"/>
                <a:cs typeface="Aptos" pitchFamily="34" charset="-120"/>
              </a:rPr>
              <a:t>Silver layer</a:t>
            </a:r>
            <a:endParaRPr lang="en-US" sz="1220" dirty="0"/>
          </a:p>
        </p:txBody>
      </p:sp>
      <p:sp>
        <p:nvSpPr>
          <p:cNvPr id="18" name="Shape 11"/>
          <p:cNvSpPr/>
          <p:nvPr/>
        </p:nvSpPr>
        <p:spPr>
          <a:xfrm>
            <a:off x="9588564" y="3359670"/>
            <a:ext cx="437266" cy="0"/>
          </a:xfrm>
          <a:prstGeom prst="line">
            <a:avLst/>
          </a:prstGeom>
          <a:noFill/>
          <a:ln w="12700">
            <a:solidFill>
              <a:srgbClr val="111111"/>
            </a:solidFill>
            <a:prstDash val="solid"/>
          </a:ln>
        </p:spPr>
      </p:sp>
      <p:sp>
        <p:nvSpPr>
          <p:cNvPr id="19" name="Text 12"/>
          <p:cNvSpPr/>
          <p:nvPr/>
        </p:nvSpPr>
        <p:spPr>
          <a:xfrm>
            <a:off x="10098982" y="3188601"/>
            <a:ext cx="1822921" cy="437279"/>
          </a:xfrm>
          <a:prstGeom prst="rect">
            <a:avLst/>
          </a:prstGeom>
          <a:noFill/>
        </p:spPr>
        <p:txBody>
          <a:bodyPr wrap="square" lIns="0" tIns="0" rIns="0" bIns="0" rtlCol="0" anchor="t">
            <a:normAutofit/>
          </a:bodyPr>
          <a:lstStyle/>
          <a:p>
            <a:pPr marL="0" indent="0" algn="l">
              <a:buNone/>
            </a:pPr>
            <a:r>
              <a:rPr lang="en-US" sz="1220" dirty="0">
                <a:solidFill>
                  <a:srgbClr val="111111"/>
                </a:solidFill>
                <a:latin typeface="Aptos" pitchFamily="34" charset="0"/>
                <a:ea typeface="Aptos" pitchFamily="34" charset="-122"/>
                <a:cs typeface="Aptos" pitchFamily="34" charset="-120"/>
              </a:rPr>
              <a:t>REBCO</a:t>
            </a:r>
            <a:endParaRPr lang="en-US" sz="1220" dirty="0"/>
          </a:p>
          <a:p>
            <a:pPr marL="0" indent="0" algn="l">
              <a:buNone/>
            </a:pPr>
            <a:r>
              <a:rPr lang="en-US" sz="1220" dirty="0">
                <a:solidFill>
                  <a:srgbClr val="111111"/>
                </a:solidFill>
                <a:latin typeface="Aptos" pitchFamily="34" charset="0"/>
                <a:ea typeface="Aptos" pitchFamily="34" charset="-122"/>
                <a:cs typeface="Aptos" pitchFamily="34" charset="-120"/>
              </a:rPr>
              <a:t>superconducting layer</a:t>
            </a:r>
            <a:endParaRPr lang="en-US" sz="1220" dirty="0"/>
          </a:p>
        </p:txBody>
      </p:sp>
      <p:sp>
        <p:nvSpPr>
          <p:cNvPr id="20" name="Shape 13"/>
          <p:cNvSpPr/>
          <p:nvPr/>
        </p:nvSpPr>
        <p:spPr>
          <a:xfrm>
            <a:off x="9588564" y="3825869"/>
            <a:ext cx="437266" cy="0"/>
          </a:xfrm>
          <a:prstGeom prst="line">
            <a:avLst/>
          </a:prstGeom>
          <a:noFill/>
          <a:ln w="12700">
            <a:solidFill>
              <a:srgbClr val="111111"/>
            </a:solidFill>
            <a:prstDash val="solid"/>
          </a:ln>
        </p:spPr>
      </p:sp>
      <p:sp>
        <p:nvSpPr>
          <p:cNvPr id="21" name="Text 14"/>
          <p:cNvSpPr/>
          <p:nvPr/>
        </p:nvSpPr>
        <p:spPr>
          <a:xfrm>
            <a:off x="10098982" y="3734810"/>
            <a:ext cx="1822921" cy="437279"/>
          </a:xfrm>
          <a:prstGeom prst="rect">
            <a:avLst/>
          </a:prstGeom>
          <a:noFill/>
        </p:spPr>
        <p:txBody>
          <a:bodyPr wrap="square" lIns="0" tIns="0" rIns="0" bIns="0" rtlCol="0" anchor="t">
            <a:normAutofit/>
          </a:bodyPr>
          <a:lstStyle/>
          <a:p>
            <a:pPr marL="0" indent="0" algn="l">
              <a:buNone/>
            </a:pPr>
            <a:r>
              <a:rPr lang="en-US" sz="1220" dirty="0">
                <a:solidFill>
                  <a:srgbClr val="111111"/>
                </a:solidFill>
                <a:latin typeface="Aptos" pitchFamily="34" charset="0"/>
                <a:ea typeface="Aptos" pitchFamily="34" charset="-122"/>
                <a:cs typeface="Aptos" pitchFamily="34" charset="-120"/>
              </a:rPr>
              <a:t>Buffer layer</a:t>
            </a:r>
            <a:endParaRPr lang="en-US" sz="1220" dirty="0"/>
          </a:p>
        </p:txBody>
      </p:sp>
      <p:sp>
        <p:nvSpPr>
          <p:cNvPr id="22" name="Shape 15"/>
          <p:cNvSpPr/>
          <p:nvPr/>
        </p:nvSpPr>
        <p:spPr>
          <a:xfrm>
            <a:off x="9588564" y="4241559"/>
            <a:ext cx="437266" cy="0"/>
          </a:xfrm>
          <a:prstGeom prst="line">
            <a:avLst/>
          </a:prstGeom>
          <a:noFill/>
          <a:ln w="12700">
            <a:solidFill>
              <a:srgbClr val="111111"/>
            </a:solidFill>
            <a:prstDash val="solid"/>
          </a:ln>
        </p:spPr>
      </p:sp>
      <p:sp>
        <p:nvSpPr>
          <p:cNvPr id="23" name="Text 16"/>
          <p:cNvSpPr/>
          <p:nvPr/>
        </p:nvSpPr>
        <p:spPr>
          <a:xfrm>
            <a:off x="10098982" y="4146055"/>
            <a:ext cx="1822921" cy="437279"/>
          </a:xfrm>
          <a:prstGeom prst="rect">
            <a:avLst/>
          </a:prstGeom>
          <a:noFill/>
        </p:spPr>
        <p:txBody>
          <a:bodyPr wrap="square" lIns="0" tIns="0" rIns="0" bIns="0" rtlCol="0" anchor="t">
            <a:normAutofit/>
          </a:bodyPr>
          <a:lstStyle/>
          <a:p>
            <a:pPr marL="0" indent="0" algn="l">
              <a:buNone/>
            </a:pPr>
            <a:r>
              <a:rPr lang="en-US" sz="1220" dirty="0">
                <a:solidFill>
                  <a:srgbClr val="111111"/>
                </a:solidFill>
                <a:latin typeface="Aptos" pitchFamily="34" charset="0"/>
                <a:ea typeface="Aptos" pitchFamily="34" charset="-122"/>
                <a:cs typeface="Aptos" pitchFamily="34" charset="-120"/>
              </a:rPr>
              <a:t>Substrate</a:t>
            </a:r>
            <a:endParaRPr lang="en-US" sz="1220" dirty="0"/>
          </a:p>
        </p:txBody>
      </p:sp>
      <p:sp>
        <p:nvSpPr>
          <p:cNvPr id="24" name="Text 17"/>
          <p:cNvSpPr/>
          <p:nvPr/>
        </p:nvSpPr>
        <p:spPr>
          <a:xfrm>
            <a:off x="838544" y="4627875"/>
            <a:ext cx="1604170" cy="255080"/>
          </a:xfrm>
          <a:prstGeom prst="rect">
            <a:avLst/>
          </a:prstGeom>
          <a:noFill/>
        </p:spPr>
        <p:txBody>
          <a:bodyPr wrap="square" lIns="0" tIns="0" rIns="0" bIns="0" rtlCol="0" anchor="t">
            <a:normAutofit/>
          </a:bodyPr>
          <a:lstStyle/>
          <a:p>
            <a:pPr marL="0" indent="0" algn="l">
              <a:buNone/>
            </a:pPr>
            <a:r>
              <a:rPr lang="en-US" sz="1150" dirty="0">
                <a:solidFill>
                  <a:srgbClr val="111111"/>
                </a:solidFill>
                <a:latin typeface="Aptos" pitchFamily="34" charset="0"/>
                <a:ea typeface="Aptos" pitchFamily="34" charset="-122"/>
                <a:cs typeface="Aptos" pitchFamily="34" charset="-120"/>
              </a:rPr>
              <a:t>Fusion plasma</a:t>
            </a:r>
            <a:endParaRPr lang="en-US" sz="1150" dirty="0"/>
          </a:p>
        </p:txBody>
      </p:sp>
      <p:sp>
        <p:nvSpPr>
          <p:cNvPr id="26" name="Text 19"/>
          <p:cNvSpPr/>
          <p:nvPr/>
        </p:nvSpPr>
        <p:spPr>
          <a:xfrm>
            <a:off x="452120" y="5102225"/>
            <a:ext cx="3107690" cy="1170305"/>
          </a:xfrm>
          <a:prstGeom prst="rect">
            <a:avLst/>
          </a:prstGeom>
          <a:noFill/>
        </p:spPr>
        <p:txBody>
          <a:bodyPr wrap="square" lIns="0" tIns="0" rIns="0" bIns="0" rtlCol="0" anchor="ctr">
            <a:normAutofit/>
          </a:bodyPr>
          <a:lstStyle/>
          <a:p>
            <a:pPr marL="0" indent="0">
              <a:buNone/>
            </a:pPr>
            <a:r>
              <a:rPr lang="en-US" altLang="zh-CN" sz="1400" dirty="0">
                <a:solidFill>
                  <a:srgbClr val="111111"/>
                </a:solidFill>
                <a:latin typeface="Aptos" pitchFamily="34" charset="0"/>
                <a:ea typeface="Aptos" pitchFamily="34" charset="-122"/>
                <a:cs typeface="Aptos" pitchFamily="34" charset="-120"/>
              </a:rPr>
              <a:t>Plasma must be confined by extremely strong magnetic fields. Requires high-performance superconducting magnets</a:t>
            </a:r>
            <a:endParaRPr lang="en-US" altLang="zh-CN" sz="1400" dirty="0">
              <a:solidFill>
                <a:srgbClr val="111111"/>
              </a:solidFill>
              <a:latin typeface="Aptos" pitchFamily="34" charset="0"/>
              <a:ea typeface="Aptos" pitchFamily="34" charset="-122"/>
              <a:cs typeface="Aptos" pitchFamily="34" charset="-120"/>
            </a:endParaRPr>
          </a:p>
        </p:txBody>
      </p:sp>
      <p:sp>
        <p:nvSpPr>
          <p:cNvPr id="28" name="Text 21"/>
          <p:cNvSpPr/>
          <p:nvPr/>
        </p:nvSpPr>
        <p:spPr>
          <a:xfrm>
            <a:off x="4566920" y="5102225"/>
            <a:ext cx="2847975" cy="1130300"/>
          </a:xfrm>
          <a:prstGeom prst="rect">
            <a:avLst/>
          </a:prstGeom>
          <a:noFill/>
        </p:spPr>
        <p:txBody>
          <a:bodyPr wrap="square" lIns="0" tIns="0" rIns="0" bIns="0" rtlCol="0" anchor="ctr">
            <a:normAutofit/>
          </a:bodyPr>
          <a:lstStyle/>
          <a:p>
            <a:pPr marL="0" indent="0">
              <a:buNone/>
            </a:pPr>
            <a:r>
              <a:rPr lang="en-US" altLang="zh-CN" sz="1400" dirty="0">
                <a:solidFill>
                  <a:srgbClr val="111111"/>
                </a:solidFill>
                <a:latin typeface="Aptos" pitchFamily="34" charset="0"/>
                <a:ea typeface="Aptos" pitchFamily="34" charset="-122"/>
                <a:cs typeface="Aptos" pitchFamily="34" charset="-120"/>
              </a:rPr>
              <a:t>Superconducting coils carry large currents with zero resistance. High critical current and field performance are essential.</a:t>
            </a:r>
            <a:endParaRPr lang="en-US" altLang="zh-CN" sz="1400" dirty="0">
              <a:solidFill>
                <a:srgbClr val="111111"/>
              </a:solidFill>
              <a:latin typeface="Aptos" pitchFamily="34" charset="0"/>
              <a:ea typeface="Aptos" pitchFamily="34" charset="-122"/>
              <a:cs typeface="Aptos" pitchFamily="34" charset="-120"/>
            </a:endParaRPr>
          </a:p>
        </p:txBody>
      </p:sp>
      <p:sp>
        <p:nvSpPr>
          <p:cNvPr id="30" name="Text 23"/>
          <p:cNvSpPr/>
          <p:nvPr/>
        </p:nvSpPr>
        <p:spPr>
          <a:xfrm>
            <a:off x="8376920" y="5047615"/>
            <a:ext cx="3063240" cy="1209040"/>
          </a:xfrm>
          <a:prstGeom prst="rect">
            <a:avLst/>
          </a:prstGeom>
          <a:noFill/>
        </p:spPr>
        <p:txBody>
          <a:bodyPr wrap="square" lIns="0" tIns="0" rIns="0" bIns="0" rtlCol="0" anchor="ctr">
            <a:noAutofit/>
          </a:bodyPr>
          <a:lstStyle/>
          <a:p>
            <a:pPr marL="0" indent="0">
              <a:buNone/>
            </a:pPr>
            <a:r>
              <a:rPr lang="en-US" altLang="zh-CN" sz="1400" dirty="0">
                <a:solidFill>
                  <a:srgbClr val="111111"/>
                </a:solidFill>
                <a:latin typeface="Aptos" pitchFamily="34" charset="0"/>
                <a:ea typeface="Aptos" pitchFamily="34" charset="-122"/>
                <a:cs typeface="Aptos" pitchFamily="34" charset="-120"/>
              </a:rPr>
              <a:t>REBCO coated conductors offer high critical current and high-field capability. Key enabler for next-generation fusion magnets</a:t>
            </a:r>
            <a:endParaRPr lang="en-US" altLang="zh-CN" sz="1400" dirty="0">
              <a:solidFill>
                <a:srgbClr val="111111"/>
              </a:solidFill>
              <a:latin typeface="Aptos" pitchFamily="34" charset="0"/>
              <a:ea typeface="Aptos" pitchFamily="34" charset="-122"/>
              <a:cs typeface="Aptos"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042035" y="278130"/>
            <a:ext cx="10263505" cy="473710"/>
          </a:xfrm>
          <a:prstGeom prst="rect">
            <a:avLst/>
          </a:prstGeom>
          <a:noFill/>
        </p:spPr>
        <p:txBody>
          <a:bodyPr wrap="square" lIns="0" tIns="0" rIns="0" bIns="0" rtlCol="0" anchor="t">
            <a:noAutofit/>
          </a:bodyPr>
          <a:lstStyle/>
          <a:p>
            <a:pPr marL="0" indent="0" algn="ctr">
              <a:buNone/>
            </a:pPr>
            <a:r>
              <a:rPr lang="en-US" sz="3000" b="1" dirty="0">
                <a:solidFill>
                  <a:srgbClr val="0B2B7C"/>
                </a:solidFill>
                <a:latin typeface="Aptos Display" pitchFamily="34" charset="0"/>
                <a:ea typeface="Aptos Display" pitchFamily="34" charset="-122"/>
                <a:cs typeface="Aptos Display" pitchFamily="34" charset="-120"/>
              </a:rPr>
              <a:t>From irradiation damage to defect dynamics in REBCO</a:t>
            </a:r>
            <a:endParaRPr lang="en-US" sz="3000" b="1" dirty="0">
              <a:solidFill>
                <a:srgbClr val="0B2B7C"/>
              </a:solidFill>
              <a:latin typeface="Aptos Display" pitchFamily="34" charset="0"/>
              <a:ea typeface="Aptos Display" pitchFamily="34" charset="-122"/>
              <a:cs typeface="Aptos Display" pitchFamily="34" charset="-120"/>
            </a:endParaRPr>
          </a:p>
        </p:txBody>
      </p:sp>
      <p:sp>
        <p:nvSpPr>
          <p:cNvPr id="5" name="Text 3"/>
          <p:cNvSpPr/>
          <p:nvPr/>
        </p:nvSpPr>
        <p:spPr>
          <a:xfrm>
            <a:off x="546735" y="991870"/>
            <a:ext cx="6123940" cy="327660"/>
          </a:xfrm>
          <a:prstGeom prst="rect">
            <a:avLst/>
          </a:prstGeom>
          <a:noFill/>
        </p:spPr>
        <p:txBody>
          <a:bodyPr wrap="square" lIns="0" tIns="0" rIns="0" bIns="0" rtlCol="0" anchor="t">
            <a:normAutofit fontScale="25000"/>
          </a:bodyPr>
          <a:lstStyle/>
          <a:p>
            <a:pPr marL="0" indent="0" algn="l">
              <a:buNone/>
            </a:pPr>
            <a:r>
              <a:rPr lang="en-US" sz="8600" b="1" dirty="0">
                <a:solidFill>
                  <a:srgbClr val="0B2B7C"/>
                </a:solidFill>
                <a:latin typeface="Aptos" pitchFamily="34" charset="0"/>
                <a:ea typeface="Aptos" pitchFamily="34" charset="-122"/>
                <a:cs typeface="Aptos" pitchFamily="34" charset="-120"/>
              </a:rPr>
              <a:t>Neutron irradiation creates point defects</a:t>
            </a:r>
            <a:endParaRPr lang="en-US" sz="8600" b="1" dirty="0">
              <a:solidFill>
                <a:srgbClr val="0B2B7C"/>
              </a:solidFill>
              <a:latin typeface="Aptos" pitchFamily="34" charset="0"/>
              <a:ea typeface="Aptos" pitchFamily="34" charset="-122"/>
              <a:cs typeface="Aptos" pitchFamily="34" charset="-120"/>
            </a:endParaRPr>
          </a:p>
          <a:p>
            <a:pPr marL="0" indent="0" algn="l">
              <a:buNone/>
            </a:pPr>
            <a:endParaRPr lang="en-US" sz="2150" dirty="0"/>
          </a:p>
          <a:p>
            <a:pPr marL="0" indent="0" algn="l">
              <a:buNone/>
            </a:pPr>
            <a:r>
              <a:rPr lang="en-US" sz="2150" b="1" dirty="0">
                <a:solidFill>
                  <a:srgbClr val="0B2B7C"/>
                </a:solidFill>
                <a:latin typeface="Aptos" pitchFamily="34" charset="0"/>
                <a:ea typeface="Aptos" pitchFamily="34" charset="-122"/>
                <a:cs typeface="Aptos" pitchFamily="34" charset="-120"/>
              </a:rPr>
              <a:t> </a:t>
            </a:r>
            <a:endParaRPr lang="en-US" sz="2150" dirty="0"/>
          </a:p>
        </p:txBody>
      </p:sp>
      <p:sp>
        <p:nvSpPr>
          <p:cNvPr id="7" name="Text 5"/>
          <p:cNvSpPr/>
          <p:nvPr/>
        </p:nvSpPr>
        <p:spPr>
          <a:xfrm>
            <a:off x="1827827" y="1804254"/>
            <a:ext cx="2788187" cy="292608"/>
          </a:xfrm>
          <a:prstGeom prst="rect">
            <a:avLst/>
          </a:prstGeom>
          <a:noFill/>
        </p:spPr>
        <p:txBody>
          <a:bodyPr wrap="square" lIns="0" tIns="0" rIns="0" bIns="0" rtlCol="0" anchor="t">
            <a:normAutofit/>
          </a:bodyPr>
          <a:lstStyle/>
          <a:p>
            <a:pPr marL="0" indent="0" algn="ctr">
              <a:buNone/>
            </a:pPr>
            <a:r>
              <a:rPr lang="en-US" sz="1600" b="1" dirty="0">
                <a:solidFill>
                  <a:srgbClr val="0B2B7C"/>
                </a:solidFill>
                <a:latin typeface="Aptos" pitchFamily="34" charset="0"/>
                <a:ea typeface="Aptos" pitchFamily="34" charset="-122"/>
                <a:cs typeface="Aptos" pitchFamily="34" charset="-120"/>
              </a:rPr>
              <a:t>Neutron impact</a:t>
            </a:r>
            <a:endParaRPr lang="en-US" sz="1600" dirty="0"/>
          </a:p>
        </p:txBody>
      </p:sp>
      <p:sp>
        <p:nvSpPr>
          <p:cNvPr id="8" name="Text 6"/>
          <p:cNvSpPr/>
          <p:nvPr/>
        </p:nvSpPr>
        <p:spPr>
          <a:xfrm>
            <a:off x="861060" y="2146935"/>
            <a:ext cx="4884420" cy="871855"/>
          </a:xfrm>
          <a:prstGeom prst="rect">
            <a:avLst/>
          </a:prstGeom>
          <a:noFill/>
        </p:spPr>
        <p:txBody>
          <a:bodyPr wrap="square" lIns="0" tIns="0" rIns="0" bIns="0" rtlCol="0" anchor="t">
            <a:normAutofit/>
          </a:bodyPr>
          <a:lstStyle/>
          <a:p>
            <a:pPr marL="0" indent="0" algn="l">
              <a:buNone/>
            </a:pPr>
            <a:r>
              <a:rPr lang="en-US" altLang="zh-CN" sz="1600" dirty="0"/>
              <a:t>Fusion reactors generate high-energy neutrons. Neutrons can displace atoms from the REBCO lattice</a:t>
            </a:r>
            <a:endParaRPr lang="en-US" altLang="zh-CN" sz="1600" dirty="0"/>
          </a:p>
        </p:txBody>
      </p:sp>
      <p:sp>
        <p:nvSpPr>
          <p:cNvPr id="9" name="Shape 7"/>
          <p:cNvSpPr/>
          <p:nvPr/>
        </p:nvSpPr>
        <p:spPr>
          <a:xfrm rot="5400000">
            <a:off x="3058795" y="3145790"/>
            <a:ext cx="328295" cy="1270"/>
          </a:xfrm>
          <a:prstGeom prst="line">
            <a:avLst/>
          </a:prstGeom>
          <a:noFill/>
          <a:ln w="16510">
            <a:solidFill>
              <a:srgbClr val="164FBA"/>
            </a:solidFill>
            <a:prstDash val="solid"/>
            <a:headEnd type="none"/>
            <a:tailEnd type="triangle"/>
          </a:ln>
        </p:spPr>
      </p:sp>
      <p:sp>
        <p:nvSpPr>
          <p:cNvPr id="11" name="Text 9"/>
          <p:cNvSpPr/>
          <p:nvPr/>
        </p:nvSpPr>
        <p:spPr>
          <a:xfrm>
            <a:off x="1827390" y="3541614"/>
            <a:ext cx="2861104" cy="292608"/>
          </a:xfrm>
          <a:prstGeom prst="rect">
            <a:avLst/>
          </a:prstGeom>
          <a:noFill/>
        </p:spPr>
        <p:txBody>
          <a:bodyPr wrap="square" lIns="0" tIns="0" rIns="0" bIns="0" rtlCol="0" anchor="t">
            <a:normAutofit/>
          </a:bodyPr>
          <a:lstStyle/>
          <a:p>
            <a:pPr marL="0" indent="0" algn="ctr">
              <a:buNone/>
            </a:pPr>
            <a:r>
              <a:rPr lang="en-US" sz="1600" b="1" dirty="0">
                <a:solidFill>
                  <a:srgbClr val="0B2B7C"/>
                </a:solidFill>
                <a:latin typeface="Aptos" pitchFamily="34" charset="0"/>
                <a:ea typeface="Aptos" pitchFamily="34" charset="-122"/>
                <a:cs typeface="Aptos" pitchFamily="34" charset="-120"/>
              </a:rPr>
              <a:t>Point defect formation</a:t>
            </a:r>
            <a:endParaRPr lang="en-US" sz="1600" dirty="0"/>
          </a:p>
        </p:txBody>
      </p:sp>
      <p:sp>
        <p:nvSpPr>
          <p:cNvPr id="12" name="Text 10"/>
          <p:cNvSpPr/>
          <p:nvPr/>
        </p:nvSpPr>
        <p:spPr>
          <a:xfrm>
            <a:off x="861060" y="3860800"/>
            <a:ext cx="4883785" cy="871855"/>
          </a:xfrm>
          <a:prstGeom prst="rect">
            <a:avLst/>
          </a:prstGeom>
          <a:noFill/>
        </p:spPr>
        <p:txBody>
          <a:bodyPr wrap="square" lIns="0" tIns="0" rIns="0" bIns="0" rtlCol="0" anchor="t">
            <a:normAutofit/>
          </a:bodyPr>
          <a:lstStyle/>
          <a:p>
            <a:pPr marL="0" indent="0" algn="l">
              <a:buNone/>
            </a:pPr>
            <a:r>
              <a:rPr lang="en-US" altLang="zh-CN" sz="1600" dirty="0"/>
              <a:t>Irradiation can create vacancies and interstitials. A vacancy–interstitial pair forms a Frenkel defect</a:t>
            </a:r>
            <a:endParaRPr lang="en-US" altLang="zh-CN" sz="1600" dirty="0"/>
          </a:p>
        </p:txBody>
      </p:sp>
      <p:sp>
        <p:nvSpPr>
          <p:cNvPr id="13" name="Shape 11"/>
          <p:cNvSpPr/>
          <p:nvPr/>
        </p:nvSpPr>
        <p:spPr>
          <a:xfrm rot="5400000">
            <a:off x="3029585" y="4899025"/>
            <a:ext cx="384810" cy="1270"/>
          </a:xfrm>
          <a:prstGeom prst="line">
            <a:avLst/>
          </a:prstGeom>
          <a:noFill/>
          <a:ln w="16510">
            <a:solidFill>
              <a:srgbClr val="164FBA"/>
            </a:solidFill>
            <a:prstDash val="solid"/>
            <a:headEnd type="none"/>
            <a:tailEnd type="triangle"/>
          </a:ln>
        </p:spPr>
      </p:sp>
      <p:sp>
        <p:nvSpPr>
          <p:cNvPr id="15" name="Text 13"/>
          <p:cNvSpPr/>
          <p:nvPr/>
        </p:nvSpPr>
        <p:spPr>
          <a:xfrm>
            <a:off x="1754719" y="5308184"/>
            <a:ext cx="2861104" cy="292608"/>
          </a:xfrm>
          <a:prstGeom prst="rect">
            <a:avLst/>
          </a:prstGeom>
          <a:noFill/>
        </p:spPr>
        <p:txBody>
          <a:bodyPr wrap="square" lIns="0" tIns="0" rIns="0" bIns="0" rtlCol="0" anchor="t">
            <a:normAutofit/>
          </a:bodyPr>
          <a:lstStyle/>
          <a:p>
            <a:pPr marL="0" indent="0" algn="ctr">
              <a:buNone/>
            </a:pPr>
            <a:r>
              <a:rPr lang="en-US" sz="1600" b="1" dirty="0">
                <a:solidFill>
                  <a:srgbClr val="0B2B7C"/>
                </a:solidFill>
                <a:latin typeface="Aptos" pitchFamily="34" charset="0"/>
                <a:ea typeface="Aptos" pitchFamily="34" charset="-122"/>
                <a:cs typeface="Aptos" pitchFamily="34" charset="-120"/>
              </a:rPr>
              <a:t>Why this matters</a:t>
            </a:r>
            <a:endParaRPr lang="en-US" sz="1600" dirty="0"/>
          </a:p>
        </p:txBody>
      </p:sp>
      <p:sp>
        <p:nvSpPr>
          <p:cNvPr id="16" name="Text 14"/>
          <p:cNvSpPr/>
          <p:nvPr/>
        </p:nvSpPr>
        <p:spPr>
          <a:xfrm>
            <a:off x="861060" y="5659120"/>
            <a:ext cx="4883150" cy="871855"/>
          </a:xfrm>
          <a:prstGeom prst="rect">
            <a:avLst/>
          </a:prstGeom>
          <a:noFill/>
        </p:spPr>
        <p:txBody>
          <a:bodyPr wrap="square" lIns="0" tIns="0" rIns="0" bIns="0" rtlCol="0" anchor="t">
            <a:normAutofit/>
          </a:bodyPr>
          <a:lstStyle/>
          <a:p>
            <a:pPr marL="0" indent="0" algn="l">
              <a:buNone/>
            </a:pPr>
            <a:r>
              <a:rPr lang="en-US" altLang="zh-CN" sz="1600" dirty="0"/>
              <a:t>Defects can disturb the local structure. This may affect stability and superconducting performance</a:t>
            </a:r>
            <a:endParaRPr lang="en-US" altLang="zh-CN" sz="1600" dirty="0"/>
          </a:p>
          <a:p>
            <a:pPr marL="0" indent="0" algn="l">
              <a:buNone/>
            </a:pPr>
            <a:endParaRPr lang="en-US" altLang="zh-CN" sz="1600" dirty="0"/>
          </a:p>
        </p:txBody>
      </p:sp>
      <p:pic>
        <p:nvPicPr>
          <p:cNvPr id="3" name="图片 2" descr="截屏2026-03-06 05.53.52"/>
          <p:cNvPicPr>
            <a:picLocks noChangeAspect="1"/>
          </p:cNvPicPr>
          <p:nvPr/>
        </p:nvPicPr>
        <p:blipFill>
          <a:blip r:embed="rId1"/>
          <a:stretch>
            <a:fillRect/>
          </a:stretch>
        </p:blipFill>
        <p:spPr>
          <a:xfrm>
            <a:off x="7082155" y="1458595"/>
            <a:ext cx="3315970" cy="4748530"/>
          </a:xfrm>
          <a:prstGeom prst="rect">
            <a:avLst/>
          </a:prstGeom>
        </p:spPr>
      </p:pic>
      <p:sp>
        <p:nvSpPr>
          <p:cNvPr id="17" name="Text 3"/>
          <p:cNvSpPr/>
          <p:nvPr/>
        </p:nvSpPr>
        <p:spPr>
          <a:xfrm>
            <a:off x="7082155" y="997585"/>
            <a:ext cx="6123940" cy="327660"/>
          </a:xfrm>
          <a:prstGeom prst="rect">
            <a:avLst/>
          </a:prstGeom>
          <a:noFill/>
        </p:spPr>
        <p:txBody>
          <a:bodyPr wrap="square" lIns="0" tIns="0" rIns="0" bIns="0" rtlCol="0" anchor="t">
            <a:normAutofit fontScale="25000"/>
          </a:bodyPr>
          <a:lstStyle/>
          <a:p>
            <a:pPr marL="0" indent="0" algn="l">
              <a:buNone/>
            </a:pPr>
            <a:r>
              <a:rPr lang="en-US" sz="8800" b="1" dirty="0">
                <a:solidFill>
                  <a:srgbClr val="0B2B7C"/>
                </a:solidFill>
                <a:latin typeface="Aptos" pitchFamily="34" charset="0"/>
                <a:ea typeface="Aptos" pitchFamily="34" charset="-122"/>
                <a:cs typeface="Aptos" pitchFamily="34" charset="-120"/>
                <a:sym typeface="+mn-ea"/>
              </a:rPr>
              <a:t>Part of the REBCO unit cell</a:t>
            </a:r>
            <a:endParaRPr lang="en-US" sz="7165" dirty="0"/>
          </a:p>
          <a:p>
            <a:pPr marL="0" indent="0" algn="l">
              <a:buNone/>
            </a:pPr>
            <a:r>
              <a:rPr lang="en-US" sz="2150" b="1" dirty="0">
                <a:solidFill>
                  <a:srgbClr val="0B2B7C"/>
                </a:solidFill>
                <a:latin typeface="Aptos" pitchFamily="34" charset="0"/>
                <a:ea typeface="Aptos" pitchFamily="34" charset="-122"/>
                <a:cs typeface="Aptos" pitchFamily="34" charset="-120"/>
              </a:rPr>
              <a:t> </a:t>
            </a:r>
            <a:endParaRPr lang="en-US" sz="2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38455"/>
            <a:ext cx="11155680" cy="502920"/>
          </a:xfrm>
          <a:prstGeom prst="rect">
            <a:avLst/>
          </a:prstGeom>
          <a:noFill/>
        </p:spPr>
        <p:txBody>
          <a:bodyPr wrap="square" lIns="0" tIns="0" rIns="0" bIns="0" rtlCol="0" anchor="ctr"/>
          <a:lstStyle/>
          <a:p>
            <a:pPr marL="0" indent="0" algn="ctr">
              <a:buNone/>
            </a:pPr>
            <a:r>
              <a:rPr lang="en-US" sz="3400" b="1" dirty="0">
                <a:solidFill>
                  <a:srgbClr val="002060"/>
                </a:solidFill>
                <a:latin typeface="Aptos Display" pitchFamily="34" charset="0"/>
                <a:ea typeface="Aptos Display" pitchFamily="34" charset="-122"/>
                <a:cs typeface="Aptos Display" pitchFamily="34" charset="-120"/>
              </a:rPr>
              <a:t>Why use MACE?</a:t>
            </a:r>
            <a:endParaRPr lang="en-US" sz="3400" dirty="0"/>
          </a:p>
        </p:txBody>
      </p:sp>
      <p:sp>
        <p:nvSpPr>
          <p:cNvPr id="4" name="Text 2"/>
          <p:cNvSpPr/>
          <p:nvPr/>
        </p:nvSpPr>
        <p:spPr>
          <a:xfrm>
            <a:off x="11841480" y="164592"/>
            <a:ext cx="182880" cy="228600"/>
          </a:xfrm>
          <a:prstGeom prst="rect">
            <a:avLst/>
          </a:prstGeom>
          <a:noFill/>
        </p:spPr>
        <p:txBody>
          <a:bodyPr wrap="square" lIns="0" tIns="0" rIns="0" bIns="0" rtlCol="0" anchor="ctr"/>
          <a:lstStyle/>
          <a:p>
            <a:pPr marL="0" indent="0" algn="r">
              <a:buNone/>
            </a:pPr>
            <a:r>
              <a:rPr lang="en-US" sz="1400" dirty="0">
                <a:solidFill>
                  <a:srgbClr val="002060"/>
                </a:solidFill>
              </a:rPr>
              <a:t>4</a:t>
            </a:r>
            <a:endParaRPr lang="en-US" sz="1400" dirty="0"/>
          </a:p>
        </p:txBody>
      </p:sp>
      <p:sp>
        <p:nvSpPr>
          <p:cNvPr id="5" name="Text 3"/>
          <p:cNvSpPr/>
          <p:nvPr/>
        </p:nvSpPr>
        <p:spPr>
          <a:xfrm>
            <a:off x="411480" y="1353312"/>
            <a:ext cx="5029200" cy="320040"/>
          </a:xfrm>
          <a:prstGeom prst="rect">
            <a:avLst/>
          </a:prstGeom>
          <a:noFill/>
        </p:spPr>
        <p:txBody>
          <a:bodyPr wrap="square" lIns="0" tIns="0" rIns="0" bIns="0" rtlCol="0" anchor="ctr"/>
          <a:lstStyle/>
          <a:p>
            <a:pPr marL="0" indent="0">
              <a:buNone/>
            </a:pPr>
            <a:r>
              <a:rPr lang="en-US" sz="2000" b="1" dirty="0">
                <a:solidFill>
                  <a:srgbClr val="002060"/>
                </a:solidFill>
              </a:rPr>
              <a:t>1. Method choice</a:t>
            </a:r>
            <a:endParaRPr lang="en-US" sz="2000" dirty="0"/>
          </a:p>
        </p:txBody>
      </p:sp>
      <p:sp>
        <p:nvSpPr>
          <p:cNvPr id="6" name="Shape 4"/>
          <p:cNvSpPr/>
          <p:nvPr/>
        </p:nvSpPr>
        <p:spPr>
          <a:xfrm>
            <a:off x="411480" y="1783080"/>
            <a:ext cx="3273425" cy="1701165"/>
          </a:xfrm>
          <a:prstGeom prst="roundRect">
            <a:avLst/>
          </a:prstGeom>
          <a:solidFill>
            <a:srgbClr val="FFFFFF"/>
          </a:solidFill>
          <a:ln w="15240">
            <a:solidFill>
              <a:srgbClr val="0B4EA2"/>
            </a:solidFill>
            <a:prstDash val="solid"/>
          </a:ln>
        </p:spPr>
      </p:sp>
      <p:sp>
        <p:nvSpPr>
          <p:cNvPr id="7" name="Text 5"/>
          <p:cNvSpPr/>
          <p:nvPr/>
        </p:nvSpPr>
        <p:spPr>
          <a:xfrm>
            <a:off x="502920" y="1938528"/>
            <a:ext cx="3090672" cy="274320"/>
          </a:xfrm>
          <a:prstGeom prst="rect">
            <a:avLst/>
          </a:prstGeom>
          <a:noFill/>
        </p:spPr>
        <p:txBody>
          <a:bodyPr wrap="square" lIns="0" tIns="0" rIns="0" bIns="0" rtlCol="0" anchor="ctr"/>
          <a:lstStyle/>
          <a:p>
            <a:pPr marL="0" indent="0" algn="ctr">
              <a:buNone/>
            </a:pPr>
            <a:r>
              <a:rPr lang="en-US" sz="1700" b="1" dirty="0">
                <a:solidFill>
                  <a:srgbClr val="002060"/>
                </a:solidFill>
              </a:rPr>
              <a:t>DFT-MD</a:t>
            </a:r>
            <a:endParaRPr lang="en-US" sz="1700" dirty="0"/>
          </a:p>
        </p:txBody>
      </p:sp>
      <p:sp>
        <p:nvSpPr>
          <p:cNvPr id="8" name="Shape 6"/>
          <p:cNvSpPr/>
          <p:nvPr/>
        </p:nvSpPr>
        <p:spPr>
          <a:xfrm>
            <a:off x="4316095" y="1783080"/>
            <a:ext cx="3273425" cy="1725295"/>
          </a:xfrm>
          <a:prstGeom prst="roundRect">
            <a:avLst/>
          </a:prstGeom>
          <a:solidFill>
            <a:srgbClr val="FFFFFF"/>
          </a:solidFill>
          <a:ln w="15240">
            <a:solidFill>
              <a:srgbClr val="0B4EA2"/>
            </a:solidFill>
            <a:prstDash val="solid"/>
          </a:ln>
        </p:spPr>
      </p:sp>
      <p:sp>
        <p:nvSpPr>
          <p:cNvPr id="9" name="Text 7"/>
          <p:cNvSpPr/>
          <p:nvPr/>
        </p:nvSpPr>
        <p:spPr>
          <a:xfrm>
            <a:off x="4407408" y="1938528"/>
            <a:ext cx="3090672" cy="274320"/>
          </a:xfrm>
          <a:prstGeom prst="rect">
            <a:avLst/>
          </a:prstGeom>
          <a:noFill/>
        </p:spPr>
        <p:txBody>
          <a:bodyPr wrap="square" lIns="0" tIns="0" rIns="0" bIns="0" rtlCol="0" anchor="ctr"/>
          <a:lstStyle/>
          <a:p>
            <a:pPr marL="0" indent="0" algn="ctr">
              <a:buNone/>
            </a:pPr>
            <a:r>
              <a:rPr lang="en-US" sz="1700" b="1" dirty="0">
                <a:solidFill>
                  <a:srgbClr val="002060"/>
                </a:solidFill>
              </a:rPr>
              <a:t>Empirical potentials</a:t>
            </a:r>
            <a:endParaRPr lang="en-US" sz="1700" dirty="0"/>
          </a:p>
        </p:txBody>
      </p:sp>
      <p:sp>
        <p:nvSpPr>
          <p:cNvPr id="10" name="Shape 8"/>
          <p:cNvSpPr/>
          <p:nvPr/>
        </p:nvSpPr>
        <p:spPr>
          <a:xfrm>
            <a:off x="8229600" y="1783080"/>
            <a:ext cx="3273425" cy="1725295"/>
          </a:xfrm>
          <a:prstGeom prst="roundRect">
            <a:avLst/>
          </a:prstGeom>
          <a:solidFill>
            <a:srgbClr val="FFFFFF"/>
          </a:solidFill>
          <a:ln w="15240">
            <a:solidFill>
              <a:srgbClr val="0B4EA2"/>
            </a:solidFill>
            <a:prstDash val="solid"/>
          </a:ln>
        </p:spPr>
      </p:sp>
      <p:sp>
        <p:nvSpPr>
          <p:cNvPr id="11" name="Text 9"/>
          <p:cNvSpPr/>
          <p:nvPr/>
        </p:nvSpPr>
        <p:spPr>
          <a:xfrm>
            <a:off x="8321040" y="1938528"/>
            <a:ext cx="3090672" cy="274320"/>
          </a:xfrm>
          <a:prstGeom prst="rect">
            <a:avLst/>
          </a:prstGeom>
          <a:noFill/>
        </p:spPr>
        <p:txBody>
          <a:bodyPr wrap="square" lIns="0" tIns="0" rIns="0" bIns="0" rtlCol="0" anchor="ctr"/>
          <a:lstStyle/>
          <a:p>
            <a:pPr marL="0" indent="0" algn="ctr">
              <a:buNone/>
            </a:pPr>
            <a:r>
              <a:rPr lang="en-US" sz="1700" b="1" dirty="0">
                <a:solidFill>
                  <a:srgbClr val="002060"/>
                </a:solidFill>
              </a:rPr>
              <a:t>MACE</a:t>
            </a:r>
            <a:endParaRPr lang="en-US" sz="1700" dirty="0"/>
          </a:p>
        </p:txBody>
      </p:sp>
      <p:sp>
        <p:nvSpPr>
          <p:cNvPr id="12" name="Text 10"/>
          <p:cNvSpPr/>
          <p:nvPr/>
        </p:nvSpPr>
        <p:spPr>
          <a:xfrm>
            <a:off x="731520" y="2377440"/>
            <a:ext cx="201168" cy="219456"/>
          </a:xfrm>
          <a:prstGeom prst="rect">
            <a:avLst/>
          </a:prstGeom>
          <a:noFill/>
        </p:spPr>
        <p:txBody>
          <a:bodyPr wrap="square" lIns="0" tIns="0" rIns="0" bIns="0" rtlCol="0" anchor="ctr"/>
          <a:lstStyle/>
          <a:p>
            <a:pPr marL="0" indent="0">
              <a:buNone/>
            </a:pPr>
            <a:r>
              <a:rPr lang="en-US" sz="1400" dirty="0">
                <a:solidFill>
                  <a:srgbClr val="111111"/>
                </a:solidFill>
              </a:rPr>
              <a:t>•</a:t>
            </a:r>
            <a:endParaRPr lang="en-US" sz="1400" dirty="0"/>
          </a:p>
        </p:txBody>
      </p:sp>
      <p:sp>
        <p:nvSpPr>
          <p:cNvPr id="13" name="Text 11"/>
          <p:cNvSpPr/>
          <p:nvPr/>
        </p:nvSpPr>
        <p:spPr>
          <a:xfrm>
            <a:off x="969264" y="2386584"/>
            <a:ext cx="2532888" cy="274320"/>
          </a:xfrm>
          <a:prstGeom prst="rect">
            <a:avLst/>
          </a:prstGeom>
          <a:noFill/>
        </p:spPr>
        <p:txBody>
          <a:bodyPr wrap="square" lIns="0" tIns="0" rIns="0" bIns="0" rtlCol="0" anchor="ctr">
            <a:normAutofit/>
          </a:bodyPr>
          <a:lstStyle/>
          <a:p>
            <a:pPr marL="0" indent="0">
              <a:buNone/>
            </a:pPr>
            <a:r>
              <a:rPr lang="en-US" sz="1300" dirty="0">
                <a:solidFill>
                  <a:srgbClr val="111111"/>
                </a:solidFill>
              </a:rPr>
              <a:t>Accurate energies and forces</a:t>
            </a:r>
            <a:endParaRPr lang="en-US" sz="1300" dirty="0"/>
          </a:p>
        </p:txBody>
      </p:sp>
      <p:sp>
        <p:nvSpPr>
          <p:cNvPr id="14" name="Text 12"/>
          <p:cNvSpPr/>
          <p:nvPr/>
        </p:nvSpPr>
        <p:spPr>
          <a:xfrm>
            <a:off x="731520" y="2706624"/>
            <a:ext cx="201168" cy="219456"/>
          </a:xfrm>
          <a:prstGeom prst="rect">
            <a:avLst/>
          </a:prstGeom>
          <a:noFill/>
        </p:spPr>
        <p:txBody>
          <a:bodyPr wrap="square" lIns="0" tIns="0" rIns="0" bIns="0" rtlCol="0" anchor="ctr"/>
          <a:lstStyle/>
          <a:p>
            <a:pPr marL="0" indent="0">
              <a:buNone/>
            </a:pPr>
            <a:r>
              <a:rPr lang="en-US" sz="1400" dirty="0">
                <a:solidFill>
                  <a:srgbClr val="111111"/>
                </a:solidFill>
              </a:rPr>
              <a:t>•</a:t>
            </a:r>
            <a:endParaRPr lang="en-US" sz="1400" dirty="0"/>
          </a:p>
        </p:txBody>
      </p:sp>
      <p:sp>
        <p:nvSpPr>
          <p:cNvPr id="15" name="Text 13"/>
          <p:cNvSpPr/>
          <p:nvPr/>
        </p:nvSpPr>
        <p:spPr>
          <a:xfrm>
            <a:off x="969264" y="2715768"/>
            <a:ext cx="2532888" cy="274320"/>
          </a:xfrm>
          <a:prstGeom prst="rect">
            <a:avLst/>
          </a:prstGeom>
          <a:noFill/>
        </p:spPr>
        <p:txBody>
          <a:bodyPr wrap="square" lIns="0" tIns="0" rIns="0" bIns="0" rtlCol="0" anchor="ctr">
            <a:normAutofit/>
          </a:bodyPr>
          <a:lstStyle/>
          <a:p>
            <a:pPr marL="0" indent="0">
              <a:buNone/>
            </a:pPr>
            <a:r>
              <a:rPr lang="en-US" sz="1300" dirty="0">
                <a:solidFill>
                  <a:srgbClr val="111111"/>
                </a:solidFill>
              </a:rPr>
              <a:t>High computational cost</a:t>
            </a:r>
            <a:endParaRPr lang="en-US" sz="1300" dirty="0"/>
          </a:p>
        </p:txBody>
      </p:sp>
      <p:sp>
        <p:nvSpPr>
          <p:cNvPr id="16" name="Text 14"/>
          <p:cNvSpPr/>
          <p:nvPr/>
        </p:nvSpPr>
        <p:spPr>
          <a:xfrm>
            <a:off x="731520" y="3035808"/>
            <a:ext cx="201168" cy="219456"/>
          </a:xfrm>
          <a:prstGeom prst="rect">
            <a:avLst/>
          </a:prstGeom>
          <a:noFill/>
        </p:spPr>
        <p:txBody>
          <a:bodyPr wrap="square" lIns="0" tIns="0" rIns="0" bIns="0" rtlCol="0" anchor="ctr"/>
          <a:lstStyle/>
          <a:p>
            <a:pPr marL="0" indent="0">
              <a:buNone/>
            </a:pPr>
            <a:r>
              <a:rPr lang="en-US" sz="1400" dirty="0">
                <a:solidFill>
                  <a:srgbClr val="111111"/>
                </a:solidFill>
              </a:rPr>
              <a:t>•</a:t>
            </a:r>
            <a:endParaRPr lang="en-US" sz="1400" dirty="0"/>
          </a:p>
        </p:txBody>
      </p:sp>
      <p:sp>
        <p:nvSpPr>
          <p:cNvPr id="17" name="Text 15"/>
          <p:cNvSpPr/>
          <p:nvPr/>
        </p:nvSpPr>
        <p:spPr>
          <a:xfrm>
            <a:off x="969264" y="3044952"/>
            <a:ext cx="2532888" cy="274320"/>
          </a:xfrm>
          <a:prstGeom prst="rect">
            <a:avLst/>
          </a:prstGeom>
          <a:noFill/>
        </p:spPr>
        <p:txBody>
          <a:bodyPr wrap="square" lIns="0" tIns="0" rIns="0" bIns="0" rtlCol="0" anchor="ctr">
            <a:normAutofit/>
          </a:bodyPr>
          <a:lstStyle/>
          <a:p>
            <a:pPr marL="0" indent="0">
              <a:buNone/>
            </a:pPr>
            <a:r>
              <a:rPr lang="en-US" sz="1300" dirty="0">
                <a:solidFill>
                  <a:srgbClr val="111111"/>
                </a:solidFill>
              </a:rPr>
              <a:t>Too slow for large defective REBCO</a:t>
            </a:r>
            <a:endParaRPr lang="en-US" sz="1300" dirty="0"/>
          </a:p>
        </p:txBody>
      </p:sp>
      <p:sp>
        <p:nvSpPr>
          <p:cNvPr id="18" name="Text 16"/>
          <p:cNvSpPr/>
          <p:nvPr/>
        </p:nvSpPr>
        <p:spPr>
          <a:xfrm>
            <a:off x="4636008" y="2377440"/>
            <a:ext cx="201168" cy="219456"/>
          </a:xfrm>
          <a:prstGeom prst="rect">
            <a:avLst/>
          </a:prstGeom>
          <a:noFill/>
        </p:spPr>
        <p:txBody>
          <a:bodyPr wrap="square" lIns="0" tIns="0" rIns="0" bIns="0" rtlCol="0" anchor="ctr"/>
          <a:lstStyle/>
          <a:p>
            <a:pPr marL="0" indent="0">
              <a:buNone/>
            </a:pPr>
            <a:r>
              <a:rPr lang="en-US" sz="1400" dirty="0">
                <a:solidFill>
                  <a:srgbClr val="111111"/>
                </a:solidFill>
              </a:rPr>
              <a:t>•</a:t>
            </a:r>
            <a:endParaRPr lang="en-US" sz="1400" dirty="0"/>
          </a:p>
        </p:txBody>
      </p:sp>
      <p:sp>
        <p:nvSpPr>
          <p:cNvPr id="19" name="Text 17"/>
          <p:cNvSpPr/>
          <p:nvPr/>
        </p:nvSpPr>
        <p:spPr>
          <a:xfrm>
            <a:off x="4873752" y="2386584"/>
            <a:ext cx="2532888" cy="274320"/>
          </a:xfrm>
          <a:prstGeom prst="rect">
            <a:avLst/>
          </a:prstGeom>
          <a:noFill/>
        </p:spPr>
        <p:txBody>
          <a:bodyPr wrap="square" lIns="0" tIns="0" rIns="0" bIns="0" rtlCol="0" anchor="ctr">
            <a:normAutofit/>
          </a:bodyPr>
          <a:lstStyle/>
          <a:p>
            <a:pPr marL="0" indent="0">
              <a:buNone/>
            </a:pPr>
            <a:r>
              <a:rPr lang="en-US" sz="1300" dirty="0">
                <a:solidFill>
                  <a:srgbClr val="111111"/>
                </a:solidFill>
              </a:rPr>
              <a:t>Fast and easy to use</a:t>
            </a:r>
            <a:endParaRPr lang="en-US" sz="1300" dirty="0"/>
          </a:p>
        </p:txBody>
      </p:sp>
      <p:sp>
        <p:nvSpPr>
          <p:cNvPr id="20" name="Text 18"/>
          <p:cNvSpPr/>
          <p:nvPr/>
        </p:nvSpPr>
        <p:spPr>
          <a:xfrm>
            <a:off x="4636008" y="2706624"/>
            <a:ext cx="201168" cy="219456"/>
          </a:xfrm>
          <a:prstGeom prst="rect">
            <a:avLst/>
          </a:prstGeom>
          <a:noFill/>
        </p:spPr>
        <p:txBody>
          <a:bodyPr wrap="square" lIns="0" tIns="0" rIns="0" bIns="0" rtlCol="0" anchor="ctr"/>
          <a:lstStyle/>
          <a:p>
            <a:pPr marL="0" indent="0">
              <a:buNone/>
            </a:pPr>
            <a:r>
              <a:rPr lang="en-US" sz="1400" dirty="0">
                <a:solidFill>
                  <a:srgbClr val="111111"/>
                </a:solidFill>
              </a:rPr>
              <a:t>•</a:t>
            </a:r>
            <a:endParaRPr lang="en-US" sz="1400" dirty="0"/>
          </a:p>
        </p:txBody>
      </p:sp>
      <p:sp>
        <p:nvSpPr>
          <p:cNvPr id="21" name="Text 19"/>
          <p:cNvSpPr/>
          <p:nvPr/>
        </p:nvSpPr>
        <p:spPr>
          <a:xfrm>
            <a:off x="4873752" y="2715768"/>
            <a:ext cx="2532888" cy="274320"/>
          </a:xfrm>
          <a:prstGeom prst="rect">
            <a:avLst/>
          </a:prstGeom>
          <a:noFill/>
        </p:spPr>
        <p:txBody>
          <a:bodyPr wrap="square" lIns="0" tIns="0" rIns="0" bIns="0" rtlCol="0" anchor="ctr">
            <a:normAutofit/>
          </a:bodyPr>
          <a:lstStyle/>
          <a:p>
            <a:pPr marL="0" indent="0">
              <a:buNone/>
            </a:pPr>
            <a:r>
              <a:rPr lang="en-US" sz="1300" dirty="0">
                <a:solidFill>
                  <a:srgbClr val="111111"/>
                </a:solidFill>
              </a:rPr>
              <a:t>Fixed analytic forms</a:t>
            </a:r>
            <a:endParaRPr lang="en-US" sz="1300" dirty="0"/>
          </a:p>
        </p:txBody>
      </p:sp>
      <p:sp>
        <p:nvSpPr>
          <p:cNvPr id="22" name="Text 20"/>
          <p:cNvSpPr/>
          <p:nvPr/>
        </p:nvSpPr>
        <p:spPr>
          <a:xfrm>
            <a:off x="4636008" y="3035808"/>
            <a:ext cx="201168" cy="219456"/>
          </a:xfrm>
          <a:prstGeom prst="rect">
            <a:avLst/>
          </a:prstGeom>
          <a:noFill/>
        </p:spPr>
        <p:txBody>
          <a:bodyPr wrap="square" lIns="0" tIns="0" rIns="0" bIns="0" rtlCol="0" anchor="ctr"/>
          <a:lstStyle/>
          <a:p>
            <a:pPr marL="0" indent="0">
              <a:buNone/>
            </a:pPr>
            <a:r>
              <a:rPr lang="en-US" sz="1400" dirty="0">
                <a:solidFill>
                  <a:srgbClr val="111111"/>
                </a:solidFill>
              </a:rPr>
              <a:t>•</a:t>
            </a:r>
            <a:endParaRPr lang="en-US" sz="1400" dirty="0"/>
          </a:p>
        </p:txBody>
      </p:sp>
      <p:sp>
        <p:nvSpPr>
          <p:cNvPr id="23" name="Text 21"/>
          <p:cNvSpPr/>
          <p:nvPr/>
        </p:nvSpPr>
        <p:spPr>
          <a:xfrm>
            <a:off x="4873752" y="3044952"/>
            <a:ext cx="2532888" cy="274320"/>
          </a:xfrm>
          <a:prstGeom prst="rect">
            <a:avLst/>
          </a:prstGeom>
          <a:noFill/>
        </p:spPr>
        <p:txBody>
          <a:bodyPr wrap="square" lIns="0" tIns="0" rIns="0" bIns="0" rtlCol="0" anchor="ctr">
            <a:normAutofit/>
          </a:bodyPr>
          <a:lstStyle/>
          <a:p>
            <a:pPr marL="0" indent="0">
              <a:buNone/>
            </a:pPr>
            <a:r>
              <a:rPr lang="en-US" sz="1300" dirty="0">
                <a:solidFill>
                  <a:srgbClr val="111111"/>
                </a:solidFill>
              </a:rPr>
              <a:t>Limited flexibility for distorted structures</a:t>
            </a:r>
            <a:endParaRPr lang="en-US" sz="1300" dirty="0"/>
          </a:p>
        </p:txBody>
      </p:sp>
      <p:sp>
        <p:nvSpPr>
          <p:cNvPr id="24" name="Text 22"/>
          <p:cNvSpPr/>
          <p:nvPr/>
        </p:nvSpPr>
        <p:spPr>
          <a:xfrm>
            <a:off x="8549640" y="2377440"/>
            <a:ext cx="201168" cy="219456"/>
          </a:xfrm>
          <a:prstGeom prst="rect">
            <a:avLst/>
          </a:prstGeom>
          <a:noFill/>
        </p:spPr>
        <p:txBody>
          <a:bodyPr wrap="square" lIns="0" tIns="0" rIns="0" bIns="0" rtlCol="0" anchor="ctr"/>
          <a:lstStyle/>
          <a:p>
            <a:pPr marL="0" indent="0">
              <a:buNone/>
            </a:pPr>
            <a:r>
              <a:rPr lang="en-US" sz="1400" dirty="0">
                <a:solidFill>
                  <a:srgbClr val="111111"/>
                </a:solidFill>
              </a:rPr>
              <a:t>•</a:t>
            </a:r>
            <a:endParaRPr lang="en-US" sz="1400" dirty="0"/>
          </a:p>
        </p:txBody>
      </p:sp>
      <p:sp>
        <p:nvSpPr>
          <p:cNvPr id="25" name="Text 23"/>
          <p:cNvSpPr/>
          <p:nvPr/>
        </p:nvSpPr>
        <p:spPr>
          <a:xfrm>
            <a:off x="8787384" y="2386584"/>
            <a:ext cx="2532888" cy="274320"/>
          </a:xfrm>
          <a:prstGeom prst="rect">
            <a:avLst/>
          </a:prstGeom>
          <a:noFill/>
        </p:spPr>
        <p:txBody>
          <a:bodyPr wrap="square" lIns="0" tIns="0" rIns="0" bIns="0" rtlCol="0" anchor="ctr">
            <a:normAutofit/>
          </a:bodyPr>
          <a:lstStyle/>
          <a:p>
            <a:pPr marL="0" indent="0">
              <a:buNone/>
            </a:pPr>
            <a:r>
              <a:rPr lang="en-US" sz="1300" dirty="0">
                <a:solidFill>
                  <a:srgbClr val="111111"/>
                </a:solidFill>
              </a:rPr>
              <a:t>Machine learning potential</a:t>
            </a:r>
            <a:endParaRPr lang="en-US" sz="1300" dirty="0"/>
          </a:p>
        </p:txBody>
      </p:sp>
      <p:sp>
        <p:nvSpPr>
          <p:cNvPr id="26" name="Text 24"/>
          <p:cNvSpPr/>
          <p:nvPr/>
        </p:nvSpPr>
        <p:spPr>
          <a:xfrm>
            <a:off x="8549640" y="2706624"/>
            <a:ext cx="201168" cy="219456"/>
          </a:xfrm>
          <a:prstGeom prst="rect">
            <a:avLst/>
          </a:prstGeom>
          <a:noFill/>
        </p:spPr>
        <p:txBody>
          <a:bodyPr wrap="square" lIns="0" tIns="0" rIns="0" bIns="0" rtlCol="0" anchor="ctr"/>
          <a:lstStyle/>
          <a:p>
            <a:pPr marL="0" indent="0">
              <a:buNone/>
            </a:pPr>
            <a:r>
              <a:rPr lang="en-US" sz="1400" dirty="0">
                <a:solidFill>
                  <a:srgbClr val="111111"/>
                </a:solidFill>
              </a:rPr>
              <a:t>•</a:t>
            </a:r>
            <a:endParaRPr lang="en-US" sz="1400" dirty="0"/>
          </a:p>
        </p:txBody>
      </p:sp>
      <p:sp>
        <p:nvSpPr>
          <p:cNvPr id="27" name="Text 25"/>
          <p:cNvSpPr/>
          <p:nvPr/>
        </p:nvSpPr>
        <p:spPr>
          <a:xfrm>
            <a:off x="8787384" y="2715768"/>
            <a:ext cx="2532888" cy="274320"/>
          </a:xfrm>
          <a:prstGeom prst="rect">
            <a:avLst/>
          </a:prstGeom>
          <a:noFill/>
        </p:spPr>
        <p:txBody>
          <a:bodyPr wrap="square" lIns="0" tIns="0" rIns="0" bIns="0" rtlCol="0" anchor="ctr">
            <a:normAutofit/>
          </a:bodyPr>
          <a:lstStyle/>
          <a:p>
            <a:pPr marL="0" indent="0">
              <a:buNone/>
            </a:pPr>
            <a:r>
              <a:rPr lang="en-US" sz="1300" dirty="0">
                <a:solidFill>
                  <a:srgbClr val="111111"/>
                </a:solidFill>
              </a:rPr>
              <a:t>Faster than DFT</a:t>
            </a:r>
            <a:endParaRPr lang="en-US" sz="1300" dirty="0"/>
          </a:p>
        </p:txBody>
      </p:sp>
      <p:sp>
        <p:nvSpPr>
          <p:cNvPr id="28" name="Text 26"/>
          <p:cNvSpPr/>
          <p:nvPr/>
        </p:nvSpPr>
        <p:spPr>
          <a:xfrm>
            <a:off x="8549640" y="3035808"/>
            <a:ext cx="201168" cy="219456"/>
          </a:xfrm>
          <a:prstGeom prst="rect">
            <a:avLst/>
          </a:prstGeom>
          <a:noFill/>
        </p:spPr>
        <p:txBody>
          <a:bodyPr wrap="square" lIns="0" tIns="0" rIns="0" bIns="0" rtlCol="0" anchor="ctr"/>
          <a:lstStyle/>
          <a:p>
            <a:pPr marL="0" indent="0">
              <a:buNone/>
            </a:pPr>
            <a:r>
              <a:rPr lang="en-US" sz="1400" dirty="0">
                <a:solidFill>
                  <a:srgbClr val="111111"/>
                </a:solidFill>
              </a:rPr>
              <a:t>•</a:t>
            </a:r>
            <a:endParaRPr lang="en-US" sz="1400" dirty="0"/>
          </a:p>
        </p:txBody>
      </p:sp>
      <p:sp>
        <p:nvSpPr>
          <p:cNvPr id="29" name="Text 27"/>
          <p:cNvSpPr/>
          <p:nvPr/>
        </p:nvSpPr>
        <p:spPr>
          <a:xfrm>
            <a:off x="8787384" y="3044952"/>
            <a:ext cx="2532888" cy="274320"/>
          </a:xfrm>
          <a:prstGeom prst="rect">
            <a:avLst/>
          </a:prstGeom>
          <a:noFill/>
        </p:spPr>
        <p:txBody>
          <a:bodyPr wrap="square" lIns="0" tIns="0" rIns="0" bIns="0" rtlCol="0" anchor="ctr">
            <a:normAutofit/>
          </a:bodyPr>
          <a:lstStyle/>
          <a:p>
            <a:pPr marL="0" indent="0">
              <a:buNone/>
            </a:pPr>
            <a:r>
              <a:rPr lang="en-US" sz="1300" dirty="0">
                <a:solidFill>
                  <a:srgbClr val="111111"/>
                </a:solidFill>
              </a:rPr>
              <a:t>More flexible than empirical potentials</a:t>
            </a:r>
            <a:endParaRPr lang="en-US" sz="1300" dirty="0"/>
          </a:p>
        </p:txBody>
      </p:sp>
      <p:sp>
        <p:nvSpPr>
          <p:cNvPr id="30" name="Shape 28"/>
          <p:cNvSpPr/>
          <p:nvPr/>
        </p:nvSpPr>
        <p:spPr>
          <a:xfrm>
            <a:off x="3749040" y="2487168"/>
            <a:ext cx="338328" cy="256032"/>
          </a:xfrm>
          <a:prstGeom prst="rightArrow">
            <a:avLst/>
          </a:prstGeom>
          <a:solidFill>
            <a:srgbClr val="0B4EA2"/>
          </a:solidFill>
          <a:ln w="12700">
            <a:solidFill>
              <a:srgbClr val="0B4EA2"/>
            </a:solidFill>
            <a:prstDash val="solid"/>
          </a:ln>
        </p:spPr>
      </p:sp>
      <p:sp>
        <p:nvSpPr>
          <p:cNvPr id="31" name="Shape 29"/>
          <p:cNvSpPr/>
          <p:nvPr/>
        </p:nvSpPr>
        <p:spPr>
          <a:xfrm>
            <a:off x="7662672" y="2487168"/>
            <a:ext cx="338328" cy="256032"/>
          </a:xfrm>
          <a:prstGeom prst="rightArrow">
            <a:avLst/>
          </a:prstGeom>
          <a:solidFill>
            <a:srgbClr val="0B4EA2"/>
          </a:solidFill>
          <a:ln w="12700">
            <a:solidFill>
              <a:srgbClr val="0B4EA2"/>
            </a:solidFill>
            <a:prstDash val="solid"/>
          </a:ln>
        </p:spPr>
      </p:sp>
      <p:sp>
        <p:nvSpPr>
          <p:cNvPr id="32" name="Text 30"/>
          <p:cNvSpPr/>
          <p:nvPr/>
        </p:nvSpPr>
        <p:spPr>
          <a:xfrm>
            <a:off x="411480" y="3794760"/>
            <a:ext cx="5029200" cy="320040"/>
          </a:xfrm>
          <a:prstGeom prst="rect">
            <a:avLst/>
          </a:prstGeom>
          <a:noFill/>
        </p:spPr>
        <p:txBody>
          <a:bodyPr wrap="square" lIns="0" tIns="0" rIns="0" bIns="0" rtlCol="0" anchor="ctr"/>
          <a:lstStyle/>
          <a:p>
            <a:pPr marL="0" indent="0">
              <a:buNone/>
            </a:pPr>
            <a:r>
              <a:rPr lang="en-US" sz="2000" b="1" dirty="0">
                <a:solidFill>
                  <a:srgbClr val="002060"/>
                </a:solidFill>
              </a:rPr>
              <a:t>2. How MACE is trained</a:t>
            </a:r>
            <a:endParaRPr lang="en-US" sz="2000" dirty="0"/>
          </a:p>
        </p:txBody>
      </p:sp>
      <p:sp>
        <p:nvSpPr>
          <p:cNvPr id="33" name="Shape 31"/>
          <p:cNvSpPr/>
          <p:nvPr/>
        </p:nvSpPr>
        <p:spPr>
          <a:xfrm>
            <a:off x="502920" y="4205732"/>
            <a:ext cx="11201400" cy="1508760"/>
          </a:xfrm>
          <a:prstGeom prst="roundRect">
            <a:avLst/>
          </a:prstGeom>
          <a:solidFill>
            <a:srgbClr val="FFFFFF"/>
          </a:solidFill>
          <a:ln w="15240">
            <a:solidFill>
              <a:srgbClr val="0B4EA2"/>
            </a:solidFill>
            <a:prstDash val="solid"/>
          </a:ln>
        </p:spPr>
      </p:sp>
      <p:sp>
        <p:nvSpPr>
          <p:cNvPr id="34" name="Text 32"/>
          <p:cNvSpPr/>
          <p:nvPr/>
        </p:nvSpPr>
        <p:spPr>
          <a:xfrm>
            <a:off x="685800" y="4425696"/>
            <a:ext cx="10835640" cy="256032"/>
          </a:xfrm>
          <a:prstGeom prst="rect">
            <a:avLst/>
          </a:prstGeom>
          <a:noFill/>
        </p:spPr>
        <p:txBody>
          <a:bodyPr wrap="square" lIns="0" tIns="0" rIns="0" bIns="0" rtlCol="0" anchor="ctr">
            <a:normAutofit/>
          </a:bodyPr>
          <a:lstStyle/>
          <a:p>
            <a:pPr marL="0" indent="0">
              <a:buNone/>
            </a:pPr>
            <a:r>
              <a:rPr lang="en-US" sz="1240" dirty="0">
                <a:solidFill>
                  <a:srgbClr val="111111"/>
                </a:solidFill>
              </a:rPr>
              <a:t>MACE represents each atom as a graph node and connects neighbouring atoms within a cutoff radius.</a:t>
            </a:r>
            <a:endParaRPr lang="en-US" sz="1240" dirty="0"/>
          </a:p>
        </p:txBody>
      </p:sp>
      <p:sp>
        <p:nvSpPr>
          <p:cNvPr id="35" name="Text 33"/>
          <p:cNvSpPr/>
          <p:nvPr/>
        </p:nvSpPr>
        <p:spPr>
          <a:xfrm>
            <a:off x="685800" y="4736592"/>
            <a:ext cx="10835640" cy="256032"/>
          </a:xfrm>
          <a:prstGeom prst="rect">
            <a:avLst/>
          </a:prstGeom>
          <a:noFill/>
        </p:spPr>
        <p:txBody>
          <a:bodyPr wrap="square" lIns="0" tIns="0" rIns="0" bIns="0" rtlCol="0" anchor="ctr">
            <a:normAutofit/>
          </a:bodyPr>
          <a:lstStyle/>
          <a:p>
            <a:pPr marL="0" indent="0">
              <a:buNone/>
            </a:pPr>
            <a:r>
              <a:rPr lang="en-US" sz="1240" dirty="0">
                <a:solidFill>
                  <a:srgbClr val="111111"/>
                </a:solidFill>
              </a:rPr>
              <a:t>Equivariant message passing is used to learn the local atomic environment around each atom.</a:t>
            </a:r>
            <a:endParaRPr lang="en-US" sz="1240" dirty="0"/>
          </a:p>
        </p:txBody>
      </p:sp>
      <p:sp>
        <p:nvSpPr>
          <p:cNvPr id="36" name="Text 34"/>
          <p:cNvSpPr/>
          <p:nvPr/>
        </p:nvSpPr>
        <p:spPr>
          <a:xfrm>
            <a:off x="685800" y="5047488"/>
            <a:ext cx="10835640" cy="256032"/>
          </a:xfrm>
          <a:prstGeom prst="rect">
            <a:avLst/>
          </a:prstGeom>
          <a:noFill/>
        </p:spPr>
        <p:txBody>
          <a:bodyPr wrap="square" lIns="0" tIns="0" rIns="0" bIns="0" rtlCol="0" anchor="ctr">
            <a:normAutofit/>
          </a:bodyPr>
          <a:lstStyle/>
          <a:p>
            <a:pPr marL="0" indent="0">
              <a:buNone/>
            </a:pPr>
            <a:r>
              <a:rPr lang="en-US" sz="1240" dirty="0">
                <a:solidFill>
                  <a:srgbClr val="111111"/>
                </a:solidFill>
              </a:rPr>
              <a:t>The model predicts atomic energies, which are summed to obtain the total energy, and forces are obtained from the energy gradient.</a:t>
            </a:r>
            <a:endParaRPr lang="en-US" sz="1240" dirty="0"/>
          </a:p>
        </p:txBody>
      </p:sp>
      <p:sp>
        <p:nvSpPr>
          <p:cNvPr id="37" name="Text 35"/>
          <p:cNvSpPr/>
          <p:nvPr/>
        </p:nvSpPr>
        <p:spPr>
          <a:xfrm>
            <a:off x="685800" y="5358384"/>
            <a:ext cx="10835640" cy="256032"/>
          </a:xfrm>
          <a:prstGeom prst="rect">
            <a:avLst/>
          </a:prstGeom>
          <a:noFill/>
        </p:spPr>
        <p:txBody>
          <a:bodyPr wrap="square" lIns="0" tIns="0" rIns="0" bIns="0" rtlCol="0" anchor="ctr">
            <a:normAutofit/>
          </a:bodyPr>
          <a:lstStyle/>
          <a:p>
            <a:pPr marL="0" indent="0">
              <a:buNone/>
            </a:pPr>
            <a:r>
              <a:rPr lang="en-US" sz="1240" dirty="0">
                <a:solidFill>
                  <a:srgbClr val="111111"/>
                </a:solidFill>
              </a:rPr>
              <a:t>During training, MACE minimizes the difference between its predictions and DFT labels for energy, forces, and, when available, stress or virial.</a:t>
            </a:r>
            <a:endParaRPr lang="en-US" sz="12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182880"/>
            <a:ext cx="11155680" cy="502920"/>
          </a:xfrm>
          <a:prstGeom prst="rect">
            <a:avLst/>
          </a:prstGeom>
          <a:noFill/>
        </p:spPr>
        <p:txBody>
          <a:bodyPr wrap="square" lIns="0" tIns="0" rIns="0" bIns="0" rtlCol="0" anchor="ctr"/>
          <a:lstStyle/>
          <a:p>
            <a:pPr marL="0" indent="0" algn="ctr">
              <a:buNone/>
            </a:pPr>
            <a:r>
              <a:rPr lang="en-US" sz="3400" b="1" dirty="0">
                <a:solidFill>
                  <a:srgbClr val="002060"/>
                </a:solidFill>
                <a:latin typeface="Aptos Display" pitchFamily="34" charset="0"/>
                <a:ea typeface="Aptos Display" pitchFamily="34" charset="-122"/>
                <a:cs typeface="Aptos Display" pitchFamily="34" charset="-120"/>
              </a:rPr>
              <a:t>Validation strategy for MACE</a:t>
            </a:r>
            <a:endParaRPr lang="en-US" sz="3400" dirty="0"/>
          </a:p>
        </p:txBody>
      </p:sp>
      <p:sp>
        <p:nvSpPr>
          <p:cNvPr id="4" name="Text 2"/>
          <p:cNvSpPr/>
          <p:nvPr/>
        </p:nvSpPr>
        <p:spPr>
          <a:xfrm>
            <a:off x="11841480" y="164592"/>
            <a:ext cx="182880" cy="228600"/>
          </a:xfrm>
          <a:prstGeom prst="rect">
            <a:avLst/>
          </a:prstGeom>
          <a:noFill/>
        </p:spPr>
        <p:txBody>
          <a:bodyPr wrap="square" lIns="0" tIns="0" rIns="0" bIns="0" rtlCol="0" anchor="ctr"/>
          <a:lstStyle/>
          <a:p>
            <a:pPr marL="0" indent="0" algn="r">
              <a:buNone/>
            </a:pPr>
            <a:r>
              <a:rPr lang="en-US" sz="1400" dirty="0">
                <a:solidFill>
                  <a:srgbClr val="002060"/>
                </a:solidFill>
              </a:rPr>
              <a:t>5</a:t>
            </a:r>
            <a:endParaRPr lang="en-US" sz="1400" dirty="0"/>
          </a:p>
        </p:txBody>
      </p:sp>
      <p:sp>
        <p:nvSpPr>
          <p:cNvPr id="5" name="Text 3"/>
          <p:cNvSpPr/>
          <p:nvPr/>
        </p:nvSpPr>
        <p:spPr>
          <a:xfrm>
            <a:off x="594360" y="1481328"/>
            <a:ext cx="3566160" cy="384048"/>
          </a:xfrm>
          <a:prstGeom prst="rect">
            <a:avLst/>
          </a:prstGeom>
          <a:noFill/>
        </p:spPr>
        <p:txBody>
          <a:bodyPr wrap="square" lIns="0" tIns="0" rIns="0" bIns="0" rtlCol="0" anchor="ctr"/>
          <a:lstStyle/>
          <a:p>
            <a:pPr marL="0" indent="0">
              <a:buNone/>
            </a:pPr>
            <a:r>
              <a:rPr lang="en-US" sz="2000" b="1" dirty="0">
                <a:solidFill>
                  <a:srgbClr val="002060"/>
                </a:solidFill>
              </a:rPr>
              <a:t>1. Benchmark structures</a:t>
            </a:r>
            <a:endParaRPr lang="en-US" sz="2000" dirty="0"/>
          </a:p>
        </p:txBody>
      </p:sp>
      <p:sp>
        <p:nvSpPr>
          <p:cNvPr id="6" name="Text 4"/>
          <p:cNvSpPr/>
          <p:nvPr/>
        </p:nvSpPr>
        <p:spPr>
          <a:xfrm>
            <a:off x="4951095" y="1371600"/>
            <a:ext cx="3108960" cy="640080"/>
          </a:xfrm>
          <a:prstGeom prst="rect">
            <a:avLst/>
          </a:prstGeom>
          <a:noFill/>
        </p:spPr>
        <p:txBody>
          <a:bodyPr wrap="square" lIns="0" tIns="0" rIns="0" bIns="0" rtlCol="0" anchor="ctr"/>
          <a:lstStyle/>
          <a:p>
            <a:pPr marL="0" indent="0" algn="ctr">
              <a:buNone/>
            </a:pPr>
            <a:r>
              <a:rPr lang="en-US" sz="2000" b="1" dirty="0">
                <a:solidFill>
                  <a:srgbClr val="002060"/>
                </a:solidFill>
              </a:rPr>
              <a:t>2. Optimise the same</a:t>
            </a:r>
            <a:endParaRPr lang="en-US" sz="2000" dirty="0"/>
          </a:p>
          <a:p>
            <a:pPr marL="0" indent="0" algn="ctr">
              <a:buNone/>
            </a:pPr>
            <a:r>
              <a:rPr lang="en-US" sz="2000" b="1" dirty="0">
                <a:solidFill>
                  <a:srgbClr val="002060"/>
                </a:solidFill>
              </a:rPr>
              <a:t>structures with MACE</a:t>
            </a:r>
            <a:endParaRPr lang="en-US" sz="2000" dirty="0"/>
          </a:p>
        </p:txBody>
      </p:sp>
      <p:sp>
        <p:nvSpPr>
          <p:cNvPr id="7" name="Text 5"/>
          <p:cNvSpPr/>
          <p:nvPr/>
        </p:nvSpPr>
        <p:spPr>
          <a:xfrm>
            <a:off x="8851392" y="1481328"/>
            <a:ext cx="2926080" cy="384048"/>
          </a:xfrm>
          <a:prstGeom prst="rect">
            <a:avLst/>
          </a:prstGeom>
          <a:noFill/>
        </p:spPr>
        <p:txBody>
          <a:bodyPr wrap="square" lIns="0" tIns="0" rIns="0" bIns="0" rtlCol="0" anchor="ctr"/>
          <a:lstStyle/>
          <a:p>
            <a:pPr marL="0" indent="0">
              <a:buNone/>
            </a:pPr>
            <a:r>
              <a:rPr lang="en-US" sz="2000" b="1" dirty="0">
                <a:solidFill>
                  <a:srgbClr val="002060"/>
                </a:solidFill>
              </a:rPr>
              <a:t>3. Compare with DFT</a:t>
            </a:r>
            <a:endParaRPr lang="en-US" sz="2000" dirty="0"/>
          </a:p>
        </p:txBody>
      </p:sp>
      <p:sp>
        <p:nvSpPr>
          <p:cNvPr id="8" name="Shape 6"/>
          <p:cNvSpPr/>
          <p:nvPr/>
        </p:nvSpPr>
        <p:spPr>
          <a:xfrm>
            <a:off x="365760" y="2103120"/>
            <a:ext cx="3886200" cy="2880360"/>
          </a:xfrm>
          <a:prstGeom prst="roundRect">
            <a:avLst/>
          </a:prstGeom>
          <a:solidFill>
            <a:srgbClr val="FFFFFF"/>
          </a:solidFill>
          <a:ln w="15240">
            <a:solidFill>
              <a:srgbClr val="0B4EA2"/>
            </a:solidFill>
            <a:prstDash val="solid"/>
          </a:ln>
        </p:spPr>
      </p:sp>
      <p:sp>
        <p:nvSpPr>
          <p:cNvPr id="9" name="Shape 7"/>
          <p:cNvSpPr/>
          <p:nvPr/>
        </p:nvSpPr>
        <p:spPr>
          <a:xfrm>
            <a:off x="4892040" y="2267712"/>
            <a:ext cx="2971800" cy="2697480"/>
          </a:xfrm>
          <a:prstGeom prst="roundRect">
            <a:avLst/>
          </a:prstGeom>
          <a:solidFill>
            <a:srgbClr val="FFFFFF"/>
          </a:solidFill>
          <a:ln w="15240">
            <a:solidFill>
              <a:srgbClr val="0B4EA2"/>
            </a:solidFill>
            <a:prstDash val="solid"/>
          </a:ln>
        </p:spPr>
      </p:sp>
      <p:sp>
        <p:nvSpPr>
          <p:cNvPr id="10" name="Shape 8"/>
          <p:cNvSpPr/>
          <p:nvPr/>
        </p:nvSpPr>
        <p:spPr>
          <a:xfrm>
            <a:off x="8686800" y="2103120"/>
            <a:ext cx="3017520" cy="3063240"/>
          </a:xfrm>
          <a:prstGeom prst="roundRect">
            <a:avLst/>
          </a:prstGeom>
          <a:solidFill>
            <a:srgbClr val="FFFFFF"/>
          </a:solidFill>
          <a:ln w="15240">
            <a:solidFill>
              <a:srgbClr val="0B4EA2"/>
            </a:solidFill>
            <a:prstDash val="solid"/>
          </a:ln>
        </p:spPr>
      </p:sp>
      <p:sp>
        <p:nvSpPr>
          <p:cNvPr id="11" name="Shape 9"/>
          <p:cNvSpPr/>
          <p:nvPr/>
        </p:nvSpPr>
        <p:spPr>
          <a:xfrm>
            <a:off x="4370832" y="3291840"/>
            <a:ext cx="338328" cy="320040"/>
          </a:xfrm>
          <a:prstGeom prst="rightArrow">
            <a:avLst/>
          </a:prstGeom>
          <a:solidFill>
            <a:srgbClr val="0B4EA2"/>
          </a:solidFill>
          <a:ln w="12700">
            <a:solidFill>
              <a:srgbClr val="0B4EA2"/>
            </a:solidFill>
            <a:prstDash val="solid"/>
          </a:ln>
        </p:spPr>
      </p:sp>
      <p:sp>
        <p:nvSpPr>
          <p:cNvPr id="12" name="Shape 10"/>
          <p:cNvSpPr/>
          <p:nvPr/>
        </p:nvSpPr>
        <p:spPr>
          <a:xfrm>
            <a:off x="8028432" y="3291840"/>
            <a:ext cx="338328" cy="320040"/>
          </a:xfrm>
          <a:prstGeom prst="rightArrow">
            <a:avLst/>
          </a:prstGeom>
          <a:solidFill>
            <a:srgbClr val="0B4EA2"/>
          </a:solidFill>
          <a:ln w="12700">
            <a:solidFill>
              <a:srgbClr val="0B4EA2"/>
            </a:solidFill>
            <a:prstDash val="solid"/>
          </a:ln>
        </p:spPr>
      </p:sp>
      <p:sp>
        <p:nvSpPr>
          <p:cNvPr id="13" name="Shape 11"/>
          <p:cNvSpPr/>
          <p:nvPr/>
        </p:nvSpPr>
        <p:spPr>
          <a:xfrm>
            <a:off x="566928" y="2395728"/>
            <a:ext cx="1664208" cy="475488"/>
          </a:xfrm>
          <a:prstGeom prst="roundRect">
            <a:avLst/>
          </a:prstGeom>
          <a:solidFill>
            <a:srgbClr val="FFFFFF"/>
          </a:solidFill>
          <a:ln w="12700">
            <a:solidFill>
              <a:srgbClr val="0B4EA2"/>
            </a:solidFill>
            <a:prstDash val="solid"/>
          </a:ln>
        </p:spPr>
      </p:sp>
      <p:sp>
        <p:nvSpPr>
          <p:cNvPr id="14" name="Text 12"/>
          <p:cNvSpPr/>
          <p:nvPr/>
        </p:nvSpPr>
        <p:spPr>
          <a:xfrm>
            <a:off x="612648" y="2532888"/>
            <a:ext cx="1572768" cy="182880"/>
          </a:xfrm>
          <a:prstGeom prst="rect">
            <a:avLst/>
          </a:prstGeom>
          <a:noFill/>
        </p:spPr>
        <p:txBody>
          <a:bodyPr wrap="square" lIns="0" tIns="0" rIns="0" bIns="0" rtlCol="0" anchor="ctr">
            <a:normAutofit/>
          </a:bodyPr>
          <a:lstStyle/>
          <a:p>
            <a:pPr marL="0" indent="0" algn="ctr">
              <a:buNone/>
            </a:pPr>
            <a:r>
              <a:rPr lang="en-US" sz="1330" b="1" dirty="0">
                <a:solidFill>
                  <a:srgbClr val="002060"/>
                </a:solidFill>
              </a:rPr>
              <a:t>Pristine REBCO</a:t>
            </a:r>
            <a:endParaRPr lang="en-US" sz="1330" dirty="0"/>
          </a:p>
        </p:txBody>
      </p:sp>
      <p:sp>
        <p:nvSpPr>
          <p:cNvPr id="15" name="Shape 13"/>
          <p:cNvSpPr/>
          <p:nvPr/>
        </p:nvSpPr>
        <p:spPr>
          <a:xfrm>
            <a:off x="2359152" y="2395728"/>
            <a:ext cx="1664208" cy="475488"/>
          </a:xfrm>
          <a:prstGeom prst="roundRect">
            <a:avLst/>
          </a:prstGeom>
          <a:solidFill>
            <a:srgbClr val="FFFFFF"/>
          </a:solidFill>
          <a:ln w="12700">
            <a:solidFill>
              <a:srgbClr val="0B4EA2"/>
            </a:solidFill>
            <a:prstDash val="solid"/>
          </a:ln>
        </p:spPr>
      </p:sp>
      <p:sp>
        <p:nvSpPr>
          <p:cNvPr id="16" name="Text 14"/>
          <p:cNvSpPr/>
          <p:nvPr/>
        </p:nvSpPr>
        <p:spPr>
          <a:xfrm>
            <a:off x="2404872" y="2532888"/>
            <a:ext cx="1572768" cy="182880"/>
          </a:xfrm>
          <a:prstGeom prst="rect">
            <a:avLst/>
          </a:prstGeom>
          <a:noFill/>
        </p:spPr>
        <p:txBody>
          <a:bodyPr wrap="square" lIns="0" tIns="0" rIns="0" bIns="0" rtlCol="0" anchor="ctr">
            <a:normAutofit/>
          </a:bodyPr>
          <a:lstStyle/>
          <a:p>
            <a:pPr marL="0" indent="0" algn="ctr">
              <a:buNone/>
            </a:pPr>
            <a:r>
              <a:rPr lang="en-US" sz="1330" b="1" dirty="0">
                <a:solidFill>
                  <a:srgbClr val="002060"/>
                </a:solidFill>
              </a:rPr>
              <a:t>Interstitial</a:t>
            </a:r>
            <a:endParaRPr lang="en-US" sz="1330" dirty="0"/>
          </a:p>
        </p:txBody>
      </p:sp>
      <p:sp>
        <p:nvSpPr>
          <p:cNvPr id="17" name="Shape 15"/>
          <p:cNvSpPr/>
          <p:nvPr/>
        </p:nvSpPr>
        <p:spPr>
          <a:xfrm>
            <a:off x="566928" y="3035808"/>
            <a:ext cx="1664208" cy="475488"/>
          </a:xfrm>
          <a:prstGeom prst="roundRect">
            <a:avLst/>
          </a:prstGeom>
          <a:solidFill>
            <a:srgbClr val="FFFFFF"/>
          </a:solidFill>
          <a:ln w="12700">
            <a:solidFill>
              <a:srgbClr val="0B4EA2"/>
            </a:solidFill>
            <a:prstDash val="solid"/>
          </a:ln>
        </p:spPr>
      </p:sp>
      <p:sp>
        <p:nvSpPr>
          <p:cNvPr id="18" name="Text 16"/>
          <p:cNvSpPr/>
          <p:nvPr/>
        </p:nvSpPr>
        <p:spPr>
          <a:xfrm>
            <a:off x="612648" y="3172968"/>
            <a:ext cx="1572768" cy="182880"/>
          </a:xfrm>
          <a:prstGeom prst="rect">
            <a:avLst/>
          </a:prstGeom>
          <a:noFill/>
        </p:spPr>
        <p:txBody>
          <a:bodyPr wrap="square" lIns="0" tIns="0" rIns="0" bIns="0" rtlCol="0" anchor="ctr">
            <a:normAutofit/>
          </a:bodyPr>
          <a:lstStyle/>
          <a:p>
            <a:pPr marL="0" indent="0" algn="ctr">
              <a:buNone/>
            </a:pPr>
            <a:r>
              <a:rPr lang="en-US" sz="1330" b="1" dirty="0">
                <a:solidFill>
                  <a:srgbClr val="002060"/>
                </a:solidFill>
              </a:rPr>
              <a:t>Vacancy</a:t>
            </a:r>
            <a:endParaRPr lang="en-US" sz="1330" dirty="0"/>
          </a:p>
        </p:txBody>
      </p:sp>
      <p:sp>
        <p:nvSpPr>
          <p:cNvPr id="19" name="Shape 17"/>
          <p:cNvSpPr/>
          <p:nvPr/>
        </p:nvSpPr>
        <p:spPr>
          <a:xfrm>
            <a:off x="2359152" y="3035808"/>
            <a:ext cx="1664208" cy="475488"/>
          </a:xfrm>
          <a:prstGeom prst="roundRect">
            <a:avLst/>
          </a:prstGeom>
          <a:solidFill>
            <a:srgbClr val="FFFFFF"/>
          </a:solidFill>
          <a:ln w="12700">
            <a:solidFill>
              <a:srgbClr val="0B4EA2"/>
            </a:solidFill>
            <a:prstDash val="solid"/>
          </a:ln>
        </p:spPr>
      </p:sp>
      <p:sp>
        <p:nvSpPr>
          <p:cNvPr id="20" name="Text 18"/>
          <p:cNvSpPr/>
          <p:nvPr/>
        </p:nvSpPr>
        <p:spPr>
          <a:xfrm>
            <a:off x="2404872" y="3172968"/>
            <a:ext cx="1572768" cy="182880"/>
          </a:xfrm>
          <a:prstGeom prst="rect">
            <a:avLst/>
          </a:prstGeom>
          <a:noFill/>
        </p:spPr>
        <p:txBody>
          <a:bodyPr wrap="square" lIns="0" tIns="0" rIns="0" bIns="0" rtlCol="0" anchor="ctr">
            <a:normAutofit/>
          </a:bodyPr>
          <a:lstStyle/>
          <a:p>
            <a:pPr marL="0" indent="0" algn="ctr">
              <a:buNone/>
            </a:pPr>
            <a:r>
              <a:rPr lang="en-US" sz="1330" b="1" dirty="0">
                <a:solidFill>
                  <a:srgbClr val="002060"/>
                </a:solidFill>
              </a:rPr>
              <a:t>Frenkel defect</a:t>
            </a:r>
            <a:endParaRPr lang="en-US" sz="1330" dirty="0"/>
          </a:p>
        </p:txBody>
      </p:sp>
      <p:sp>
        <p:nvSpPr>
          <p:cNvPr id="21" name="Shape 19"/>
          <p:cNvSpPr/>
          <p:nvPr/>
        </p:nvSpPr>
        <p:spPr>
          <a:xfrm>
            <a:off x="548640" y="3694176"/>
            <a:ext cx="3520440" cy="0"/>
          </a:xfrm>
          <a:prstGeom prst="line">
            <a:avLst/>
          </a:prstGeom>
          <a:noFill/>
          <a:ln w="12700">
            <a:solidFill>
              <a:srgbClr val="9A9A9A"/>
            </a:solidFill>
            <a:prstDash val="solid"/>
          </a:ln>
        </p:spPr>
      </p:sp>
      <p:sp>
        <p:nvSpPr>
          <p:cNvPr id="22" name="Text 20"/>
          <p:cNvSpPr/>
          <p:nvPr/>
        </p:nvSpPr>
        <p:spPr>
          <a:xfrm>
            <a:off x="658368" y="3886200"/>
            <a:ext cx="3291840" cy="411480"/>
          </a:xfrm>
          <a:prstGeom prst="rect">
            <a:avLst/>
          </a:prstGeom>
          <a:noFill/>
        </p:spPr>
        <p:txBody>
          <a:bodyPr wrap="square" lIns="0" tIns="0" rIns="0" bIns="0" rtlCol="0" anchor="ctr"/>
          <a:lstStyle/>
          <a:p>
            <a:pPr marL="0" indent="0" algn="ctr">
              <a:buNone/>
            </a:pPr>
            <a:r>
              <a:rPr lang="en-US" sz="1320" dirty="0">
                <a:solidFill>
                  <a:srgbClr val="111111"/>
                </a:solidFill>
              </a:rPr>
              <a:t>Geometry optimisation in DFT</a:t>
            </a:r>
            <a:endParaRPr lang="en-US" sz="1320" dirty="0"/>
          </a:p>
          <a:p>
            <a:pPr marL="0" indent="0" algn="ctr">
              <a:buNone/>
            </a:pPr>
            <a:r>
              <a:rPr lang="en-US" sz="1320" dirty="0">
                <a:solidFill>
                  <a:srgbClr val="111111"/>
                </a:solidFill>
              </a:rPr>
              <a:t>to generate benchmark structures</a:t>
            </a:r>
            <a:endParaRPr lang="en-US" sz="1320" dirty="0"/>
          </a:p>
        </p:txBody>
      </p:sp>
      <p:sp>
        <p:nvSpPr>
          <p:cNvPr id="23" name="Text 21"/>
          <p:cNvSpPr/>
          <p:nvPr/>
        </p:nvSpPr>
        <p:spPr>
          <a:xfrm>
            <a:off x="658368" y="4498848"/>
            <a:ext cx="3291840" cy="411480"/>
          </a:xfrm>
          <a:prstGeom prst="rect">
            <a:avLst/>
          </a:prstGeom>
          <a:noFill/>
        </p:spPr>
        <p:txBody>
          <a:bodyPr wrap="square" lIns="0" tIns="0" rIns="0" bIns="0" rtlCol="0" anchor="ctr"/>
          <a:lstStyle/>
          <a:p>
            <a:pPr marL="0" indent="0" algn="ctr">
              <a:buNone/>
            </a:pPr>
            <a:r>
              <a:rPr lang="en-US" sz="1320" dirty="0">
                <a:solidFill>
                  <a:srgbClr val="111111"/>
                </a:solidFill>
              </a:rPr>
              <a:t>PBE functional used for consistency</a:t>
            </a:r>
            <a:endParaRPr lang="en-US" sz="1320" dirty="0"/>
          </a:p>
          <a:p>
            <a:pPr marL="0" indent="0" algn="ctr">
              <a:buNone/>
            </a:pPr>
            <a:r>
              <a:rPr lang="en-US" sz="1320" dirty="0">
                <a:solidFill>
                  <a:srgbClr val="111111"/>
                </a:solidFill>
              </a:rPr>
              <a:t>with MACE training data</a:t>
            </a:r>
            <a:endParaRPr lang="en-US" sz="1320" dirty="0"/>
          </a:p>
        </p:txBody>
      </p:sp>
      <p:sp>
        <p:nvSpPr>
          <p:cNvPr id="24" name="Text 22"/>
          <p:cNvSpPr/>
          <p:nvPr/>
        </p:nvSpPr>
        <p:spPr>
          <a:xfrm>
            <a:off x="5074920" y="3072384"/>
            <a:ext cx="2606040" cy="320040"/>
          </a:xfrm>
          <a:prstGeom prst="rect">
            <a:avLst/>
          </a:prstGeom>
          <a:noFill/>
        </p:spPr>
        <p:txBody>
          <a:bodyPr wrap="square" lIns="0" tIns="0" rIns="0" bIns="0" rtlCol="0" anchor="ctr"/>
          <a:lstStyle/>
          <a:p>
            <a:pPr marL="0" indent="0" algn="ctr">
              <a:buNone/>
            </a:pPr>
            <a:r>
              <a:rPr lang="en-US" sz="2000" b="1" dirty="0">
                <a:solidFill>
                  <a:srgbClr val="002060"/>
                </a:solidFill>
              </a:rPr>
              <a:t>ASE + MACE</a:t>
            </a:r>
            <a:endParaRPr lang="en-US" sz="2000" dirty="0"/>
          </a:p>
        </p:txBody>
      </p:sp>
      <p:sp>
        <p:nvSpPr>
          <p:cNvPr id="25" name="Shape 23"/>
          <p:cNvSpPr/>
          <p:nvPr/>
        </p:nvSpPr>
        <p:spPr>
          <a:xfrm>
            <a:off x="5120640" y="3703320"/>
            <a:ext cx="2514600" cy="0"/>
          </a:xfrm>
          <a:prstGeom prst="line">
            <a:avLst/>
          </a:prstGeom>
          <a:noFill/>
          <a:ln w="12700">
            <a:solidFill>
              <a:srgbClr val="9A9A9A"/>
            </a:solidFill>
            <a:prstDash val="solid"/>
          </a:ln>
        </p:spPr>
      </p:sp>
      <p:sp>
        <p:nvSpPr>
          <p:cNvPr id="26" name="Text 24"/>
          <p:cNvSpPr/>
          <p:nvPr/>
        </p:nvSpPr>
        <p:spPr>
          <a:xfrm>
            <a:off x="5166360" y="4041648"/>
            <a:ext cx="2423160" cy="475488"/>
          </a:xfrm>
          <a:prstGeom prst="rect">
            <a:avLst/>
          </a:prstGeom>
          <a:noFill/>
        </p:spPr>
        <p:txBody>
          <a:bodyPr wrap="square" lIns="0" tIns="0" rIns="0" bIns="0" rtlCol="0" anchor="ctr"/>
          <a:lstStyle/>
          <a:p>
            <a:pPr marL="0" indent="0" algn="ctr">
              <a:buNone/>
            </a:pPr>
            <a:r>
              <a:rPr lang="en-US" sz="1320" dirty="0">
                <a:solidFill>
                  <a:srgbClr val="111111"/>
                </a:solidFill>
              </a:rPr>
              <a:t>Geometry optimisation</a:t>
            </a:r>
            <a:endParaRPr lang="en-US" sz="1320" dirty="0"/>
          </a:p>
          <a:p>
            <a:pPr marL="0" indent="0" algn="ctr">
              <a:buNone/>
            </a:pPr>
            <a:r>
              <a:rPr lang="en-US" sz="1320" dirty="0">
                <a:solidFill>
                  <a:srgbClr val="111111"/>
                </a:solidFill>
              </a:rPr>
              <a:t>on the same set of structures</a:t>
            </a:r>
            <a:endParaRPr lang="en-US" sz="1320" dirty="0"/>
          </a:p>
        </p:txBody>
      </p:sp>
      <p:sp>
        <p:nvSpPr>
          <p:cNvPr id="27" name="Text 25"/>
          <p:cNvSpPr/>
          <p:nvPr/>
        </p:nvSpPr>
        <p:spPr>
          <a:xfrm>
            <a:off x="8869680" y="2514600"/>
            <a:ext cx="2651760" cy="438912"/>
          </a:xfrm>
          <a:prstGeom prst="rect">
            <a:avLst/>
          </a:prstGeom>
          <a:noFill/>
        </p:spPr>
        <p:txBody>
          <a:bodyPr wrap="square" lIns="0" tIns="0" rIns="0" bIns="0" rtlCol="0" anchor="ctr"/>
          <a:lstStyle/>
          <a:p>
            <a:pPr marL="0" indent="0" algn="ctr">
              <a:buNone/>
            </a:pPr>
            <a:r>
              <a:rPr lang="en-US" sz="1320" dirty="0">
                <a:solidFill>
                  <a:srgbClr val="111111"/>
                </a:solidFill>
              </a:rPr>
              <a:t>Compare structural results</a:t>
            </a:r>
            <a:endParaRPr lang="en-US" sz="1320" dirty="0"/>
          </a:p>
          <a:p>
            <a:pPr marL="0" indent="0" algn="ctr">
              <a:buNone/>
            </a:pPr>
            <a:r>
              <a:rPr lang="en-US" sz="1320" dirty="0">
                <a:solidFill>
                  <a:srgbClr val="111111"/>
                </a:solidFill>
              </a:rPr>
              <a:t>from DFT and MACE</a:t>
            </a:r>
            <a:endParaRPr lang="en-US" sz="1320" dirty="0"/>
          </a:p>
        </p:txBody>
      </p:sp>
      <p:sp>
        <p:nvSpPr>
          <p:cNvPr id="28" name="Shape 26"/>
          <p:cNvSpPr/>
          <p:nvPr/>
        </p:nvSpPr>
        <p:spPr>
          <a:xfrm>
            <a:off x="8869680" y="3182112"/>
            <a:ext cx="2651760" cy="0"/>
          </a:xfrm>
          <a:prstGeom prst="line">
            <a:avLst/>
          </a:prstGeom>
          <a:noFill/>
          <a:ln w="12700">
            <a:solidFill>
              <a:srgbClr val="9A9A9A"/>
            </a:solidFill>
            <a:prstDash val="solid"/>
          </a:ln>
        </p:spPr>
      </p:sp>
      <p:sp>
        <p:nvSpPr>
          <p:cNvPr id="29" name="Text 27"/>
          <p:cNvSpPr/>
          <p:nvPr/>
        </p:nvSpPr>
        <p:spPr>
          <a:xfrm>
            <a:off x="8869680" y="3401568"/>
            <a:ext cx="2651760" cy="256032"/>
          </a:xfrm>
          <a:prstGeom prst="rect">
            <a:avLst/>
          </a:prstGeom>
          <a:noFill/>
        </p:spPr>
        <p:txBody>
          <a:bodyPr wrap="square" lIns="0" tIns="0" rIns="0" bIns="0" rtlCol="0" anchor="ctr"/>
          <a:lstStyle/>
          <a:p>
            <a:pPr marL="0" indent="0" algn="ctr">
              <a:buNone/>
            </a:pPr>
            <a:r>
              <a:rPr lang="en-US" sz="1320" dirty="0">
                <a:solidFill>
                  <a:srgbClr val="111111"/>
                </a:solidFill>
              </a:rPr>
              <a:t>Main metric: bond length</a:t>
            </a:r>
            <a:endParaRPr lang="en-US" sz="1320" dirty="0"/>
          </a:p>
        </p:txBody>
      </p:sp>
      <p:sp>
        <p:nvSpPr>
          <p:cNvPr id="30" name="Shape 28"/>
          <p:cNvSpPr/>
          <p:nvPr/>
        </p:nvSpPr>
        <p:spPr>
          <a:xfrm>
            <a:off x="8869680" y="3822192"/>
            <a:ext cx="2651760" cy="0"/>
          </a:xfrm>
          <a:prstGeom prst="line">
            <a:avLst/>
          </a:prstGeom>
          <a:noFill/>
          <a:ln w="12700">
            <a:solidFill>
              <a:srgbClr val="9A9A9A"/>
            </a:solidFill>
            <a:prstDash val="solid"/>
          </a:ln>
        </p:spPr>
      </p:sp>
      <p:sp>
        <p:nvSpPr>
          <p:cNvPr id="31" name="Text 29"/>
          <p:cNvSpPr/>
          <p:nvPr/>
        </p:nvSpPr>
        <p:spPr>
          <a:xfrm>
            <a:off x="8869680" y="4005072"/>
            <a:ext cx="2651760" cy="411480"/>
          </a:xfrm>
          <a:prstGeom prst="rect">
            <a:avLst/>
          </a:prstGeom>
          <a:noFill/>
        </p:spPr>
        <p:txBody>
          <a:bodyPr wrap="square" lIns="0" tIns="0" rIns="0" bIns="0" rtlCol="0" anchor="ctr"/>
          <a:lstStyle/>
          <a:p>
            <a:pPr marL="0" indent="0" algn="ctr">
              <a:buNone/>
            </a:pPr>
            <a:r>
              <a:rPr lang="en-US" sz="1300" dirty="0">
                <a:solidFill>
                  <a:srgbClr val="111111"/>
                </a:solidFill>
              </a:rPr>
              <a:t>Bond length reflects the local</a:t>
            </a:r>
            <a:endParaRPr lang="en-US" sz="1300" dirty="0"/>
          </a:p>
          <a:p>
            <a:pPr marL="0" indent="0" algn="ctr">
              <a:buNone/>
            </a:pPr>
            <a:r>
              <a:rPr lang="en-US" sz="1300" dirty="0">
                <a:solidFill>
                  <a:srgbClr val="111111"/>
                </a:solidFill>
              </a:rPr>
              <a:t>atomic environment</a:t>
            </a:r>
            <a:endParaRPr lang="en-US" sz="1300" dirty="0"/>
          </a:p>
        </p:txBody>
      </p:sp>
      <p:sp>
        <p:nvSpPr>
          <p:cNvPr id="32" name="Shape 30"/>
          <p:cNvSpPr/>
          <p:nvPr/>
        </p:nvSpPr>
        <p:spPr>
          <a:xfrm>
            <a:off x="8869680" y="4553712"/>
            <a:ext cx="2651760" cy="0"/>
          </a:xfrm>
          <a:prstGeom prst="line">
            <a:avLst/>
          </a:prstGeom>
          <a:noFill/>
          <a:ln w="12700">
            <a:solidFill>
              <a:srgbClr val="9A9A9A"/>
            </a:solidFill>
            <a:prstDash val="solid"/>
          </a:ln>
        </p:spPr>
      </p:sp>
      <p:sp>
        <p:nvSpPr>
          <p:cNvPr id="33" name="Text 31"/>
          <p:cNvSpPr/>
          <p:nvPr/>
        </p:nvSpPr>
        <p:spPr>
          <a:xfrm>
            <a:off x="8869680" y="4681728"/>
            <a:ext cx="2651760" cy="365760"/>
          </a:xfrm>
          <a:prstGeom prst="rect">
            <a:avLst/>
          </a:prstGeom>
          <a:noFill/>
        </p:spPr>
        <p:txBody>
          <a:bodyPr wrap="square" lIns="0" tIns="0" rIns="0" bIns="0" rtlCol="0" anchor="ctr"/>
          <a:lstStyle/>
          <a:p>
            <a:pPr marL="0" indent="0" algn="ctr">
              <a:buNone/>
            </a:pPr>
            <a:r>
              <a:rPr lang="en-US" sz="1300" dirty="0">
                <a:solidFill>
                  <a:srgbClr val="111111"/>
                </a:solidFill>
              </a:rPr>
              <a:t>Sensitive to distortion</a:t>
            </a:r>
            <a:endParaRPr lang="en-US" sz="1300" dirty="0"/>
          </a:p>
          <a:p>
            <a:pPr marL="0" indent="0" algn="ctr">
              <a:buNone/>
            </a:pPr>
            <a:r>
              <a:rPr lang="en-US" sz="1300" dirty="0">
                <a:solidFill>
                  <a:srgbClr val="111111"/>
                </a:solidFill>
              </a:rPr>
              <a:t>near defects</a:t>
            </a:r>
            <a:endParaRPr lang="en-US" sz="1300" dirty="0"/>
          </a:p>
        </p:txBody>
      </p:sp>
      <p:sp>
        <p:nvSpPr>
          <p:cNvPr id="34" name="Shape 32"/>
          <p:cNvSpPr/>
          <p:nvPr/>
        </p:nvSpPr>
        <p:spPr>
          <a:xfrm>
            <a:off x="594360" y="5687568"/>
            <a:ext cx="10927080" cy="548640"/>
          </a:xfrm>
          <a:prstGeom prst="roundRect">
            <a:avLst/>
          </a:prstGeom>
          <a:solidFill>
            <a:srgbClr val="FFFFFF"/>
          </a:solidFill>
          <a:ln w="15240">
            <a:solidFill>
              <a:srgbClr val="0B4EA2"/>
            </a:solidFill>
            <a:prstDash val="solid"/>
          </a:ln>
        </p:spPr>
      </p:sp>
      <p:sp>
        <p:nvSpPr>
          <p:cNvPr id="35" name="Text 33"/>
          <p:cNvSpPr/>
          <p:nvPr/>
        </p:nvSpPr>
        <p:spPr>
          <a:xfrm>
            <a:off x="777240" y="5870448"/>
            <a:ext cx="10561320" cy="201168"/>
          </a:xfrm>
          <a:prstGeom prst="rect">
            <a:avLst/>
          </a:prstGeom>
          <a:noFill/>
        </p:spPr>
        <p:txBody>
          <a:bodyPr wrap="square" lIns="0" tIns="0" rIns="0" bIns="0" rtlCol="0" anchor="ctr">
            <a:normAutofit/>
          </a:bodyPr>
          <a:lstStyle/>
          <a:p>
            <a:pPr marL="0" indent="0" algn="ctr">
              <a:buNone/>
            </a:pPr>
            <a:r>
              <a:rPr lang="en-US" sz="1520" b="1" dirty="0">
                <a:solidFill>
                  <a:srgbClr val="002060"/>
                </a:solidFill>
              </a:rPr>
              <a:t>If MACE reproduces DFT bond lengths well, it can be used with more confidence for later MD simulations.</a:t>
            </a:r>
            <a:endParaRPr lang="en-US" sz="15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a:xfrm>
            <a:off x="630936" y="639520"/>
            <a:ext cx="3429000" cy="1719072"/>
          </a:xfrm>
        </p:spPr>
        <p:txBody>
          <a:bodyPr anchor="b">
            <a:normAutofit/>
          </a:bodyPr>
          <a:lstStyle/>
          <a:p>
            <a:r>
              <a:rPr kumimoji="1" lang="en-US" altLang="zh-CN" sz="3800"/>
              <a:t>Machine learning potential</a:t>
            </a:r>
            <a:endParaRPr kumimoji="1" lang="en-US" altLang="zh-CN" sz="3800"/>
          </a:p>
        </p:txBody>
      </p:sp>
      <p:sp>
        <p:nvSpPr>
          <p:cNvPr id="12" name="sketch line"/>
          <p:cNvSpPr>
            <a:spLocks noGrp="1" noRot="1" noChangeAspect="1" noMove="1" noResize="1" noEditPoints="1" noAdjustHandles="1" noChangeArrowheads="1" noChangeShapeType="1" noTextEdit="1"/>
          </p:cNvSpPr>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p:cNvSpPr>
            <a:spLocks noGrp="1"/>
          </p:cNvSpPr>
          <p:nvPr>
            <p:ph idx="1"/>
          </p:nvPr>
        </p:nvSpPr>
        <p:spPr>
          <a:xfrm>
            <a:off x="630936" y="2807208"/>
            <a:ext cx="3429000" cy="3410712"/>
          </a:xfrm>
        </p:spPr>
        <p:txBody>
          <a:bodyPr anchor="t">
            <a:normAutofit/>
          </a:bodyPr>
          <a:lstStyle/>
          <a:p>
            <a:pPr marL="0" indent="0">
              <a:buNone/>
            </a:pPr>
            <a:endParaRPr kumimoji="1" lang="zh-CN" altLang="en-US" sz="2200"/>
          </a:p>
          <a:p>
            <a:pPr marL="0" indent="0">
              <a:buNone/>
            </a:pPr>
            <a:endParaRPr kumimoji="1" lang="zh-CN" altLang="en-US" sz="2200"/>
          </a:p>
          <a:p>
            <a:pPr marL="0" indent="0">
              <a:buNone/>
            </a:pPr>
            <a:endParaRPr kumimoji="1" lang="zh-CN" altLang="en-US" sz="2200"/>
          </a:p>
          <a:p>
            <a:pPr marL="0" indent="0">
              <a:buNone/>
            </a:pPr>
            <a:endParaRPr kumimoji="1" lang="en-US" altLang="zh-CN" sz="2200"/>
          </a:p>
          <a:p>
            <a:pPr marL="0" indent="0">
              <a:buNone/>
            </a:pPr>
            <a:endParaRPr kumimoji="1" lang="en-US" altLang="zh-CN" sz="2200"/>
          </a:p>
          <a:p>
            <a:pPr marL="0" indent="0">
              <a:buNone/>
            </a:pPr>
            <a:endParaRPr kumimoji="1" lang="en-US" altLang="zh-CN" sz="2200"/>
          </a:p>
          <a:p>
            <a:pPr marL="0" indent="0">
              <a:buNone/>
            </a:pPr>
            <a:endParaRPr kumimoji="1" lang="en-US" altLang="zh-CN" sz="2200"/>
          </a:p>
          <a:p>
            <a:pPr marL="0" indent="0">
              <a:buNone/>
            </a:pPr>
            <a:endParaRPr kumimoji="1" lang="en-US" altLang="zh-CN" sz="2200"/>
          </a:p>
        </p:txBody>
      </p:sp>
      <p:pic>
        <p:nvPicPr>
          <p:cNvPr id="5" name="图片 4" descr="图示&#10;&#10;AI 生成的内容可能不正确。"/>
          <p:cNvPicPr>
            <a:picLocks noChangeAspect="1"/>
          </p:cNvPicPr>
          <p:nvPr/>
        </p:nvPicPr>
        <p:blipFill>
          <a:blip r:embed="rId1"/>
          <a:stretch>
            <a:fillRect/>
          </a:stretch>
        </p:blipFill>
        <p:spPr>
          <a:xfrm>
            <a:off x="4654296" y="1081735"/>
            <a:ext cx="6903720" cy="46945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Validation strategy</a:t>
            </a:r>
            <a:endParaRPr kumimoji="1" lang="zh-CN" altLang="en-US" dirty="0"/>
          </a:p>
        </p:txBody>
      </p:sp>
      <p:sp>
        <p:nvSpPr>
          <p:cNvPr id="3" name="内容占位符 2"/>
          <p:cNvSpPr>
            <a:spLocks noGrp="1"/>
          </p:cNvSpPr>
          <p:nvPr>
            <p:ph idx="1"/>
          </p:nvPr>
        </p:nvSpPr>
        <p:spPr/>
        <p:txBody>
          <a:bodyPr/>
          <a:lstStyle/>
          <a:p>
            <a:r>
              <a:rPr lang="en-GB" altLang="zh-CN" dirty="0"/>
              <a:t>Compare </a:t>
            </a:r>
            <a:r>
              <a:rPr lang="en-GB" altLang="zh-CN" b="1" dirty="0"/>
              <a:t>DFT</a:t>
            </a:r>
            <a:r>
              <a:rPr lang="en-GB" altLang="zh-CN" dirty="0"/>
              <a:t> and </a:t>
            </a:r>
            <a:r>
              <a:rPr lang="en-GB" altLang="zh-CN" b="1" dirty="0"/>
              <a:t>ASE + MACE</a:t>
            </a:r>
            <a:r>
              <a:rPr lang="en-GB" altLang="zh-CN" dirty="0"/>
              <a:t> for </a:t>
            </a:r>
            <a:r>
              <a:rPr lang="en-GB" altLang="zh-CN" b="1" dirty="0"/>
              <a:t>geometry </a:t>
            </a:r>
            <a:r>
              <a:rPr lang="en-GB" altLang="zh-CN" b="1" dirty="0" err="1"/>
              <a:t>optimisation</a:t>
            </a:r>
            <a:r>
              <a:rPr lang="en-GB" altLang="zh-CN" dirty="0"/>
              <a:t>.</a:t>
            </a:r>
            <a:endParaRPr lang="en-GB" altLang="zh-CN" dirty="0"/>
          </a:p>
          <a:p>
            <a:r>
              <a:rPr lang="en-GB" altLang="zh-CN" dirty="0"/>
              <a:t>Test both </a:t>
            </a:r>
            <a:r>
              <a:rPr lang="en-GB" altLang="zh-CN" b="1" dirty="0"/>
              <a:t>pristine</a:t>
            </a:r>
            <a:r>
              <a:rPr lang="en-GB" altLang="zh-CN" dirty="0"/>
              <a:t> and defective structures: </a:t>
            </a:r>
            <a:r>
              <a:rPr lang="en-GB" altLang="zh-CN" b="1" dirty="0"/>
              <a:t>interstitial</a:t>
            </a:r>
            <a:r>
              <a:rPr lang="en-GB" altLang="zh-CN" dirty="0"/>
              <a:t>, </a:t>
            </a:r>
            <a:r>
              <a:rPr lang="en-GB" altLang="zh-CN" b="1" dirty="0"/>
              <a:t>vacancy</a:t>
            </a:r>
            <a:r>
              <a:rPr lang="en-GB" altLang="zh-CN" dirty="0"/>
              <a:t>, and </a:t>
            </a:r>
            <a:r>
              <a:rPr lang="en-GB" altLang="zh-CN" b="1" dirty="0"/>
              <a:t>Frenkel defect</a:t>
            </a:r>
            <a:r>
              <a:rPr lang="en-GB" altLang="zh-CN" dirty="0"/>
              <a:t>.</a:t>
            </a:r>
            <a:endParaRPr lang="en-GB" altLang="zh-CN" dirty="0"/>
          </a:p>
          <a:p>
            <a:r>
              <a:rPr lang="en-GB" altLang="zh-CN" dirty="0"/>
              <a:t>Use </a:t>
            </a:r>
            <a:r>
              <a:rPr lang="en-GB" altLang="zh-CN" b="1" dirty="0"/>
              <a:t>bond length</a:t>
            </a:r>
            <a:r>
              <a:rPr lang="en-GB" altLang="zh-CN" dirty="0"/>
              <a:t> as the main structural metric, because it is sensitive to local distortion around defects.</a:t>
            </a:r>
            <a:endParaRPr lang="en-GB" altLang="zh-CN" dirty="0"/>
          </a:p>
          <a:p>
            <a:pPr marL="0" indent="0">
              <a:buNone/>
            </a:pPr>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DFT vs MACE</a:t>
            </a:r>
            <a:endParaRPr kumimoji="1" lang="zh-CN" altLang="en-US" dirty="0"/>
          </a:p>
        </p:txBody>
      </p:sp>
      <p:pic>
        <p:nvPicPr>
          <p:cNvPr id="5" name="内容占位符 4" descr="图表, 折线图&#10;&#10;AI 生成的内容可能不正确。"/>
          <p:cNvPicPr>
            <a:picLocks noGrp="1" noChangeAspect="1"/>
          </p:cNvPicPr>
          <p:nvPr>
            <p:ph idx="1"/>
          </p:nvPr>
        </p:nvPicPr>
        <p:blipFill>
          <a:blip r:embed="rId1"/>
          <a:stretch>
            <a:fillRect/>
          </a:stretch>
        </p:blipFill>
        <p:spPr>
          <a:xfrm>
            <a:off x="650190" y="1809886"/>
            <a:ext cx="10515600" cy="4293704"/>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DFT vs MACE</a:t>
            </a:r>
            <a:endParaRPr kumimoji="1" lang="zh-CN" altLang="en-US" dirty="0"/>
          </a:p>
        </p:txBody>
      </p:sp>
      <p:pic>
        <p:nvPicPr>
          <p:cNvPr id="5" name="内容占位符 4" descr="图表, 折线图&#10;&#10;AI 生成的内容可能不正确。"/>
          <p:cNvPicPr>
            <a:picLocks noGrp="1" noChangeAspect="1"/>
          </p:cNvPicPr>
          <p:nvPr>
            <p:ph idx="1"/>
          </p:nvPr>
        </p:nvPicPr>
        <p:blipFill>
          <a:blip r:embed="rId1"/>
          <a:stretch>
            <a:fillRect/>
          </a:stretch>
        </p:blipFill>
        <p:spPr>
          <a:xfrm>
            <a:off x="605972" y="1839927"/>
            <a:ext cx="10515600" cy="4293704"/>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MD set up</a:t>
            </a:r>
            <a:endParaRPr lang="en-US" altLang="zh-CN" dirty="0"/>
          </a:p>
        </p:txBody>
      </p:sp>
      <p:sp>
        <p:nvSpPr>
          <p:cNvPr id="3" name="内容占位符 2"/>
          <p:cNvSpPr>
            <a:spLocks noGrp="1"/>
          </p:cNvSpPr>
          <p:nvPr>
            <p:ph idx="1"/>
          </p:nvPr>
        </p:nvSpPr>
        <p:spPr/>
        <p:txBody>
          <a:bodyPr>
            <a:normAutofit fontScale="95000"/>
          </a:bodyPr>
          <a:lstStyle/>
          <a:p>
            <a:r>
              <a:rPr lang="en-GB" altLang="zh-CN" dirty="0"/>
              <a:t>Target: </a:t>
            </a:r>
            <a:r>
              <a:rPr lang="en-GB" altLang="zh-CN" b="1" dirty="0"/>
              <a:t>stability of defects in irradiated REBCO</a:t>
            </a:r>
            <a:endParaRPr lang="en-GB" altLang="zh-CN" dirty="0"/>
          </a:p>
          <a:p>
            <a:r>
              <a:rPr lang="en-GB" altLang="zh-CN" b="1" dirty="0"/>
              <a:t>NVT ensemble</a:t>
            </a:r>
            <a:r>
              <a:rPr lang="en-GB" altLang="zh-CN" dirty="0"/>
              <a:t> at </a:t>
            </a:r>
            <a:r>
              <a:rPr lang="en-GB" altLang="zh-CN" b="1" dirty="0"/>
              <a:t>298 K</a:t>
            </a:r>
            <a:endParaRPr lang="en-GB" altLang="zh-CN" dirty="0"/>
          </a:p>
          <a:p>
            <a:r>
              <a:rPr lang="en-GB" altLang="zh-CN" b="1" dirty="0"/>
              <a:t>Langevin thermostat</a:t>
            </a:r>
            <a:r>
              <a:rPr lang="en-GB" altLang="zh-CN" dirty="0"/>
              <a:t> for temperature control</a:t>
            </a:r>
            <a:endParaRPr lang="en-GB" altLang="zh-CN" dirty="0"/>
          </a:p>
          <a:p>
            <a:r>
              <a:rPr lang="en-GB" altLang="zh-CN" dirty="0"/>
              <a:t>Fixed-volume simulation of thermal equilibrium</a:t>
            </a:r>
            <a:endParaRPr lang="en-GB" altLang="zh-CN" dirty="0"/>
          </a:p>
          <a:p>
            <a:r>
              <a:rPr lang="en-GB" altLang="zh-CN" b="1" dirty="0"/>
              <a:t>5×5×3 supercell</a:t>
            </a:r>
            <a:endParaRPr lang="en-GB" altLang="zh-CN" dirty="0"/>
          </a:p>
          <a:p>
            <a:pPr marL="0" indent="0" fontAlgn="auto">
              <a:lnSpc>
                <a:spcPct val="130000"/>
              </a:lnSpc>
              <a:buNone/>
            </a:pPr>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Frankel defects</a:t>
            </a:r>
            <a:endParaRPr lang="en-US" altLang="zh-CN" dirty="0"/>
          </a:p>
        </p:txBody>
      </p:sp>
      <p:pic>
        <p:nvPicPr>
          <p:cNvPr id="5" name="内容占位符 4" descr="图片包含 游戏机, 食物&#10;&#10;AI 生成的内容可能不正确。"/>
          <p:cNvPicPr>
            <a:picLocks noGrp="1" noChangeAspect="1"/>
          </p:cNvPicPr>
          <p:nvPr>
            <p:ph idx="1"/>
          </p:nvPr>
        </p:nvPicPr>
        <p:blipFill>
          <a:blip r:embed="rId1"/>
          <a:stretch>
            <a:fillRect/>
          </a:stretch>
        </p:blipFill>
        <p:spPr>
          <a:xfrm>
            <a:off x="992268" y="1508505"/>
            <a:ext cx="2619868" cy="4351338"/>
          </a:xfrm>
        </p:spPr>
      </p:pic>
      <p:pic>
        <p:nvPicPr>
          <p:cNvPr id="7" name="图片 6" descr="图片包含 游戏机, 食物&#10;&#10;AI 生成的内容可能不正确。"/>
          <p:cNvPicPr>
            <a:picLocks noChangeAspect="1"/>
          </p:cNvPicPr>
          <p:nvPr/>
        </p:nvPicPr>
        <p:blipFill>
          <a:blip r:embed="rId2"/>
          <a:stretch>
            <a:fillRect/>
          </a:stretch>
        </p:blipFill>
        <p:spPr>
          <a:xfrm>
            <a:off x="6232004" y="1599597"/>
            <a:ext cx="2869833" cy="4351338"/>
          </a:xfrm>
          <a:prstGeom prst="rect">
            <a:avLst/>
          </a:prstGeom>
        </p:spPr>
      </p:pic>
      <p:sp>
        <p:nvSpPr>
          <p:cNvPr id="8" name="文本框 7"/>
          <p:cNvSpPr txBox="1"/>
          <p:nvPr/>
        </p:nvSpPr>
        <p:spPr>
          <a:xfrm>
            <a:off x="3612135" y="3222509"/>
            <a:ext cx="1969957" cy="1200329"/>
          </a:xfrm>
          <a:prstGeom prst="rect">
            <a:avLst/>
          </a:prstGeom>
          <a:noFill/>
        </p:spPr>
        <p:txBody>
          <a:bodyPr wrap="square" rtlCol="0">
            <a:spAutoFit/>
          </a:bodyPr>
          <a:lstStyle/>
          <a:p>
            <a:r>
              <a:rPr kumimoji="1" lang="en-US" altLang="zh-CN" dirty="0"/>
              <a:t>Case 1:</a:t>
            </a:r>
            <a:br>
              <a:rPr kumimoji="1" lang="en-US" altLang="zh-CN" dirty="0"/>
            </a:br>
            <a:r>
              <a:rPr kumimoji="1" lang="en-US" altLang="zh-CN" dirty="0"/>
              <a:t>Oxygen Vacancy and Interstitial in same unit cell</a:t>
            </a:r>
            <a:endParaRPr kumimoji="1" lang="zh-CN" altLang="en-US" dirty="0"/>
          </a:p>
        </p:txBody>
      </p:sp>
      <p:sp>
        <p:nvSpPr>
          <p:cNvPr id="9" name="文本框 8"/>
          <p:cNvSpPr txBox="1"/>
          <p:nvPr/>
        </p:nvSpPr>
        <p:spPr>
          <a:xfrm>
            <a:off x="9356960" y="3208332"/>
            <a:ext cx="1996839" cy="1200329"/>
          </a:xfrm>
          <a:prstGeom prst="rect">
            <a:avLst/>
          </a:prstGeom>
          <a:noFill/>
        </p:spPr>
        <p:txBody>
          <a:bodyPr wrap="square" rtlCol="0">
            <a:spAutoFit/>
          </a:bodyPr>
          <a:lstStyle/>
          <a:p>
            <a:r>
              <a:rPr kumimoji="1" lang="en-US" altLang="zh-CN" dirty="0"/>
              <a:t>Case 2:</a:t>
            </a:r>
            <a:endParaRPr kumimoji="1" lang="en-US" altLang="zh-CN" dirty="0"/>
          </a:p>
          <a:p>
            <a:r>
              <a:rPr kumimoji="1" lang="en-US" altLang="zh-CN" dirty="0"/>
              <a:t>Oxygen Vacancy and Interstitial in different unit cell</a:t>
            </a:r>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内容占位符 4" descr="图片包含 图示&#10;&#10;AI 生成的内容可能不正确。"/>
          <p:cNvPicPr>
            <a:picLocks noGrp="1" noChangeAspect="1"/>
          </p:cNvPicPr>
          <p:nvPr>
            <p:ph idx="1"/>
          </p:nvPr>
        </p:nvPicPr>
        <p:blipFill>
          <a:blip r:embed="rId1"/>
          <a:srcRect l="15074" r="15946"/>
          <a:stretch>
            <a:fillRect/>
          </a:stretch>
        </p:blipFill>
        <p:spPr>
          <a:xfrm>
            <a:off x="3621262" y="36287"/>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7" name="图片 6" descr="图片包含 图表&#10;&#10;AI 生成的内容可能不正确。"/>
          <p:cNvPicPr>
            <a:picLocks noChangeAspect="1"/>
          </p:cNvPicPr>
          <p:nvPr/>
        </p:nvPicPr>
        <p:blipFill>
          <a:blip r:embed="rId2"/>
          <a:srcRect l="10296" r="11158"/>
          <a:stretch>
            <a:fillRect/>
          </a:stretch>
        </p:blipFill>
        <p:spPr>
          <a:xfrm>
            <a:off x="7052220" y="18144"/>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useBgFill="1">
        <p:nvSpPr>
          <p:cNvPr id="14" name="Freeform: Shape 13"/>
          <p:cNvSpPr>
            <a:spLocks noGrp="1" noRot="1" noChangeAspect="1" noMove="1" noResize="1" noEditPoints="1" noAdjustHandles="1" noChangeArrowheads="1" noChangeShapeType="1" noTextEdit="1"/>
          </p:cNvSpPr>
          <p:nvPr/>
        </p:nvSpPr>
        <p:spPr>
          <a:xfrm>
            <a:off x="0" y="0"/>
            <a:ext cx="4397136" cy="6858000"/>
          </a:xfrm>
          <a:custGeom>
            <a:avLst/>
            <a:gdLst>
              <a:gd name="connsiteX0" fmla="*/ 0 w 4397136"/>
              <a:gd name="connsiteY0" fmla="*/ 0 h 6858000"/>
              <a:gd name="connsiteX1" fmla="*/ 3599069 w 4397136"/>
              <a:gd name="connsiteY1" fmla="*/ 0 h 6858000"/>
              <a:gd name="connsiteX2" fmla="*/ 3634072 w 4397136"/>
              <a:gd name="connsiteY2" fmla="*/ 58977 h 6858000"/>
              <a:gd name="connsiteX3" fmla="*/ 4397136 w 4397136"/>
              <a:gd name="connsiteY3" fmla="*/ 3474189 h 6858000"/>
              <a:gd name="connsiteX4" fmla="*/ 3802221 w 4397136"/>
              <a:gd name="connsiteY4" fmla="*/ 6546415 h 6858000"/>
              <a:gd name="connsiteX5" fmla="*/ 3649466 w 4397136"/>
              <a:gd name="connsiteY5" fmla="*/ 6858000 h 6858000"/>
              <a:gd name="connsiteX6" fmla="*/ 0 w 439713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7136" h="6858000">
                <a:moveTo>
                  <a:pt x="0" y="0"/>
                </a:moveTo>
                <a:lnTo>
                  <a:pt x="3599069" y="0"/>
                </a:lnTo>
                <a:lnTo>
                  <a:pt x="3634072" y="58977"/>
                </a:lnTo>
                <a:cubicBezTo>
                  <a:pt x="4105532" y="933006"/>
                  <a:pt x="4397136" y="2140466"/>
                  <a:pt x="4397136" y="3474189"/>
                </a:cubicBezTo>
                <a:cubicBezTo>
                  <a:pt x="4397136" y="4641197"/>
                  <a:pt x="4173877" y="5711534"/>
                  <a:pt x="3802221" y="6546415"/>
                </a:cubicBezTo>
                <a:lnTo>
                  <a:pt x="3649466"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p:cNvSpPr>
            <a:spLocks noGrp="1" noRot="1" noChangeAspect="1" noMove="1" noResize="1" noEditPoints="1" noAdjustHandles="1" noChangeArrowheads="1" noChangeShapeType="1" noTextEdit="1"/>
          </p:cNvSpPr>
          <p:nvPr/>
        </p:nvSpPr>
        <p:spPr>
          <a:xfrm>
            <a:off x="0" y="0"/>
            <a:ext cx="4386504" cy="6858000"/>
          </a:xfrm>
          <a:custGeom>
            <a:avLst/>
            <a:gdLst>
              <a:gd name="connsiteX0" fmla="*/ 0 w 4386504"/>
              <a:gd name="connsiteY0" fmla="*/ 0 h 6858000"/>
              <a:gd name="connsiteX1" fmla="*/ 3588437 w 4386504"/>
              <a:gd name="connsiteY1" fmla="*/ 0 h 6858000"/>
              <a:gd name="connsiteX2" fmla="*/ 3623440 w 4386504"/>
              <a:gd name="connsiteY2" fmla="*/ 58977 h 6858000"/>
              <a:gd name="connsiteX3" fmla="*/ 4386504 w 4386504"/>
              <a:gd name="connsiteY3" fmla="*/ 3474189 h 6858000"/>
              <a:gd name="connsiteX4" fmla="*/ 3791589 w 4386504"/>
              <a:gd name="connsiteY4" fmla="*/ 6546415 h 6858000"/>
              <a:gd name="connsiteX5" fmla="*/ 3638834 w 4386504"/>
              <a:gd name="connsiteY5" fmla="*/ 6858000 h 6858000"/>
              <a:gd name="connsiteX6" fmla="*/ 0 w 438650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6504" h="6858000">
                <a:moveTo>
                  <a:pt x="0" y="0"/>
                </a:moveTo>
                <a:lnTo>
                  <a:pt x="3588437" y="0"/>
                </a:lnTo>
                <a:lnTo>
                  <a:pt x="3623440" y="58977"/>
                </a:lnTo>
                <a:cubicBezTo>
                  <a:pt x="4094900" y="933006"/>
                  <a:pt x="4386504" y="2140466"/>
                  <a:pt x="4386504" y="3474189"/>
                </a:cubicBezTo>
                <a:cubicBezTo>
                  <a:pt x="4386504" y="4641197"/>
                  <a:pt x="4163245" y="5711534"/>
                  <a:pt x="3791589" y="6546415"/>
                </a:cubicBezTo>
                <a:lnTo>
                  <a:pt x="3638834"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438913" y="1511589"/>
            <a:ext cx="3430958" cy="2896432"/>
          </a:xfrm>
        </p:spPr>
        <p:txBody>
          <a:bodyPr vert="horz" lIns="91440" tIns="45720" rIns="91440" bIns="45720" rtlCol="0" anchor="b">
            <a:normAutofit/>
          </a:bodyPr>
          <a:lstStyle/>
          <a:p>
            <a:r>
              <a:rPr kumimoji="1" lang="en-US" altLang="zh-CN" sz="4000" kern="1200">
                <a:solidFill>
                  <a:schemeClr val="tx1"/>
                </a:solidFill>
                <a:latin typeface="+mj-lt"/>
                <a:ea typeface="+mj-ea"/>
                <a:cs typeface="+mj-cs"/>
              </a:rPr>
              <a:t>Case 1</a:t>
            </a:r>
            <a:endParaRPr kumimoji="1" lang="en-US" altLang="zh-CN" sz="4000" kern="1200">
              <a:solidFill>
                <a:schemeClr val="tx1"/>
              </a:solidFill>
              <a:latin typeface="+mj-lt"/>
              <a:ea typeface="+mj-ea"/>
              <a:cs typeface="+mj-cs"/>
            </a:endParaRPr>
          </a:p>
        </p:txBody>
      </p:sp>
      <p:sp>
        <p:nvSpPr>
          <p:cNvPr id="18" name="Rectangle 17"/>
          <p:cNvSpPr>
            <a:spLocks noGrp="1" noRot="1" noChangeAspect="1" noMove="1" noResize="1" noEditPoints="1" noAdjustHandles="1" noChangeArrowheads="1" noChangeShapeType="1" noTextEdit="1"/>
          </p:cNvSpPr>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sp>
        <p:nvSpPr>
          <p:cNvPr id="20" name="Rectangle 19"/>
          <p:cNvSpPr>
            <a:spLocks noGrp="1" noRot="1" noChangeAspect="1" noMove="1" noResize="1" noEditPoints="1" noAdjustHandles="1" noChangeArrowheads="1" noChangeShapeType="1" noTextEdit="1"/>
          </p:cNvSpPr>
          <p:nvPr/>
        </p:nvSpPr>
        <p:spPr>
          <a:xfrm>
            <a:off x="438912" y="4544568"/>
            <a:ext cx="341496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图片 6" descr="图片包含 图示&#10;&#10;AI 生成的内容可能不正确。"/>
          <p:cNvPicPr>
            <a:picLocks noChangeAspect="1"/>
          </p:cNvPicPr>
          <p:nvPr/>
        </p:nvPicPr>
        <p:blipFill>
          <a:blip r:embed="rId1"/>
          <a:srcRect l="15351" r="15855"/>
          <a:stretch>
            <a:fillRect/>
          </a:stretch>
        </p:blipFill>
        <p:spPr>
          <a:xfrm>
            <a:off x="3624852" y="0"/>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5" name="内容占位符 4" descr="图片包含 图示&#10;&#10;AI 生成的内容可能不正确。"/>
          <p:cNvPicPr>
            <a:picLocks noGrp="1" noChangeAspect="1"/>
          </p:cNvPicPr>
          <p:nvPr>
            <p:ph idx="1"/>
          </p:nvPr>
        </p:nvPicPr>
        <p:blipFill>
          <a:blip r:embed="rId2"/>
          <a:srcRect l="10805" r="11285"/>
          <a:stretch>
            <a:fillRect/>
          </a:stretch>
        </p:blipFill>
        <p:spPr>
          <a:xfrm>
            <a:off x="7055810" y="0"/>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useBgFill="1">
        <p:nvSpPr>
          <p:cNvPr id="14" name="Freeform: Shape 13"/>
          <p:cNvSpPr>
            <a:spLocks noGrp="1" noRot="1" noChangeAspect="1" noMove="1" noResize="1" noEditPoints="1" noAdjustHandles="1" noChangeArrowheads="1" noChangeShapeType="1" noTextEdit="1"/>
          </p:cNvSpPr>
          <p:nvPr/>
        </p:nvSpPr>
        <p:spPr>
          <a:xfrm>
            <a:off x="0" y="0"/>
            <a:ext cx="4397136" cy="6858000"/>
          </a:xfrm>
          <a:custGeom>
            <a:avLst/>
            <a:gdLst>
              <a:gd name="connsiteX0" fmla="*/ 0 w 4397136"/>
              <a:gd name="connsiteY0" fmla="*/ 0 h 6858000"/>
              <a:gd name="connsiteX1" fmla="*/ 3599069 w 4397136"/>
              <a:gd name="connsiteY1" fmla="*/ 0 h 6858000"/>
              <a:gd name="connsiteX2" fmla="*/ 3634072 w 4397136"/>
              <a:gd name="connsiteY2" fmla="*/ 58977 h 6858000"/>
              <a:gd name="connsiteX3" fmla="*/ 4397136 w 4397136"/>
              <a:gd name="connsiteY3" fmla="*/ 3474189 h 6858000"/>
              <a:gd name="connsiteX4" fmla="*/ 3802221 w 4397136"/>
              <a:gd name="connsiteY4" fmla="*/ 6546415 h 6858000"/>
              <a:gd name="connsiteX5" fmla="*/ 3649466 w 4397136"/>
              <a:gd name="connsiteY5" fmla="*/ 6858000 h 6858000"/>
              <a:gd name="connsiteX6" fmla="*/ 0 w 439713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7136" h="6858000">
                <a:moveTo>
                  <a:pt x="0" y="0"/>
                </a:moveTo>
                <a:lnTo>
                  <a:pt x="3599069" y="0"/>
                </a:lnTo>
                <a:lnTo>
                  <a:pt x="3634072" y="58977"/>
                </a:lnTo>
                <a:cubicBezTo>
                  <a:pt x="4105532" y="933006"/>
                  <a:pt x="4397136" y="2140466"/>
                  <a:pt x="4397136" y="3474189"/>
                </a:cubicBezTo>
                <a:cubicBezTo>
                  <a:pt x="4397136" y="4641197"/>
                  <a:pt x="4173877" y="5711534"/>
                  <a:pt x="3802221" y="6546415"/>
                </a:cubicBezTo>
                <a:lnTo>
                  <a:pt x="3649466"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p:cNvSpPr>
            <a:spLocks noGrp="1" noRot="1" noChangeAspect="1" noMove="1" noResize="1" noEditPoints="1" noAdjustHandles="1" noChangeArrowheads="1" noChangeShapeType="1" noTextEdit="1"/>
          </p:cNvSpPr>
          <p:nvPr/>
        </p:nvSpPr>
        <p:spPr>
          <a:xfrm>
            <a:off x="0" y="0"/>
            <a:ext cx="4386504" cy="6858000"/>
          </a:xfrm>
          <a:custGeom>
            <a:avLst/>
            <a:gdLst>
              <a:gd name="connsiteX0" fmla="*/ 0 w 4386504"/>
              <a:gd name="connsiteY0" fmla="*/ 0 h 6858000"/>
              <a:gd name="connsiteX1" fmla="*/ 3588437 w 4386504"/>
              <a:gd name="connsiteY1" fmla="*/ 0 h 6858000"/>
              <a:gd name="connsiteX2" fmla="*/ 3623440 w 4386504"/>
              <a:gd name="connsiteY2" fmla="*/ 58977 h 6858000"/>
              <a:gd name="connsiteX3" fmla="*/ 4386504 w 4386504"/>
              <a:gd name="connsiteY3" fmla="*/ 3474189 h 6858000"/>
              <a:gd name="connsiteX4" fmla="*/ 3791589 w 4386504"/>
              <a:gd name="connsiteY4" fmla="*/ 6546415 h 6858000"/>
              <a:gd name="connsiteX5" fmla="*/ 3638834 w 4386504"/>
              <a:gd name="connsiteY5" fmla="*/ 6858000 h 6858000"/>
              <a:gd name="connsiteX6" fmla="*/ 0 w 438650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6504" h="6858000">
                <a:moveTo>
                  <a:pt x="0" y="0"/>
                </a:moveTo>
                <a:lnTo>
                  <a:pt x="3588437" y="0"/>
                </a:lnTo>
                <a:lnTo>
                  <a:pt x="3623440" y="58977"/>
                </a:lnTo>
                <a:cubicBezTo>
                  <a:pt x="4094900" y="933006"/>
                  <a:pt x="4386504" y="2140466"/>
                  <a:pt x="4386504" y="3474189"/>
                </a:cubicBezTo>
                <a:cubicBezTo>
                  <a:pt x="4386504" y="4641197"/>
                  <a:pt x="4163245" y="5711534"/>
                  <a:pt x="3791589" y="6546415"/>
                </a:cubicBezTo>
                <a:lnTo>
                  <a:pt x="3638834"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p:cNvSpPr>
            <a:spLocks noGrp="1"/>
          </p:cNvSpPr>
          <p:nvPr>
            <p:ph type="title"/>
          </p:nvPr>
        </p:nvSpPr>
        <p:spPr>
          <a:xfrm>
            <a:off x="438913" y="1511589"/>
            <a:ext cx="3430958" cy="2896432"/>
          </a:xfrm>
        </p:spPr>
        <p:txBody>
          <a:bodyPr vert="horz" lIns="91440" tIns="45720" rIns="91440" bIns="45720" rtlCol="0" anchor="b">
            <a:normAutofit/>
          </a:bodyPr>
          <a:lstStyle/>
          <a:p>
            <a:r>
              <a:rPr kumimoji="1" lang="en-US" altLang="zh-CN" sz="4000" kern="1200">
                <a:solidFill>
                  <a:schemeClr val="tx1"/>
                </a:solidFill>
                <a:latin typeface="+mj-lt"/>
                <a:ea typeface="+mj-ea"/>
                <a:cs typeface="+mj-cs"/>
              </a:rPr>
              <a:t>Case 2</a:t>
            </a:r>
            <a:endParaRPr kumimoji="1" lang="en-US" altLang="zh-CN" sz="4000" kern="1200">
              <a:solidFill>
                <a:schemeClr val="tx1"/>
              </a:solidFill>
              <a:latin typeface="+mj-lt"/>
              <a:ea typeface="+mj-ea"/>
              <a:cs typeface="+mj-cs"/>
            </a:endParaRPr>
          </a:p>
        </p:txBody>
      </p:sp>
      <p:sp>
        <p:nvSpPr>
          <p:cNvPr id="18" name="Rectangle 17"/>
          <p:cNvSpPr>
            <a:spLocks noGrp="1" noRot="1" noChangeAspect="1" noMove="1" noResize="1" noEditPoints="1" noAdjustHandles="1" noChangeArrowheads="1" noChangeShapeType="1" noTextEdit="1"/>
          </p:cNvSpPr>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sp>
        <p:nvSpPr>
          <p:cNvPr id="20" name="Rectangle 19"/>
          <p:cNvSpPr>
            <a:spLocks noGrp="1" noRot="1" noChangeAspect="1" noMove="1" noResize="1" noEditPoints="1" noAdjustHandles="1" noChangeArrowheads="1" noChangeShapeType="1" noTextEdit="1"/>
          </p:cNvSpPr>
          <p:nvPr/>
        </p:nvSpPr>
        <p:spPr>
          <a:xfrm>
            <a:off x="438912" y="4544568"/>
            <a:ext cx="341496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266065"/>
            <a:ext cx="10972800" cy="487045"/>
          </a:xfrm>
          <a:prstGeom prst="rect">
            <a:avLst/>
          </a:prstGeom>
          <a:noFill/>
        </p:spPr>
        <p:txBody>
          <a:bodyPr wrap="square" lIns="25400" tIns="12700" rIns="25400" bIns="12700">
            <a:spAutoFit/>
          </a:bodyPr>
          <a:lstStyle/>
          <a:p>
            <a:pPr algn="ctr"/>
            <a:r>
              <a:rPr lang="en-US" sz="3000" b="1" i="0">
                <a:solidFill>
                  <a:srgbClr val="081F41"/>
                </a:solidFill>
                <a:latin typeface="Arial" panose="020B0604020202090204"/>
              </a:rPr>
              <a:t>Thermaldynamics &amp; Knitics</a:t>
            </a:r>
            <a:endParaRPr lang="en-US" sz="3000" b="1" i="0">
              <a:solidFill>
                <a:srgbClr val="081F41"/>
              </a:solidFill>
              <a:latin typeface="Arial" panose="020B0604020202090204"/>
            </a:endParaRPr>
          </a:p>
        </p:txBody>
      </p:sp>
      <p:sp>
        <p:nvSpPr>
          <p:cNvPr id="8" name="TextBox 7"/>
          <p:cNvSpPr txBox="1"/>
          <p:nvPr/>
        </p:nvSpPr>
        <p:spPr>
          <a:xfrm>
            <a:off x="3610610" y="1126363"/>
            <a:ext cx="4754880" cy="332740"/>
          </a:xfrm>
          <a:prstGeom prst="rect">
            <a:avLst/>
          </a:prstGeom>
          <a:noFill/>
        </p:spPr>
        <p:txBody>
          <a:bodyPr wrap="square" lIns="25400" tIns="12700" rIns="25400" bIns="12700">
            <a:spAutoFit/>
          </a:bodyPr>
          <a:lstStyle/>
          <a:p>
            <a:pPr algn="ctr"/>
            <a:r>
              <a:rPr sz="2000" b="1" i="0">
                <a:solidFill>
                  <a:srgbClr val="000000"/>
                </a:solidFill>
                <a:latin typeface="Arial" panose="020B0604020202090204"/>
              </a:rPr>
              <a:t>Research Framework</a:t>
            </a:r>
            <a:endParaRPr sz="2000" b="1" i="0">
              <a:solidFill>
                <a:srgbClr val="000000"/>
              </a:solidFill>
              <a:latin typeface="Arial" panose="020B0604020202090204"/>
            </a:endParaRPr>
          </a:p>
        </p:txBody>
      </p:sp>
      <p:cxnSp>
        <p:nvCxnSpPr>
          <p:cNvPr id="9" name="Connector 8"/>
          <p:cNvCxnSpPr/>
          <p:nvPr/>
        </p:nvCxnSpPr>
        <p:spPr>
          <a:xfrm>
            <a:off x="3017520" y="1600200"/>
            <a:ext cx="6126480"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017520" y="1600200"/>
            <a:ext cx="0" cy="24688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144000" y="1600200"/>
            <a:ext cx="0" cy="24688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80060" y="1792605"/>
            <a:ext cx="5167630" cy="3886200"/>
          </a:xfrm>
          <a:prstGeom prst="roundRect">
            <a:avLst/>
          </a:prstGeom>
          <a:solidFill>
            <a:srgbClr val="FFFFFF"/>
          </a:solidFill>
          <a:ln w="12700">
            <a:solidFill>
              <a:srgbClr val="0F3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0" y="1783080"/>
            <a:ext cx="5440680" cy="3886200"/>
          </a:xfrm>
          <a:prstGeom prst="roundRect">
            <a:avLst/>
          </a:prstGeom>
          <a:solidFill>
            <a:srgbClr val="FFFFFF"/>
          </a:solidFill>
          <a:ln w="12700">
            <a:solidFill>
              <a:srgbClr val="1C5D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3195" y="1938655"/>
            <a:ext cx="5166995" cy="517525"/>
          </a:xfrm>
          <a:prstGeom prst="rect">
            <a:avLst/>
          </a:prstGeom>
          <a:noFill/>
        </p:spPr>
        <p:txBody>
          <a:bodyPr wrap="square" lIns="25400" tIns="12700" rIns="25400" bIns="12700">
            <a:spAutoFit/>
          </a:bodyPr>
          <a:lstStyle/>
          <a:p>
            <a:pPr algn="ctr"/>
            <a:r>
              <a:rPr sz="1600" b="1" i="0">
                <a:solidFill>
                  <a:srgbClr val="0F3673"/>
                </a:solidFill>
                <a:latin typeface="Arial" panose="020B0604020202090204"/>
              </a:rPr>
              <a:t>1. Thermodynamics: Driving Force for Recombination</a:t>
            </a:r>
            <a:endParaRPr sz="1600" b="1" i="0">
              <a:solidFill>
                <a:srgbClr val="0F3673"/>
              </a:solidFill>
              <a:latin typeface="Arial" panose="020B0604020202090204"/>
            </a:endParaRPr>
          </a:p>
        </p:txBody>
      </p:sp>
      <p:sp>
        <p:nvSpPr>
          <p:cNvPr id="15" name="TextBox 14"/>
          <p:cNvSpPr txBox="1"/>
          <p:nvPr/>
        </p:nvSpPr>
        <p:spPr>
          <a:xfrm>
            <a:off x="480060" y="2508885"/>
            <a:ext cx="5146040" cy="667385"/>
          </a:xfrm>
          <a:prstGeom prst="rect">
            <a:avLst/>
          </a:prstGeom>
          <a:noFill/>
        </p:spPr>
        <p:txBody>
          <a:bodyPr wrap="square" lIns="25400" tIns="12700" rIns="25400" bIns="12700">
            <a:noAutofit/>
          </a:bodyPr>
          <a:lstStyle/>
          <a:p>
            <a:pPr algn="ctr"/>
            <a:r>
              <a:rPr sz="1400" b="0" i="0">
                <a:solidFill>
                  <a:srgbClr val="000000"/>
                </a:solidFill>
                <a:latin typeface="Arial" panose="020B0604020202090204"/>
              </a:rPr>
              <a:t>Evaluate whether recombination is thermodynamically</a:t>
            </a:r>
            <a:r>
              <a:rPr lang="en-US" sz="1400" b="0" i="0">
                <a:solidFill>
                  <a:srgbClr val="000000"/>
                </a:solidFill>
                <a:latin typeface="Arial" panose="020B0604020202090204"/>
              </a:rPr>
              <a:t> </a:t>
            </a:r>
            <a:r>
              <a:rPr sz="1400" b="0" i="0">
                <a:solidFill>
                  <a:srgbClr val="000000"/>
                </a:solidFill>
                <a:latin typeface="Arial" panose="020B0604020202090204"/>
              </a:rPr>
              <a:t>favorable
by calculating the Gibbs free energy change.</a:t>
            </a:r>
            <a:endParaRPr sz="1400" b="0" i="0">
              <a:solidFill>
                <a:srgbClr val="000000"/>
              </a:solidFill>
              <a:latin typeface="Arial" panose="020B0604020202090204"/>
            </a:endParaRPr>
          </a:p>
        </p:txBody>
      </p:sp>
      <p:sp>
        <p:nvSpPr>
          <p:cNvPr id="190" name="TextBox 189"/>
          <p:cNvSpPr txBox="1"/>
          <p:nvPr/>
        </p:nvSpPr>
        <p:spPr>
          <a:xfrm>
            <a:off x="858520" y="3081655"/>
            <a:ext cx="2978150" cy="347345"/>
          </a:xfrm>
          <a:prstGeom prst="rect">
            <a:avLst/>
          </a:prstGeom>
          <a:noFill/>
        </p:spPr>
        <p:txBody>
          <a:bodyPr wrap="square" lIns="25400" tIns="12700" rIns="25400" bIns="12700">
            <a:noAutofit/>
          </a:bodyPr>
          <a:lstStyle/>
          <a:p>
            <a:pPr algn="l"/>
            <a:r>
              <a:rPr sz="1400" b="1" i="0">
                <a:solidFill>
                  <a:srgbClr val="000000"/>
                </a:solidFill>
                <a:latin typeface="Arial" panose="020B0604020202090204"/>
              </a:rPr>
              <a:t>Gibbs Free Energy Change:</a:t>
            </a:r>
            <a:endParaRPr sz="1400" b="1" i="0">
              <a:solidFill>
                <a:srgbClr val="000000"/>
              </a:solidFill>
              <a:latin typeface="Arial" panose="020B0604020202090204"/>
            </a:endParaRPr>
          </a:p>
        </p:txBody>
      </p:sp>
      <p:sp>
        <p:nvSpPr>
          <p:cNvPr id="191" name="TextBox 190"/>
          <p:cNvSpPr txBox="1"/>
          <p:nvPr/>
        </p:nvSpPr>
        <p:spPr>
          <a:xfrm>
            <a:off x="868680" y="3361055"/>
            <a:ext cx="4573270" cy="662305"/>
          </a:xfrm>
          <a:prstGeom prst="rect">
            <a:avLst/>
          </a:prstGeom>
          <a:noFill/>
        </p:spPr>
        <p:txBody>
          <a:bodyPr wrap="square" lIns="25400" tIns="12700" rIns="25400" bIns="12700">
            <a:noAutofit/>
          </a:bodyPr>
          <a:lstStyle/>
          <a:p>
            <a:pPr algn="l"/>
            <a:r>
              <a:rPr sz="1300" b="0" i="0">
                <a:solidFill>
                  <a:srgbClr val="000000"/>
                </a:solidFill>
                <a:latin typeface="Arial" panose="020B0604020202090204"/>
              </a:rPr>
              <a:t>Combine electronic energy, vibrational free energy, and configurational entropy to obtain Gibbs free energy.</a:t>
            </a:r>
            <a:endParaRPr sz="1300" b="0" i="0">
              <a:solidFill>
                <a:srgbClr val="000000"/>
              </a:solidFill>
              <a:latin typeface="Arial" panose="020B0604020202090204"/>
            </a:endParaRPr>
          </a:p>
        </p:txBody>
      </p:sp>
      <mc:AlternateContent xmlns:mc="http://schemas.openxmlformats.org/markup-compatibility/2006">
        <mc:Choice xmlns:a14="http://schemas.microsoft.com/office/drawing/2010/main" Requires="a14">
          <p:sp>
            <p:nvSpPr>
              <p:cNvPr id="193" name="TextBox 192"/>
              <p:cNvSpPr txBox="1"/>
              <p:nvPr/>
            </p:nvSpPr>
            <p:spPr>
              <a:xfrm>
                <a:off x="868680" y="3962654"/>
                <a:ext cx="3474720" cy="263525"/>
              </a:xfrm>
              <a:prstGeom prst="rect">
                <a:avLst/>
              </a:prstGeom>
              <a:noFill/>
            </p:spPr>
            <p:txBody>
              <a:bodyPr wrap="square" lIns="25400" tIns="12700" rIns="25400" bIns="12700">
                <a:spAutoFit/>
              </a:bodyPr>
              <a:lstStyle/>
              <a:p>
                <a:pPr algn="ctr"/>
                <a:r>
                  <a:rPr sz="1200" b="0" i="0">
                    <a:solidFill>
                      <a:srgbClr val="000000"/>
                    </a:solidFill>
                    <a:latin typeface="Times New Roman" panose="02020503050405090304"/>
                  </a:rPr>
                  <a:t>Δ</a:t>
                </a:r>
                <a14:m>
                  <m:oMath xmlns:m="http://schemas.openxmlformats.org/officeDocument/2006/math">
                    <m:sSub>
                      <m:sSubPr>
                        <m:ctrlPr>
                          <a:rPr lang="en-US" sz="1200" b="0" i="1">
                            <a:solidFill>
                              <a:srgbClr val="000000"/>
                            </a:solidFill>
                            <a:latin typeface="DejaVu Math TeX Gyre" panose="02000503000000000000" charset="0"/>
                            <a:cs typeface="DejaVu Math TeX Gyre" panose="02000503000000000000" charset="0"/>
                          </a:rPr>
                        </m:ctrlPr>
                      </m:sSubPr>
                      <m:e>
                        <m:r>
                          <a:rPr lang="en-US" sz="1200" b="0" i="1">
                            <a:solidFill>
                              <a:srgbClr val="000000"/>
                            </a:solidFill>
                            <a:latin typeface="DejaVu Math TeX Gyre" panose="02000503000000000000" charset="0"/>
                            <a:cs typeface="DejaVu Math TeX Gyre" panose="02000503000000000000" charset="0"/>
                          </a:rPr>
                          <m:t>G</m:t>
                        </m:r>
                      </m:e>
                      <m:sub>
                        <m:r>
                          <a:rPr lang="en-US" sz="1200" b="0" i="1">
                            <a:solidFill>
                              <a:srgbClr val="000000"/>
                            </a:solidFill>
                            <a:latin typeface="DejaVu Math TeX Gyre" panose="02000503000000000000" charset="0"/>
                            <a:cs typeface="DejaVu Math TeX Gyre" panose="02000503000000000000" charset="0"/>
                          </a:rPr>
                          <m:t>f</m:t>
                        </m:r>
                      </m:sub>
                    </m:sSub>
                  </m:oMath>
                </a14:m>
                <a:r>
                  <a:rPr sz="1200" b="0" i="0">
                    <a:solidFill>
                      <a:srgbClr val="000000"/>
                    </a:solidFill>
                    <a:latin typeface="Times New Roman" panose="02020503050405090304"/>
                  </a:rPr>
                  <a:t>= </a:t>
                </a:r>
                <a14:m>
                  <m:oMath xmlns:m="http://schemas.openxmlformats.org/officeDocument/2006/math">
                    <m:sSub>
                      <m:sSubPr>
                        <m:ctrlPr>
                          <a:rPr lang="en-US" sz="1200" b="0" i="1">
                            <a:solidFill>
                              <a:srgbClr val="000000"/>
                            </a:solidFill>
                            <a:latin typeface="DejaVu Math TeX Gyre" panose="02000503000000000000" charset="0"/>
                            <a:cs typeface="DejaVu Math TeX Gyre" panose="02000503000000000000" charset="0"/>
                          </a:rPr>
                        </m:ctrlPr>
                      </m:sSubPr>
                      <m:e>
                        <m:r>
                          <a:rPr lang="en-US" sz="1200" b="0" i="1">
                            <a:solidFill>
                              <a:srgbClr val="000000"/>
                            </a:solidFill>
                            <a:latin typeface="DejaVu Math TeX Gyre" panose="02000503000000000000" charset="0"/>
                            <a:cs typeface="DejaVu Math TeX Gyre" panose="02000503000000000000" charset="0"/>
                          </a:rPr>
                          <m:t>E</m:t>
                        </m:r>
                      </m:e>
                      <m:sub>
                        <m:r>
                          <a:rPr lang="en-US" sz="1200" b="0" i="1">
                            <a:solidFill>
                              <a:srgbClr val="000000"/>
                            </a:solidFill>
                            <a:latin typeface="DejaVu Math TeX Gyre" panose="02000503000000000000" charset="0"/>
                            <a:cs typeface="DejaVu Math TeX Gyre" panose="02000503000000000000" charset="0"/>
                          </a:rPr>
                          <m:t>defect</m:t>
                        </m:r>
                      </m:sub>
                    </m:sSub>
                  </m:oMath>
                </a14:m>
                <a:r>
                  <a:rPr sz="1200" b="0" i="0">
                    <a:solidFill>
                      <a:srgbClr val="000000"/>
                    </a:solidFill>
                    <a:latin typeface="Times New Roman" panose="02020503050405090304"/>
                  </a:rPr>
                  <a:t> − </a:t>
                </a:r>
                <a14:m>
                  <m:oMath xmlns:m="http://schemas.openxmlformats.org/officeDocument/2006/math">
                    <m:sSub>
                      <m:sSubPr>
                        <m:ctrlPr>
                          <a:rPr lang="en-US" sz="1200" b="0" i="1">
                            <a:solidFill>
                              <a:srgbClr val="000000"/>
                            </a:solidFill>
                            <a:latin typeface="DejaVu Math TeX Gyre" panose="02000503000000000000" charset="0"/>
                            <a:cs typeface="DejaVu Math TeX Gyre" panose="02000503000000000000" charset="0"/>
                          </a:rPr>
                        </m:ctrlPr>
                      </m:sSubPr>
                      <m:e>
                        <m:r>
                          <a:rPr lang="en-US" sz="1200" b="0" i="1">
                            <a:solidFill>
                              <a:srgbClr val="000000"/>
                            </a:solidFill>
                            <a:latin typeface="DejaVu Math TeX Gyre" panose="02000503000000000000" charset="0"/>
                            <a:cs typeface="DejaVu Math TeX Gyre" panose="02000503000000000000" charset="0"/>
                          </a:rPr>
                          <m:t>E</m:t>
                        </m:r>
                      </m:e>
                      <m:sub>
                        <m:r>
                          <a:rPr lang="en-US" sz="1200" b="0" i="1">
                            <a:solidFill>
                              <a:srgbClr val="000000"/>
                            </a:solidFill>
                            <a:latin typeface="DejaVu Math TeX Gyre" panose="02000503000000000000" charset="0"/>
                            <a:cs typeface="DejaVu Math TeX Gyre" panose="02000503000000000000" charset="0"/>
                          </a:rPr>
                          <m:t>pristine</m:t>
                        </m:r>
                      </m:sub>
                    </m:sSub>
                  </m:oMath>
                </a14:m>
                <a:r>
                  <a:rPr sz="1200" b="0" i="0">
                    <a:solidFill>
                      <a:srgbClr val="000000"/>
                    </a:solidFill>
                    <a:latin typeface="Times New Roman" panose="02020503050405090304"/>
                  </a:rPr>
                  <a:t> − TΔ</a:t>
                </a:r>
                <a14:m>
                  <m:oMath xmlns:m="http://schemas.openxmlformats.org/officeDocument/2006/math">
                    <m:sSub>
                      <m:sSubPr>
                        <m:ctrlPr>
                          <a:rPr lang="en-US" sz="1200" b="0" i="1">
                            <a:solidFill>
                              <a:srgbClr val="000000"/>
                            </a:solidFill>
                            <a:latin typeface="DejaVu Math TeX Gyre" panose="02000503000000000000" charset="0"/>
                            <a:cs typeface="DejaVu Math TeX Gyre" panose="02000503000000000000" charset="0"/>
                          </a:rPr>
                        </m:ctrlPr>
                      </m:sSubPr>
                      <m:e>
                        <m:r>
                          <a:rPr lang="en-US" sz="1200" b="0" i="1">
                            <a:solidFill>
                              <a:srgbClr val="000000"/>
                            </a:solidFill>
                            <a:latin typeface="DejaVu Math TeX Gyre" panose="02000503000000000000" charset="0"/>
                            <a:cs typeface="DejaVu Math TeX Gyre" panose="02000503000000000000" charset="0"/>
                          </a:rPr>
                          <m:t>S</m:t>
                        </m:r>
                      </m:e>
                      <m:sub>
                        <m:r>
                          <a:rPr lang="en-US" sz="1200" b="0" i="1">
                            <a:solidFill>
                              <a:srgbClr val="000000"/>
                            </a:solidFill>
                            <a:latin typeface="DejaVu Math TeX Gyre" panose="02000503000000000000" charset="0"/>
                            <a:cs typeface="DejaVu Math TeX Gyre" panose="02000503000000000000" charset="0"/>
                          </a:rPr>
                          <m:t>vib</m:t>
                        </m:r>
                      </m:sub>
                    </m:sSub>
                  </m:oMath>
                </a14:m>
                <a:endParaRPr lang="en-US" sz="1200" b="0" i="1">
                  <a:solidFill>
                    <a:srgbClr val="000000"/>
                  </a:solidFill>
                  <a:latin typeface="DejaVu Math TeX Gyre" panose="02000503000000000000" charset="0"/>
                  <a:cs typeface="DejaVu Math TeX Gyre" panose="02000503000000000000" charset="0"/>
                </a:endParaRPr>
              </a:p>
            </p:txBody>
          </p:sp>
        </mc:Choice>
        <mc:Fallback>
          <p:sp>
            <p:nvSpPr>
              <p:cNvPr id="193" name="TextBox 192"/>
              <p:cNvSpPr txBox="1">
                <a:spLocks noRot="1" noChangeAspect="1" noMove="1" noResize="1" noEditPoints="1" noAdjustHandles="1" noChangeArrowheads="1" noChangeShapeType="1" noTextEdit="1"/>
              </p:cNvSpPr>
              <p:nvPr/>
            </p:nvSpPr>
            <p:spPr>
              <a:xfrm>
                <a:off x="868680" y="3962654"/>
                <a:ext cx="3474720" cy="263525"/>
              </a:xfrm>
              <a:prstGeom prst="rect">
                <a:avLst/>
              </a:prstGeom>
              <a:blipFill rotWithShape="1">
                <a:blip r:embed="rId1"/>
                <a:stretch>
                  <a:fillRect t="-96" b="96"/>
                </a:stretch>
              </a:blipFill>
            </p:spPr>
            <p:txBody>
              <a:bodyPr/>
              <a:lstStyle/>
              <a:p>
                <a:r>
                  <a:rPr lang="zh-CN" altLang="en-US">
                    <a:noFill/>
                  </a:rPr>
                  <a:t> </a:t>
                </a:r>
              </a:p>
            </p:txBody>
          </p:sp>
        </mc:Fallback>
      </mc:AlternateContent>
      <p:sp>
        <p:nvSpPr>
          <p:cNvPr id="194" name="TextBox 193"/>
          <p:cNvSpPr txBox="1"/>
          <p:nvPr/>
        </p:nvSpPr>
        <p:spPr>
          <a:xfrm>
            <a:off x="858520" y="4384040"/>
            <a:ext cx="4572635" cy="1125855"/>
          </a:xfrm>
          <a:prstGeom prst="rect">
            <a:avLst/>
          </a:prstGeom>
          <a:noFill/>
        </p:spPr>
        <p:txBody>
          <a:bodyPr wrap="square" lIns="25400" tIns="12700" rIns="25400" bIns="12700">
            <a:noAutofit/>
          </a:bodyPr>
          <a:lstStyle/>
          <a:p>
            <a:pPr algn="l">
              <a:spcAft>
                <a:spcPts val="300"/>
              </a:spcAft>
            </a:pPr>
            <a:r>
              <a:rPr sz="850" b="0" i="0">
                <a:solidFill>
                  <a:srgbClr val="000000"/>
                </a:solidFill>
                <a:latin typeface="Arial" panose="020B0604020202090204"/>
              </a:rPr>
              <a:t>•</a:t>
            </a:r>
            <a:r>
              <a:rPr sz="1300" b="0" i="0">
                <a:solidFill>
                  <a:srgbClr val="000000"/>
                </a:solidFill>
                <a:latin typeface="Arial" panose="020B0604020202090204"/>
              </a:rPr>
              <a:t>  Edefect: total energy of the defective Frenkel system</a:t>
            </a:r>
            <a:endParaRPr sz="1300" b="0" i="0">
              <a:solidFill>
                <a:srgbClr val="000000"/>
              </a:solidFill>
              <a:latin typeface="Arial" panose="020B0604020202090204"/>
            </a:endParaRPr>
          </a:p>
          <a:p>
            <a:pPr algn="l">
              <a:spcAft>
                <a:spcPts val="300"/>
              </a:spcAft>
            </a:pPr>
            <a:r>
              <a:rPr sz="1300" b="0" i="0">
                <a:solidFill>
                  <a:srgbClr val="000000"/>
                </a:solidFill>
                <a:latin typeface="Arial" panose="020B0604020202090204"/>
              </a:rPr>
              <a:t>•  Eperfect: total energy of the perfect crystal</a:t>
            </a:r>
            <a:endParaRPr sz="1300" b="0" i="0">
              <a:solidFill>
                <a:srgbClr val="000000"/>
              </a:solidFill>
              <a:latin typeface="Arial" panose="020B0604020202090204"/>
            </a:endParaRPr>
          </a:p>
          <a:p>
            <a:pPr algn="l">
              <a:spcAft>
                <a:spcPts val="300"/>
              </a:spcAft>
            </a:pPr>
            <a:r>
              <a:rPr sz="1300" b="0" i="0">
                <a:solidFill>
                  <a:srgbClr val="000000"/>
                </a:solidFill>
                <a:latin typeface="Arial" panose="020B0604020202090204"/>
              </a:rPr>
              <a:t>•  ΔSvib: vibrational entropy difference from VDOS</a:t>
            </a:r>
            <a:endParaRPr sz="1300" b="0" i="0">
              <a:solidFill>
                <a:srgbClr val="000000"/>
              </a:solidFill>
              <a:latin typeface="Arial" panose="020B0604020202090204"/>
            </a:endParaRPr>
          </a:p>
          <a:p>
            <a:pPr algn="l">
              <a:spcAft>
                <a:spcPts val="300"/>
              </a:spcAft>
            </a:pPr>
            <a:r>
              <a:rPr sz="1300" b="0" i="0">
                <a:solidFill>
                  <a:srgbClr val="000000"/>
                </a:solidFill>
                <a:latin typeface="Arial" panose="020B0604020202090204"/>
              </a:rPr>
              <a:t>•  T: temperature (298 K in MD)</a:t>
            </a:r>
            <a:endParaRPr sz="1300" b="0" i="0">
              <a:solidFill>
                <a:srgbClr val="000000"/>
              </a:solidFill>
              <a:latin typeface="Arial" panose="020B0604020202090204"/>
            </a:endParaRPr>
          </a:p>
        </p:txBody>
      </p:sp>
      <p:sp>
        <p:nvSpPr>
          <p:cNvPr id="197" name="TextBox 196"/>
          <p:cNvSpPr txBox="1"/>
          <p:nvPr/>
        </p:nvSpPr>
        <p:spPr>
          <a:xfrm>
            <a:off x="6446520" y="1938528"/>
            <a:ext cx="4983480" cy="271145"/>
          </a:xfrm>
          <a:prstGeom prst="rect">
            <a:avLst/>
          </a:prstGeom>
          <a:noFill/>
        </p:spPr>
        <p:txBody>
          <a:bodyPr wrap="square" lIns="25400" tIns="12700" rIns="25400" bIns="12700">
            <a:spAutoFit/>
          </a:bodyPr>
          <a:lstStyle/>
          <a:p>
            <a:pPr algn="ctr"/>
            <a:r>
              <a:rPr sz="1600" b="1" i="0">
                <a:solidFill>
                  <a:srgbClr val="1C5D2B"/>
                </a:solidFill>
                <a:latin typeface="Arial" panose="020B0604020202090204"/>
              </a:rPr>
              <a:t>2. Kinetics: Ability to Overcome Energy Barriers</a:t>
            </a:r>
            <a:endParaRPr sz="1600" b="1" i="0">
              <a:solidFill>
                <a:srgbClr val="1C5D2B"/>
              </a:solidFill>
              <a:latin typeface="Arial" panose="020B0604020202090204"/>
            </a:endParaRPr>
          </a:p>
        </p:txBody>
      </p:sp>
      <p:sp>
        <p:nvSpPr>
          <p:cNvPr id="198" name="TextBox 197"/>
          <p:cNvSpPr txBox="1"/>
          <p:nvPr/>
        </p:nvSpPr>
        <p:spPr>
          <a:xfrm>
            <a:off x="6491605" y="2311400"/>
            <a:ext cx="4938395" cy="521335"/>
          </a:xfrm>
          <a:prstGeom prst="rect">
            <a:avLst/>
          </a:prstGeom>
          <a:noFill/>
        </p:spPr>
        <p:txBody>
          <a:bodyPr wrap="square" lIns="25400" tIns="12700" rIns="25400" bIns="12700">
            <a:noAutofit/>
          </a:bodyPr>
          <a:lstStyle/>
          <a:p>
            <a:pPr algn="ctr"/>
            <a:r>
              <a:rPr sz="1400" b="0" i="0">
                <a:solidFill>
                  <a:srgbClr val="000000"/>
                </a:solidFill>
                <a:latin typeface="Arial" panose="020B0604020202090204"/>
              </a:rPr>
              <a:t>Evaluate whether recombination can occur by quantifying
migration barriers and the recombination radius.</a:t>
            </a:r>
            <a:endParaRPr sz="1400" b="0" i="0">
              <a:solidFill>
                <a:srgbClr val="000000"/>
              </a:solidFill>
              <a:latin typeface="Arial" panose="020B0604020202090204"/>
            </a:endParaRPr>
          </a:p>
        </p:txBody>
      </p:sp>
      <p:sp>
        <p:nvSpPr>
          <p:cNvPr id="200" name="TextBox 199"/>
          <p:cNvSpPr txBox="1"/>
          <p:nvPr/>
        </p:nvSpPr>
        <p:spPr>
          <a:xfrm>
            <a:off x="6446520" y="2905760"/>
            <a:ext cx="3742055" cy="410845"/>
          </a:xfrm>
          <a:prstGeom prst="rect">
            <a:avLst/>
          </a:prstGeom>
          <a:noFill/>
        </p:spPr>
        <p:txBody>
          <a:bodyPr wrap="square" lIns="25400" tIns="12700" rIns="25400" bIns="12700">
            <a:noAutofit/>
          </a:bodyPr>
          <a:lstStyle/>
          <a:p>
            <a:pPr algn="l"/>
            <a:r>
              <a:rPr sz="1400" b="1" i="0">
                <a:solidFill>
                  <a:srgbClr val="000000"/>
                </a:solidFill>
                <a:latin typeface="Arial" panose="020B0604020202090204"/>
              </a:rPr>
              <a:t>Minimum Energy Path (NEB Method):</a:t>
            </a:r>
            <a:endParaRPr sz="1400" b="1" i="0">
              <a:solidFill>
                <a:srgbClr val="000000"/>
              </a:solidFill>
              <a:latin typeface="Arial" panose="020B0604020202090204"/>
            </a:endParaRPr>
          </a:p>
        </p:txBody>
      </p:sp>
      <mc:AlternateContent xmlns:mc="http://schemas.openxmlformats.org/markup-compatibility/2006">
        <mc:Choice xmlns:a14="http://schemas.microsoft.com/office/drawing/2010/main" Requires="a14">
          <p:sp>
            <p:nvSpPr>
              <p:cNvPr id="201" name="TextBox 200"/>
              <p:cNvSpPr txBox="1"/>
              <p:nvPr/>
            </p:nvSpPr>
            <p:spPr>
              <a:xfrm>
                <a:off x="6400165" y="3296920"/>
                <a:ext cx="5166995" cy="2221865"/>
              </a:xfrm>
              <a:prstGeom prst="rect">
                <a:avLst/>
              </a:prstGeom>
              <a:noFill/>
            </p:spPr>
            <p:txBody>
              <a:bodyPr wrap="square" lIns="25400" tIns="12700" rIns="25400" bIns="12700">
                <a:noAutofit/>
              </a:bodyPr>
              <a:lstStyle/>
              <a:p>
                <a:pPr algn="l">
                  <a:spcAft>
                    <a:spcPts val="300"/>
                  </a:spcAft>
                </a:pPr>
                <a:r>
                  <a:rPr sz="1300" b="0" i="0">
                    <a:solidFill>
                      <a:srgbClr val="000000"/>
                    </a:solidFill>
                    <a:latin typeface="Arial" panose="020B0604020202090204"/>
                  </a:rPr>
                  <a:t>1. Initial State (IS): separated Frenkel defect, optimized at 0 K, energy </a:t>
                </a:r>
                <a14:m>
                  <m:oMath xmlns:m="http://schemas.openxmlformats.org/officeDocument/2006/math">
                    <m:sSub>
                      <m:sSubPr>
                        <m:ctrlPr>
                          <a:rPr lang="en-US" sz="1300" b="0" i="1">
                            <a:solidFill>
                              <a:srgbClr val="000000"/>
                            </a:solidFill>
                            <a:latin typeface="DejaVu Math TeX Gyre" panose="02000503000000000000" charset="0"/>
                            <a:cs typeface="DejaVu Math TeX Gyre" panose="02000503000000000000" charset="0"/>
                          </a:rPr>
                        </m:ctrlPr>
                      </m:sSubPr>
                      <m:e>
                        <m:r>
                          <a:rPr lang="en-US" sz="1300" b="0" i="1">
                            <a:solidFill>
                              <a:srgbClr val="000000"/>
                            </a:solidFill>
                            <a:latin typeface="DejaVu Math TeX Gyre" panose="02000503000000000000" charset="0"/>
                            <a:cs typeface="DejaVu Math TeX Gyre" panose="02000503000000000000" charset="0"/>
                          </a:rPr>
                          <m:t>E</m:t>
                        </m:r>
                      </m:e>
                      <m:sub>
                        <m:r>
                          <a:rPr lang="en-US" sz="1300" b="0" i="1">
                            <a:solidFill>
                              <a:srgbClr val="000000"/>
                            </a:solidFill>
                            <a:latin typeface="DejaVu Math TeX Gyre" panose="02000503000000000000" charset="0"/>
                            <a:cs typeface="DejaVu Math TeX Gyre" panose="02000503000000000000" charset="0"/>
                          </a:rPr>
                          <m:t>IS</m:t>
                        </m:r>
                      </m:sub>
                    </m:sSub>
                  </m:oMath>
                </a14:m>
                <a:endParaRPr sz="1300" b="0" i="0">
                  <a:solidFill>
                    <a:srgbClr val="000000"/>
                  </a:solidFill>
                  <a:latin typeface="Arial" panose="020B0604020202090204"/>
                </a:endParaRPr>
              </a:p>
              <a:p>
                <a:pPr algn="l">
                  <a:spcAft>
                    <a:spcPts val="300"/>
                  </a:spcAft>
                </a:pPr>
                <a:r>
                  <a:rPr sz="1300" b="0" i="0">
                    <a:solidFill>
                      <a:srgbClr val="000000"/>
                    </a:solidFill>
                    <a:latin typeface="Arial" panose="020B0604020202090204"/>
                  </a:rPr>
                  <a:t>2. Final State (FS): recombined perfect crystal, optimized at 0 K, energy </a:t>
                </a:r>
                <a14:m>
                  <m:oMath xmlns:m="http://schemas.openxmlformats.org/officeDocument/2006/math">
                    <m:sSub>
                      <m:sSubPr>
                        <m:ctrlPr>
                          <a:rPr lang="en-US" sz="1300" b="0" i="1">
                            <a:solidFill>
                              <a:srgbClr val="000000"/>
                            </a:solidFill>
                            <a:latin typeface="DejaVu Math TeX Gyre" panose="02000503000000000000" charset="0"/>
                            <a:cs typeface="DejaVu Math TeX Gyre" panose="02000503000000000000" charset="0"/>
                          </a:rPr>
                        </m:ctrlPr>
                      </m:sSubPr>
                      <m:e>
                        <m:r>
                          <a:rPr lang="en-US" sz="1300" b="0" i="1">
                            <a:solidFill>
                              <a:srgbClr val="000000"/>
                            </a:solidFill>
                            <a:latin typeface="DejaVu Math TeX Gyre" panose="02000503000000000000" charset="0"/>
                            <a:cs typeface="DejaVu Math TeX Gyre" panose="02000503000000000000" charset="0"/>
                          </a:rPr>
                          <m:t>E</m:t>
                        </m:r>
                      </m:e>
                      <m:sub>
                        <m:r>
                          <a:rPr lang="en-US" sz="1300" b="0" i="1">
                            <a:solidFill>
                              <a:srgbClr val="000000"/>
                            </a:solidFill>
                            <a:latin typeface="DejaVu Math TeX Gyre" panose="02000503000000000000" charset="0"/>
                            <a:cs typeface="DejaVu Math TeX Gyre" panose="02000503000000000000" charset="0"/>
                          </a:rPr>
                          <m:t>FS</m:t>
                        </m:r>
                      </m:sub>
                    </m:sSub>
                  </m:oMath>
                </a14:m>
                <a:endParaRPr sz="1300" b="0" i="0">
                  <a:solidFill>
                    <a:srgbClr val="000000"/>
                  </a:solidFill>
                  <a:latin typeface="Arial" panose="020B0604020202090204"/>
                </a:endParaRPr>
              </a:p>
              <a:p>
                <a:pPr algn="l">
                  <a:spcAft>
                    <a:spcPts val="300"/>
                  </a:spcAft>
                </a:pPr>
                <a:r>
                  <a:rPr sz="1300" b="0" i="0">
                    <a:solidFill>
                      <a:srgbClr val="000000"/>
                    </a:solidFill>
                    <a:latin typeface="Arial" panose="020B0604020202090204"/>
                  </a:rPr>
                  <a:t>3. Interpolation: generate intermediate images between IS and FS</a:t>
                </a:r>
                <a:endParaRPr sz="1300" b="0" i="0">
                  <a:solidFill>
                    <a:srgbClr val="000000"/>
                  </a:solidFill>
                  <a:latin typeface="Arial" panose="020B0604020202090204"/>
                </a:endParaRPr>
              </a:p>
              <a:p>
                <a:pPr algn="l">
                  <a:spcAft>
                    <a:spcPts val="300"/>
                  </a:spcAft>
                </a:pPr>
                <a:r>
                  <a:rPr sz="1300" b="0" i="0">
                    <a:solidFill>
                      <a:srgbClr val="000000"/>
                    </a:solidFill>
                    <a:latin typeface="Arial" panose="020B0604020202090204"/>
                  </a:rPr>
                  <a:t>4. CI-NEB: find the transition state / saddle point (TS)</a:t>
                </a:r>
                <a:endParaRPr sz="1300" b="0" i="0">
                  <a:solidFill>
                    <a:srgbClr val="000000"/>
                  </a:solidFill>
                  <a:latin typeface="Arial" panose="020B0604020202090204"/>
                </a:endParaRPr>
              </a:p>
              <a:p>
                <a:pPr algn="l">
                  <a:spcAft>
                    <a:spcPts val="300"/>
                  </a:spcAft>
                </a:pPr>
                <a:r>
                  <a:rPr sz="1300" b="0" i="0">
                    <a:solidFill>
                      <a:srgbClr val="000000"/>
                    </a:solidFill>
                    <a:latin typeface="Arial" panose="020B0604020202090204"/>
                  </a:rPr>
                  <a:t>5. Activation Energy Barrier: </a:t>
                </a:r>
                <a14:m>
                  <m:oMath xmlns:m="http://schemas.openxmlformats.org/officeDocument/2006/math">
                    <m:sSub>
                      <m:sSubPr>
                        <m:ctrlPr>
                          <a:rPr lang="en-US" sz="1300" b="0" i="1">
                            <a:solidFill>
                              <a:srgbClr val="000000"/>
                            </a:solidFill>
                            <a:latin typeface="DejaVu Math TeX Gyre" panose="02000503000000000000" charset="0"/>
                            <a:cs typeface="DejaVu Math TeX Gyre" panose="02000503000000000000" charset="0"/>
                          </a:rPr>
                        </m:ctrlPr>
                      </m:sSubPr>
                      <m:e>
                        <m:r>
                          <a:rPr lang="en-US" sz="1300" b="0" i="1">
                            <a:solidFill>
                              <a:srgbClr val="000000"/>
                            </a:solidFill>
                            <a:latin typeface="DejaVu Math TeX Gyre" panose="02000503000000000000" charset="0"/>
                            <a:cs typeface="DejaVu Math TeX Gyre" panose="02000503000000000000" charset="0"/>
                          </a:rPr>
                          <m:t>E</m:t>
                        </m:r>
                      </m:e>
                      <m:sub>
                        <m:r>
                          <a:rPr lang="en-US" sz="1300" i="1">
                            <a:solidFill>
                              <a:srgbClr val="000000"/>
                            </a:solidFill>
                            <a:latin typeface="DejaVu Math TeX Gyre" panose="02000503000000000000" charset="0"/>
                            <a:cs typeface="DejaVu Math TeX Gyre" panose="02000503000000000000" charset="0"/>
                          </a:rPr>
                          <m:t>𝛼</m:t>
                        </m:r>
                      </m:sub>
                    </m:sSub>
                  </m:oMath>
                </a14:m>
                <a:r>
                  <a:rPr sz="1300" b="0" i="0">
                    <a:solidFill>
                      <a:srgbClr val="000000"/>
                    </a:solidFill>
                    <a:latin typeface="Arial" panose="020B0604020202090204"/>
                  </a:rPr>
                  <a:t> = ETS − EIS</a:t>
                </a:r>
                <a:endParaRPr sz="1300" b="0" i="0">
                  <a:solidFill>
                    <a:srgbClr val="000000"/>
                  </a:solidFill>
                  <a:latin typeface="Arial" panose="020B0604020202090204"/>
                </a:endParaRPr>
              </a:p>
            </p:txBody>
          </p:sp>
        </mc:Choice>
        <mc:Fallback>
          <p:sp>
            <p:nvSpPr>
              <p:cNvPr id="201" name="TextBox 200"/>
              <p:cNvSpPr txBox="1">
                <a:spLocks noRot="1" noChangeAspect="1" noMove="1" noResize="1" noEditPoints="1" noAdjustHandles="1" noChangeArrowheads="1" noChangeShapeType="1" noTextEdit="1"/>
              </p:cNvSpPr>
              <p:nvPr/>
            </p:nvSpPr>
            <p:spPr>
              <a:xfrm>
                <a:off x="6400165" y="3296920"/>
                <a:ext cx="5166995" cy="2221865"/>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0" y="137160"/>
            <a:ext cx="12087225" cy="455930"/>
          </a:xfrm>
          <a:prstGeom prst="rect">
            <a:avLst/>
          </a:prstGeom>
          <a:noFill/>
        </p:spPr>
        <p:txBody>
          <a:bodyPr wrap="square" lIns="25400" tIns="12700" rIns="25400" bIns="12700">
            <a:spAutoFit/>
          </a:bodyPr>
          <a:lstStyle/>
          <a:p>
            <a:pPr algn="ctr"/>
            <a:r>
              <a:rPr sz="2800" b="1" i="0">
                <a:solidFill>
                  <a:srgbClr val="081F41"/>
                </a:solidFill>
                <a:latin typeface="Arial" panose="020B0604020202090204"/>
              </a:rPr>
              <a:t>Thermodynamic Foundation: From VACF to Quantum-Corrected VDOS</a:t>
            </a:r>
            <a:endParaRPr sz="2800" b="1" i="0">
              <a:solidFill>
                <a:srgbClr val="081F41"/>
              </a:solidFill>
              <a:latin typeface="Arial" panose="020B0604020202090204"/>
            </a:endParaRPr>
          </a:p>
        </p:txBody>
      </p:sp>
      <p:sp>
        <p:nvSpPr>
          <p:cNvPr id="6" name="TextBox 5"/>
          <p:cNvSpPr txBox="1"/>
          <p:nvPr/>
        </p:nvSpPr>
        <p:spPr>
          <a:xfrm>
            <a:off x="411480" y="762635"/>
            <a:ext cx="10698480" cy="517525"/>
          </a:xfrm>
          <a:prstGeom prst="rect">
            <a:avLst/>
          </a:prstGeom>
          <a:noFill/>
        </p:spPr>
        <p:txBody>
          <a:bodyPr wrap="square" lIns="25400" tIns="12700" rIns="25400" bIns="12700">
            <a:spAutoFit/>
          </a:bodyPr>
          <a:lstStyle/>
          <a:p>
            <a:pPr algn="ctr"/>
            <a:r>
              <a:rPr sz="1600" b="0" i="0">
                <a:solidFill>
                  <a:srgbClr val="000000"/>
                </a:solidFill>
                <a:latin typeface="Arial" panose="020B0604020202090204"/>
              </a:rPr>
              <a:t>Extract vibrational density of states (VDOS) from MD classical trajectories,
and apply quantum correction to obtain physically meaningful thermodynamic quantities.</a:t>
            </a:r>
            <a:endParaRPr sz="1600" b="0" i="0">
              <a:solidFill>
                <a:srgbClr val="000000"/>
              </a:solidFill>
              <a:latin typeface="Arial" panose="020B0604020202090204"/>
            </a:endParaRPr>
          </a:p>
        </p:txBody>
      </p:sp>
      <p:sp>
        <p:nvSpPr>
          <p:cNvPr id="7" name="TextBox 6"/>
          <p:cNvSpPr txBox="1"/>
          <p:nvPr/>
        </p:nvSpPr>
        <p:spPr>
          <a:xfrm>
            <a:off x="502920" y="1481582"/>
            <a:ext cx="5303520" cy="228600"/>
          </a:xfrm>
          <a:prstGeom prst="rect">
            <a:avLst/>
          </a:prstGeom>
          <a:noFill/>
        </p:spPr>
        <p:txBody>
          <a:bodyPr wrap="square" lIns="25400" tIns="12700" rIns="25400" bIns="12700">
            <a:spAutoFit/>
          </a:bodyPr>
          <a:lstStyle/>
          <a:p>
            <a:pPr algn="l"/>
            <a:r>
              <a:rPr sz="1600" b="1" i="0">
                <a:solidFill>
                  <a:srgbClr val="081F41"/>
                </a:solidFill>
                <a:latin typeface="Arial" panose="020B0604020202090204"/>
              </a:rPr>
              <a:t>1. Physical Principle and Key Formulas</a:t>
            </a:r>
            <a:endParaRPr sz="1600" b="1" i="0">
              <a:solidFill>
                <a:srgbClr val="081F41"/>
              </a:solidFill>
              <a:latin typeface="Arial" panose="020B0604020202090204"/>
            </a:endParaRPr>
          </a:p>
        </p:txBody>
      </p:sp>
      <p:cxnSp>
        <p:nvCxnSpPr>
          <p:cNvPr id="8" name="Connector 7"/>
          <p:cNvCxnSpPr/>
          <p:nvPr/>
        </p:nvCxnSpPr>
        <p:spPr>
          <a:xfrm>
            <a:off x="320040" y="1792478"/>
            <a:ext cx="4983480" cy="0"/>
          </a:xfrm>
          <a:prstGeom prst="line">
            <a:avLst/>
          </a:prstGeom>
          <a:ln w="12700">
            <a:solidFill>
              <a:srgbClr val="081F4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52160" y="1481582"/>
            <a:ext cx="6035040" cy="228600"/>
          </a:xfrm>
          <a:prstGeom prst="rect">
            <a:avLst/>
          </a:prstGeom>
          <a:noFill/>
        </p:spPr>
        <p:txBody>
          <a:bodyPr wrap="square" lIns="25400" tIns="12700" rIns="25400" bIns="12700">
            <a:spAutoFit/>
          </a:bodyPr>
          <a:lstStyle/>
          <a:p>
            <a:pPr algn="l"/>
            <a:r>
              <a:rPr sz="1600" b="1" i="0">
                <a:solidFill>
                  <a:srgbClr val="081F41"/>
                </a:solidFill>
                <a:latin typeface="Arial" panose="020B0604020202090204"/>
              </a:rPr>
              <a:t>2. Workflow: From MD to Quantum-Corrected VDOS</a:t>
            </a:r>
            <a:endParaRPr sz="1600" b="1" i="0">
              <a:solidFill>
                <a:srgbClr val="081F41"/>
              </a:solidFill>
              <a:latin typeface="Arial" panose="020B0604020202090204"/>
            </a:endParaRPr>
          </a:p>
        </p:txBody>
      </p:sp>
      <p:cxnSp>
        <p:nvCxnSpPr>
          <p:cNvPr id="10" name="Connector 9"/>
          <p:cNvCxnSpPr/>
          <p:nvPr/>
        </p:nvCxnSpPr>
        <p:spPr>
          <a:xfrm>
            <a:off x="5715000" y="1792478"/>
            <a:ext cx="6217920" cy="0"/>
          </a:xfrm>
          <a:prstGeom prst="line">
            <a:avLst/>
          </a:prstGeom>
          <a:ln w="12700">
            <a:solidFill>
              <a:srgbClr val="081F4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577840" y="1454150"/>
            <a:ext cx="0" cy="4663440"/>
          </a:xfrm>
          <a:prstGeom prst="line">
            <a:avLst/>
          </a:prstGeom>
          <a:ln w="10160">
            <a:solidFill>
              <a:srgbClr val="787878"/>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2608" y="1951990"/>
            <a:ext cx="228600" cy="182880"/>
          </a:xfrm>
          <a:prstGeom prst="rect">
            <a:avLst/>
          </a:prstGeom>
          <a:noFill/>
        </p:spPr>
        <p:txBody>
          <a:bodyPr wrap="square" lIns="25400" tIns="12700" rIns="25400" bIns="12700">
            <a:spAutoFit/>
          </a:bodyPr>
          <a:lstStyle/>
          <a:p>
            <a:pPr algn="l"/>
            <a:r>
              <a:rPr sz="1600" b="1" i="0">
                <a:solidFill>
                  <a:srgbClr val="000000"/>
                </a:solidFill>
                <a:latin typeface="Arial" panose="020B0604020202090204"/>
              </a:rPr>
              <a:t>•</a:t>
            </a:r>
            <a:endParaRPr sz="1600" b="1" i="0">
              <a:solidFill>
                <a:srgbClr val="000000"/>
              </a:solidFill>
              <a:latin typeface="Arial" panose="020B0604020202090204"/>
            </a:endParaRPr>
          </a:p>
        </p:txBody>
      </p:sp>
      <p:sp>
        <p:nvSpPr>
          <p:cNvPr id="13" name="TextBox 12"/>
          <p:cNvSpPr txBox="1"/>
          <p:nvPr/>
        </p:nvSpPr>
        <p:spPr>
          <a:xfrm>
            <a:off x="566928" y="1963293"/>
            <a:ext cx="2011680" cy="240665"/>
          </a:xfrm>
          <a:prstGeom prst="rect">
            <a:avLst/>
          </a:prstGeom>
          <a:noFill/>
        </p:spPr>
        <p:txBody>
          <a:bodyPr wrap="square" lIns="25400" tIns="12700" rIns="25400" bIns="12700">
            <a:spAutoFit/>
          </a:bodyPr>
          <a:lstStyle/>
          <a:p>
            <a:pPr algn="l"/>
            <a:r>
              <a:rPr sz="1400" b="1" i="0">
                <a:solidFill>
                  <a:srgbClr val="000000"/>
                </a:solidFill>
                <a:latin typeface="Arial" panose="020B0604020202090204"/>
              </a:rPr>
              <a:t>From MD to VDOS</a:t>
            </a:r>
            <a:endParaRPr sz="1400" b="1" i="0">
              <a:solidFill>
                <a:srgbClr val="000000"/>
              </a:solidFill>
              <a:latin typeface="Arial" panose="020B0604020202090204"/>
            </a:endParaRPr>
          </a:p>
        </p:txBody>
      </p:sp>
      <p:sp>
        <p:nvSpPr>
          <p:cNvPr id="14" name="TextBox 13"/>
          <p:cNvSpPr txBox="1"/>
          <p:nvPr/>
        </p:nvSpPr>
        <p:spPr>
          <a:xfrm>
            <a:off x="566928" y="2295398"/>
            <a:ext cx="3200400" cy="225425"/>
          </a:xfrm>
          <a:prstGeom prst="rect">
            <a:avLst/>
          </a:prstGeom>
          <a:noFill/>
        </p:spPr>
        <p:txBody>
          <a:bodyPr wrap="square" lIns="25400" tIns="12700" rIns="25400" bIns="12700">
            <a:spAutoFit/>
          </a:bodyPr>
          <a:lstStyle/>
          <a:p>
            <a:pPr algn="l"/>
            <a:r>
              <a:rPr sz="1300" b="0" i="0">
                <a:solidFill>
                  <a:srgbClr val="000000"/>
                </a:solidFill>
                <a:latin typeface="Arial" panose="020B0604020202090204"/>
              </a:rPr>
              <a:t>Velocity Autocorrelation Function (VACF):</a:t>
            </a:r>
            <a:endParaRPr sz="1300" b="0" i="0">
              <a:solidFill>
                <a:srgbClr val="000000"/>
              </a:solidFill>
              <a:latin typeface="Arial" panose="020B0604020202090204"/>
            </a:endParaRPr>
          </a:p>
        </p:txBody>
      </p:sp>
      <p:sp>
        <p:nvSpPr>
          <p:cNvPr id="16" name="TextBox 15"/>
          <p:cNvSpPr txBox="1"/>
          <p:nvPr/>
        </p:nvSpPr>
        <p:spPr>
          <a:xfrm>
            <a:off x="566928" y="3182366"/>
            <a:ext cx="4206240" cy="225425"/>
          </a:xfrm>
          <a:prstGeom prst="rect">
            <a:avLst/>
          </a:prstGeom>
          <a:noFill/>
        </p:spPr>
        <p:txBody>
          <a:bodyPr wrap="square" lIns="25400" tIns="12700" rIns="25400" bIns="12700">
            <a:spAutoFit/>
          </a:bodyPr>
          <a:lstStyle/>
          <a:p>
            <a:pPr algn="l"/>
            <a:r>
              <a:rPr sz="1300" b="0" i="0">
                <a:solidFill>
                  <a:srgbClr val="000000"/>
                </a:solidFill>
                <a:latin typeface="Arial" panose="020B0604020202090204"/>
              </a:rPr>
              <a:t>VDOS is obtained from the Fourier transform of VACF.</a:t>
            </a:r>
            <a:endParaRPr sz="1300" b="0" i="0">
              <a:solidFill>
                <a:srgbClr val="000000"/>
              </a:solidFill>
              <a:latin typeface="Arial" panose="020B0604020202090204"/>
            </a:endParaRPr>
          </a:p>
        </p:txBody>
      </p:sp>
      <p:sp>
        <p:nvSpPr>
          <p:cNvPr id="17" name="TextBox 16"/>
          <p:cNvSpPr txBox="1"/>
          <p:nvPr/>
        </p:nvSpPr>
        <p:spPr>
          <a:xfrm>
            <a:off x="292608" y="3584702"/>
            <a:ext cx="228600" cy="182880"/>
          </a:xfrm>
          <a:prstGeom prst="rect">
            <a:avLst/>
          </a:prstGeom>
          <a:noFill/>
        </p:spPr>
        <p:txBody>
          <a:bodyPr wrap="square" lIns="25400" tIns="12700" rIns="25400" bIns="12700">
            <a:spAutoFit/>
          </a:bodyPr>
          <a:lstStyle/>
          <a:p>
            <a:pPr algn="l"/>
            <a:r>
              <a:rPr sz="1600" b="1" i="0">
                <a:solidFill>
                  <a:srgbClr val="000000"/>
                </a:solidFill>
                <a:latin typeface="Arial" panose="020B0604020202090204"/>
              </a:rPr>
              <a:t>•</a:t>
            </a:r>
            <a:endParaRPr sz="1600" b="1" i="0">
              <a:solidFill>
                <a:srgbClr val="000000"/>
              </a:solidFill>
              <a:latin typeface="Arial" panose="020B0604020202090204"/>
            </a:endParaRPr>
          </a:p>
        </p:txBody>
      </p:sp>
      <p:sp>
        <p:nvSpPr>
          <p:cNvPr id="18" name="TextBox 17"/>
          <p:cNvSpPr txBox="1"/>
          <p:nvPr/>
        </p:nvSpPr>
        <p:spPr>
          <a:xfrm>
            <a:off x="566928" y="3602990"/>
            <a:ext cx="2103120" cy="240665"/>
          </a:xfrm>
          <a:prstGeom prst="rect">
            <a:avLst/>
          </a:prstGeom>
          <a:noFill/>
        </p:spPr>
        <p:txBody>
          <a:bodyPr wrap="square" lIns="25400" tIns="12700" rIns="25400" bIns="12700">
            <a:spAutoFit/>
          </a:bodyPr>
          <a:lstStyle/>
          <a:p>
            <a:pPr algn="l"/>
            <a:r>
              <a:rPr sz="1400" b="1" i="0">
                <a:solidFill>
                  <a:srgbClr val="000000"/>
                </a:solidFill>
                <a:latin typeface="Arial" panose="020B0604020202090204"/>
              </a:rPr>
              <a:t>Quantum Correction</a:t>
            </a:r>
            <a:endParaRPr sz="1400" b="1" i="0">
              <a:solidFill>
                <a:srgbClr val="000000"/>
              </a:solidFill>
              <a:latin typeface="Arial" panose="020B0604020202090204"/>
            </a:endParaRPr>
          </a:p>
        </p:txBody>
      </p:sp>
      <p:sp>
        <p:nvSpPr>
          <p:cNvPr id="19" name="TextBox 18"/>
          <p:cNvSpPr txBox="1"/>
          <p:nvPr/>
        </p:nvSpPr>
        <p:spPr>
          <a:xfrm>
            <a:off x="566928" y="3923030"/>
            <a:ext cx="3108960" cy="225425"/>
          </a:xfrm>
          <a:prstGeom prst="rect">
            <a:avLst/>
          </a:prstGeom>
          <a:noFill/>
        </p:spPr>
        <p:txBody>
          <a:bodyPr wrap="square" lIns="25400" tIns="12700" rIns="25400" bIns="12700">
            <a:spAutoFit/>
          </a:bodyPr>
          <a:lstStyle/>
          <a:p>
            <a:pPr algn="l"/>
            <a:r>
              <a:rPr sz="1300" b="0" i="0">
                <a:solidFill>
                  <a:srgbClr val="000000"/>
                </a:solidFill>
                <a:latin typeface="Arial" panose="020B0604020202090204"/>
              </a:rPr>
              <a:t>(1) Dimensionless frequency variable:</a:t>
            </a:r>
            <a:endParaRPr sz="1300" b="0" i="0">
              <a:solidFill>
                <a:srgbClr val="000000"/>
              </a:solidFill>
              <a:latin typeface="Arial" panose="020B0604020202090204"/>
            </a:endParaRPr>
          </a:p>
        </p:txBody>
      </p:sp>
      <mc:AlternateContent xmlns:mc="http://schemas.openxmlformats.org/markup-compatibility/2006">
        <mc:Choice xmlns:a14="http://schemas.microsoft.com/office/drawing/2010/main" Requires="a14">
          <p:sp>
            <p:nvSpPr>
              <p:cNvPr id="20" name="TextBox 19"/>
              <p:cNvSpPr txBox="1"/>
              <p:nvPr/>
            </p:nvSpPr>
            <p:spPr>
              <a:xfrm>
                <a:off x="1874519" y="4223258"/>
                <a:ext cx="1645920" cy="491490"/>
              </a:xfrm>
              <a:prstGeom prst="rect">
                <a:avLst/>
              </a:prstGeom>
              <a:noFill/>
            </p:spPr>
            <p:txBody>
              <a:bodyPr wrap="square" lIns="25400" tIns="12700" rIns="25400" bIns="12700">
                <a:spAutoFit/>
              </a:bodyPr>
              <a:lstStyle/>
              <a:p>
                <a:pPr algn="ctr"/>
                <a:r>
                  <a:rPr sz="1800" b="0" i="0">
                    <a:solidFill>
                      <a:srgbClr val="000000"/>
                    </a:solidFill>
                    <a:latin typeface="Times New Roman" panose="02020503050405090304"/>
                  </a:rPr>
                  <a:t>x =</a:t>
                </a:r>
                <a14:m>
                  <m:oMath xmlns:m="http://schemas.openxmlformats.org/officeDocument/2006/math">
                    <m:f>
                      <m:fPr>
                        <m:ctrlPr>
                          <a:rPr lang="en-US" sz="1800" b="0" i="1">
                            <a:solidFill>
                              <a:srgbClr val="000000"/>
                            </a:solidFill>
                            <a:latin typeface="DejaVu Math TeX Gyre" panose="02000503000000000000" charset="0"/>
                            <a:cs typeface="DejaVu Math TeX Gyre" panose="02000503000000000000" charset="0"/>
                          </a:rPr>
                        </m:ctrlPr>
                      </m:fPr>
                      <m:num>
                        <m:r>
                          <a:rPr lang="en-US" sz="1800" b="0" i="1">
                            <a:solidFill>
                              <a:srgbClr val="000000"/>
                            </a:solidFill>
                            <a:latin typeface="DejaVu Math TeX Gyre" panose="02000503000000000000" charset="0"/>
                            <a:cs typeface="DejaVu Math TeX Gyre" panose="02000503000000000000" charset="0"/>
                          </a:rPr>
                          <m:t>hv</m:t>
                        </m:r>
                      </m:num>
                      <m:den>
                        <m:sSub>
                          <m:sSubPr>
                            <m:ctrlPr>
                              <a:rPr lang="en-US" sz="1800" b="0" i="1">
                                <a:solidFill>
                                  <a:srgbClr val="000000"/>
                                </a:solidFill>
                                <a:latin typeface="DejaVu Math TeX Gyre" panose="02000503000000000000" charset="0"/>
                                <a:cs typeface="DejaVu Math TeX Gyre" panose="02000503000000000000" charset="0"/>
                              </a:rPr>
                            </m:ctrlPr>
                          </m:sSubPr>
                          <m:e>
                            <m:r>
                              <a:rPr lang="en-US" sz="1800" b="0" i="1">
                                <a:solidFill>
                                  <a:srgbClr val="000000"/>
                                </a:solidFill>
                                <a:latin typeface="DejaVu Math TeX Gyre" panose="02000503000000000000" charset="0"/>
                                <a:cs typeface="DejaVu Math TeX Gyre" panose="02000503000000000000" charset="0"/>
                              </a:rPr>
                              <m:t>k</m:t>
                            </m:r>
                          </m:e>
                          <m:sub>
                            <m:r>
                              <a:rPr lang="en-US" sz="1800" b="0" i="1">
                                <a:solidFill>
                                  <a:srgbClr val="000000"/>
                                </a:solidFill>
                                <a:latin typeface="DejaVu Math TeX Gyre" panose="02000503000000000000" charset="0"/>
                                <a:cs typeface="DejaVu Math TeX Gyre" panose="02000503000000000000" charset="0"/>
                              </a:rPr>
                              <m:t>B</m:t>
                            </m:r>
                          </m:sub>
                        </m:sSub>
                        <m:r>
                          <a:rPr lang="en-US" sz="1800" b="0" i="1">
                            <a:solidFill>
                              <a:srgbClr val="000000"/>
                            </a:solidFill>
                            <a:latin typeface="DejaVu Math TeX Gyre" panose="02000503000000000000" charset="0"/>
                            <a:cs typeface="DejaVu Math TeX Gyre" panose="02000503000000000000" charset="0"/>
                          </a:rPr>
                          <m:t>T</m:t>
                        </m:r>
                      </m:den>
                    </m:f>
                  </m:oMath>
                </a14:m>
                <a:endParaRPr sz="1800" b="0" i="0">
                  <a:solidFill>
                    <a:srgbClr val="000000"/>
                  </a:solidFill>
                  <a:latin typeface="Times New Roman" panose="02020503050405090304"/>
                </a:endParaRPr>
              </a:p>
            </p:txBody>
          </p:sp>
        </mc:Choice>
        <mc:Fallback>
          <p:sp>
            <p:nvSpPr>
              <p:cNvPr id="20" name="TextBox 19"/>
              <p:cNvSpPr txBox="1">
                <a:spLocks noRot="1" noChangeAspect="1" noMove="1" noResize="1" noEditPoints="1" noAdjustHandles="1" noChangeArrowheads="1" noChangeShapeType="1" noTextEdit="1"/>
              </p:cNvSpPr>
              <p:nvPr/>
            </p:nvSpPr>
            <p:spPr>
              <a:xfrm>
                <a:off x="1874519" y="4223258"/>
                <a:ext cx="1645920" cy="491490"/>
              </a:xfrm>
              <a:prstGeom prst="rect">
                <a:avLst/>
              </a:prstGeom>
              <a:blipFill rotWithShape="1">
                <a:blip r:embed="rId1"/>
                <a:stretch>
                  <a:fillRect l="-39" t="-103" r="39" b="103"/>
                </a:stretch>
              </a:blipFill>
            </p:spPr>
            <p:txBody>
              <a:bodyPr/>
              <a:lstStyle/>
              <a:p>
                <a:r>
                  <a:rPr lang="zh-CN" altLang="en-US">
                    <a:noFill/>
                  </a:rPr>
                  <a:t> </a:t>
                </a:r>
              </a:p>
            </p:txBody>
          </p:sp>
        </mc:Fallback>
      </mc:AlternateContent>
      <p:sp>
        <p:nvSpPr>
          <p:cNvPr id="21" name="TextBox 20"/>
          <p:cNvSpPr txBox="1"/>
          <p:nvPr/>
        </p:nvSpPr>
        <p:spPr>
          <a:xfrm>
            <a:off x="868680" y="4753610"/>
            <a:ext cx="4206875" cy="409575"/>
          </a:xfrm>
          <a:prstGeom prst="rect">
            <a:avLst/>
          </a:prstGeom>
          <a:noFill/>
        </p:spPr>
        <p:txBody>
          <a:bodyPr wrap="square" lIns="25400" tIns="12700" rIns="25400" bIns="12700">
            <a:noAutofit/>
          </a:bodyPr>
          <a:lstStyle/>
          <a:p>
            <a:pPr algn="l"/>
            <a:r>
              <a:rPr sz="1200" b="0" i="0">
                <a:solidFill>
                  <a:srgbClr val="000000"/>
                </a:solidFill>
                <a:latin typeface="Arial" panose="020B0604020202090204"/>
              </a:rPr>
              <a:t>where h is Planck constant, kB is Boltzmann constant,
T is temperature.</a:t>
            </a:r>
            <a:endParaRPr sz="1200" b="0" i="0">
              <a:solidFill>
                <a:srgbClr val="000000"/>
              </a:solidFill>
              <a:latin typeface="Arial" panose="020B0604020202090204"/>
            </a:endParaRPr>
          </a:p>
        </p:txBody>
      </p:sp>
      <p:sp>
        <p:nvSpPr>
          <p:cNvPr id="22" name="TextBox 21"/>
          <p:cNvSpPr txBox="1"/>
          <p:nvPr/>
        </p:nvSpPr>
        <p:spPr>
          <a:xfrm>
            <a:off x="566928" y="5203190"/>
            <a:ext cx="2468880" cy="225425"/>
          </a:xfrm>
          <a:prstGeom prst="rect">
            <a:avLst/>
          </a:prstGeom>
          <a:noFill/>
        </p:spPr>
        <p:txBody>
          <a:bodyPr wrap="square" lIns="25400" tIns="12700" rIns="25400" bIns="12700">
            <a:spAutoFit/>
          </a:bodyPr>
          <a:lstStyle/>
          <a:p>
            <a:pPr algn="l"/>
            <a:r>
              <a:rPr sz="1300" b="0" i="0">
                <a:solidFill>
                  <a:srgbClr val="000000"/>
                </a:solidFill>
                <a:latin typeface="Arial" panose="020B0604020202090204"/>
              </a:rPr>
              <a:t>(2) Quantum weight function:</a:t>
            </a:r>
            <a:endParaRPr sz="1300" b="0" i="0">
              <a:solidFill>
                <a:srgbClr val="000000"/>
              </a:solidFill>
              <a:latin typeface="Arial" panose="020B0604020202090204"/>
            </a:endParaRPr>
          </a:p>
        </p:txBody>
      </p:sp>
      <p:sp>
        <p:nvSpPr>
          <p:cNvPr id="23" name="TextBox 22"/>
          <p:cNvSpPr txBox="1"/>
          <p:nvPr/>
        </p:nvSpPr>
        <p:spPr>
          <a:xfrm>
            <a:off x="1097280" y="5562600"/>
            <a:ext cx="3840480" cy="228600"/>
          </a:xfrm>
          <a:prstGeom prst="rect">
            <a:avLst/>
          </a:prstGeom>
          <a:noFill/>
        </p:spPr>
        <p:txBody>
          <a:bodyPr wrap="square" lIns="25400" tIns="12700" rIns="25400" bIns="12700">
            <a:spAutoFit/>
          </a:bodyPr>
          <a:lstStyle/>
          <a:p>
            <a:pPr algn="ctr"/>
            <a:r>
              <a:rPr sz="1800" b="0" i="0">
                <a:solidFill>
                  <a:srgbClr val="000000"/>
                </a:solidFill>
                <a:latin typeface="Times New Roman" panose="02020503050405090304"/>
              </a:rPr>
              <a:t>WS(ν) = x/(eˣ − 1) − ln(1 − e⁻ˣ)</a:t>
            </a:r>
            <a:endParaRPr sz="1800" b="0" i="0">
              <a:solidFill>
                <a:srgbClr val="000000"/>
              </a:solidFill>
              <a:latin typeface="Times New Roman" panose="02020503050405090304"/>
            </a:endParaRPr>
          </a:p>
        </p:txBody>
      </p:sp>
      <p:sp>
        <p:nvSpPr>
          <p:cNvPr id="24" name="Rounded Rectangle 23"/>
          <p:cNvSpPr/>
          <p:nvPr/>
        </p:nvSpPr>
        <p:spPr>
          <a:xfrm>
            <a:off x="411480" y="5997321"/>
            <a:ext cx="4709160" cy="548640"/>
          </a:xfrm>
          <a:prstGeom prst="roundRect">
            <a:avLst/>
          </a:prstGeom>
          <a:solidFill>
            <a:srgbClr val="EEF7FF"/>
          </a:solidFill>
          <a:ln w="11430">
            <a:solidFill>
              <a:srgbClr val="081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60135"/>
            <a:ext cx="2103120" cy="164592"/>
          </a:xfrm>
          <a:prstGeom prst="rect">
            <a:avLst/>
          </a:prstGeom>
          <a:noFill/>
        </p:spPr>
        <p:txBody>
          <a:bodyPr wrap="square" lIns="25400" tIns="12700" rIns="25400" bIns="12700">
            <a:spAutoFit/>
          </a:bodyPr>
          <a:lstStyle/>
          <a:p>
            <a:pPr algn="l"/>
            <a:r>
              <a:rPr sz="1150" b="1" i="0">
                <a:solidFill>
                  <a:srgbClr val="081F41"/>
                </a:solidFill>
                <a:latin typeface="Arial" panose="020B0604020202090204"/>
              </a:rPr>
              <a:t>Quantum-Corrected VDOS:</a:t>
            </a:r>
            <a:endParaRPr sz="1150" b="1" i="0">
              <a:solidFill>
                <a:srgbClr val="081F41"/>
              </a:solidFill>
              <a:latin typeface="Arial" panose="020B0604020202090204"/>
            </a:endParaRPr>
          </a:p>
        </p:txBody>
      </p:sp>
      <p:sp>
        <p:nvSpPr>
          <p:cNvPr id="26" name="TextBox 25"/>
          <p:cNvSpPr txBox="1"/>
          <p:nvPr/>
        </p:nvSpPr>
        <p:spPr>
          <a:xfrm>
            <a:off x="2408555" y="6104255"/>
            <a:ext cx="2468880" cy="182880"/>
          </a:xfrm>
          <a:prstGeom prst="rect">
            <a:avLst/>
          </a:prstGeom>
          <a:noFill/>
        </p:spPr>
        <p:txBody>
          <a:bodyPr wrap="square" lIns="25400" tIns="12700" rIns="25400" bIns="12700">
            <a:spAutoFit/>
          </a:bodyPr>
          <a:lstStyle/>
          <a:p>
            <a:pPr algn="ctr"/>
            <a:r>
              <a:rPr sz="1500" b="0" i="0">
                <a:solidFill>
                  <a:srgbClr val="000000"/>
                </a:solidFill>
                <a:latin typeface="Times New Roman" panose="02020503050405090304"/>
              </a:rPr>
              <a:t>gQ(ν) = gcl(ν) · WS(ν)</a:t>
            </a:r>
            <a:endParaRPr sz="1500" b="0" i="0">
              <a:solidFill>
                <a:srgbClr val="000000"/>
              </a:solidFill>
              <a:latin typeface="Times New Roman" panose="02020503050405090304"/>
            </a:endParaRPr>
          </a:p>
        </p:txBody>
      </p:sp>
      <p:sp>
        <p:nvSpPr>
          <p:cNvPr id="27" name="TextBox 26"/>
          <p:cNvSpPr txBox="1"/>
          <p:nvPr/>
        </p:nvSpPr>
        <p:spPr>
          <a:xfrm>
            <a:off x="5989320" y="2002790"/>
            <a:ext cx="4754880" cy="240665"/>
          </a:xfrm>
          <a:prstGeom prst="rect">
            <a:avLst/>
          </a:prstGeom>
          <a:noFill/>
        </p:spPr>
        <p:txBody>
          <a:bodyPr wrap="square" lIns="25400" tIns="12700" rIns="25400" bIns="12700">
            <a:spAutoFit/>
          </a:bodyPr>
          <a:lstStyle/>
          <a:p>
            <a:pPr algn="l"/>
            <a:r>
              <a:rPr sz="1150" b="1" i="0">
                <a:solidFill>
                  <a:srgbClr val="000000"/>
                </a:solidFill>
                <a:latin typeface="Arial" panose="020B0604020202090204"/>
              </a:rPr>
              <a:t>1</a:t>
            </a:r>
            <a:r>
              <a:rPr sz="1400" b="1" i="0">
                <a:solidFill>
                  <a:srgbClr val="000000"/>
                </a:solidFill>
                <a:latin typeface="Arial" panose="020B0604020202090204"/>
              </a:rPr>
              <a:t>.  MD Trajectory (298 K):</a:t>
            </a:r>
            <a:endParaRPr sz="1400" b="1" i="0">
              <a:solidFill>
                <a:srgbClr val="000000"/>
              </a:solidFill>
              <a:latin typeface="Arial" panose="020B0604020202090204"/>
            </a:endParaRPr>
          </a:p>
        </p:txBody>
      </p:sp>
      <p:sp>
        <p:nvSpPr>
          <p:cNvPr id="28" name="TextBox 27"/>
          <p:cNvSpPr txBox="1"/>
          <p:nvPr/>
        </p:nvSpPr>
        <p:spPr>
          <a:xfrm>
            <a:off x="6217920" y="2249805"/>
            <a:ext cx="5656580" cy="225425"/>
          </a:xfrm>
          <a:prstGeom prst="rect">
            <a:avLst/>
          </a:prstGeom>
          <a:noFill/>
        </p:spPr>
        <p:txBody>
          <a:bodyPr wrap="square" lIns="25400" tIns="12700" rIns="25400" bIns="12700">
            <a:spAutoFit/>
          </a:bodyPr>
          <a:lstStyle/>
          <a:p>
            <a:pPr algn="l"/>
            <a:r>
              <a:rPr sz="1300" b="0" i="0">
                <a:solidFill>
                  <a:srgbClr val="000000"/>
                </a:solidFill>
                <a:latin typeface="Arial" panose="020B0604020202090204"/>
              </a:rPr>
              <a:t>Perform classical MD simulation at 298 K to obtain atomic trajectories.</a:t>
            </a:r>
            <a:endParaRPr sz="1300" b="0" i="0">
              <a:solidFill>
                <a:srgbClr val="000000"/>
              </a:solidFill>
              <a:latin typeface="Arial" panose="020B0604020202090204"/>
            </a:endParaRPr>
          </a:p>
        </p:txBody>
      </p:sp>
      <p:sp>
        <p:nvSpPr>
          <p:cNvPr id="29" name="TextBox 28"/>
          <p:cNvSpPr txBox="1"/>
          <p:nvPr/>
        </p:nvSpPr>
        <p:spPr>
          <a:xfrm>
            <a:off x="5989320" y="2752597"/>
            <a:ext cx="4754880" cy="240665"/>
          </a:xfrm>
          <a:prstGeom prst="rect">
            <a:avLst/>
          </a:prstGeom>
          <a:noFill/>
        </p:spPr>
        <p:txBody>
          <a:bodyPr wrap="square" lIns="25400" tIns="12700" rIns="25400" bIns="12700">
            <a:spAutoFit/>
          </a:bodyPr>
          <a:lstStyle/>
          <a:p>
            <a:pPr algn="l"/>
            <a:r>
              <a:rPr sz="1400" b="1" i="0">
                <a:solidFill>
                  <a:srgbClr val="000000"/>
                </a:solidFill>
                <a:latin typeface="Arial" panose="020B0604020202090204"/>
              </a:rPr>
              <a:t>2.  Compute VACF:</a:t>
            </a:r>
            <a:endParaRPr sz="1400" b="1" i="0">
              <a:solidFill>
                <a:srgbClr val="000000"/>
              </a:solidFill>
              <a:latin typeface="Arial" panose="020B0604020202090204"/>
            </a:endParaRPr>
          </a:p>
        </p:txBody>
      </p:sp>
      <p:sp>
        <p:nvSpPr>
          <p:cNvPr id="30" name="TextBox 29"/>
          <p:cNvSpPr txBox="1"/>
          <p:nvPr/>
        </p:nvSpPr>
        <p:spPr>
          <a:xfrm>
            <a:off x="6217920" y="2999740"/>
            <a:ext cx="5547360" cy="225425"/>
          </a:xfrm>
          <a:prstGeom prst="rect">
            <a:avLst/>
          </a:prstGeom>
          <a:noFill/>
        </p:spPr>
        <p:txBody>
          <a:bodyPr wrap="square" lIns="25400" tIns="12700" rIns="25400" bIns="12700">
            <a:spAutoFit/>
          </a:bodyPr>
          <a:lstStyle/>
          <a:p>
            <a:pPr algn="l"/>
            <a:r>
              <a:rPr sz="1300" b="0" i="0">
                <a:solidFill>
                  <a:srgbClr val="000000"/>
                </a:solidFill>
                <a:latin typeface="Arial" panose="020B0604020202090204"/>
              </a:rPr>
              <a:t>Calculate the velocity autocorrelation function from the MD trajectories.</a:t>
            </a:r>
            <a:endParaRPr sz="1300" b="0" i="0">
              <a:solidFill>
                <a:srgbClr val="000000"/>
              </a:solidFill>
              <a:latin typeface="Arial" panose="020B0604020202090204"/>
            </a:endParaRPr>
          </a:p>
        </p:txBody>
      </p:sp>
      <p:sp>
        <p:nvSpPr>
          <p:cNvPr id="31" name="TextBox 30"/>
          <p:cNvSpPr txBox="1"/>
          <p:nvPr/>
        </p:nvSpPr>
        <p:spPr>
          <a:xfrm>
            <a:off x="5989320" y="3502405"/>
            <a:ext cx="4754880" cy="240665"/>
          </a:xfrm>
          <a:prstGeom prst="rect">
            <a:avLst/>
          </a:prstGeom>
          <a:noFill/>
        </p:spPr>
        <p:txBody>
          <a:bodyPr wrap="square" lIns="25400" tIns="12700" rIns="25400" bIns="12700">
            <a:spAutoFit/>
          </a:bodyPr>
          <a:lstStyle/>
          <a:p>
            <a:pPr algn="l"/>
            <a:r>
              <a:rPr sz="1400" b="1" i="0">
                <a:solidFill>
                  <a:srgbClr val="000000"/>
                </a:solidFill>
                <a:latin typeface="Arial" panose="020B0604020202090204"/>
              </a:rPr>
              <a:t>3.  Fourier Transform:</a:t>
            </a:r>
            <a:endParaRPr sz="1400" b="1" i="0">
              <a:solidFill>
                <a:srgbClr val="000000"/>
              </a:solidFill>
              <a:latin typeface="Arial" panose="020B0604020202090204"/>
            </a:endParaRPr>
          </a:p>
        </p:txBody>
      </p:sp>
      <p:sp>
        <p:nvSpPr>
          <p:cNvPr id="32" name="TextBox 31"/>
          <p:cNvSpPr txBox="1"/>
          <p:nvPr/>
        </p:nvSpPr>
        <p:spPr>
          <a:xfrm>
            <a:off x="6217920" y="3749293"/>
            <a:ext cx="5120640" cy="225425"/>
          </a:xfrm>
          <a:prstGeom prst="rect">
            <a:avLst/>
          </a:prstGeom>
          <a:noFill/>
        </p:spPr>
        <p:txBody>
          <a:bodyPr wrap="square" lIns="25400" tIns="12700" rIns="25400" bIns="12700">
            <a:spAutoFit/>
          </a:bodyPr>
          <a:lstStyle/>
          <a:p>
            <a:pPr algn="l"/>
            <a:r>
              <a:rPr sz="1300" b="0" i="0">
                <a:solidFill>
                  <a:srgbClr val="000000"/>
                </a:solidFill>
                <a:latin typeface="Arial" panose="020B0604020202090204"/>
              </a:rPr>
              <a:t>Apply Fourier transform to obtain the classical VDOS, gcl(ν).</a:t>
            </a:r>
            <a:endParaRPr sz="1300" b="0" i="0">
              <a:solidFill>
                <a:srgbClr val="000000"/>
              </a:solidFill>
              <a:latin typeface="Arial" panose="020B0604020202090204"/>
            </a:endParaRPr>
          </a:p>
        </p:txBody>
      </p:sp>
      <p:sp>
        <p:nvSpPr>
          <p:cNvPr id="33" name="TextBox 32"/>
          <p:cNvSpPr txBox="1"/>
          <p:nvPr/>
        </p:nvSpPr>
        <p:spPr>
          <a:xfrm>
            <a:off x="5989320" y="4252214"/>
            <a:ext cx="4754880" cy="240665"/>
          </a:xfrm>
          <a:prstGeom prst="rect">
            <a:avLst/>
          </a:prstGeom>
          <a:noFill/>
        </p:spPr>
        <p:txBody>
          <a:bodyPr wrap="square" lIns="25400" tIns="12700" rIns="25400" bIns="12700">
            <a:spAutoFit/>
          </a:bodyPr>
          <a:lstStyle/>
          <a:p>
            <a:pPr algn="l"/>
            <a:r>
              <a:rPr sz="1400" b="1" i="0">
                <a:solidFill>
                  <a:srgbClr val="000000"/>
                </a:solidFill>
                <a:latin typeface="Arial" panose="020B0604020202090204"/>
              </a:rPr>
              <a:t>4.  Quantum Correction:</a:t>
            </a:r>
            <a:endParaRPr sz="1400" b="1" i="0">
              <a:solidFill>
                <a:srgbClr val="000000"/>
              </a:solidFill>
              <a:latin typeface="Arial" panose="020B0604020202090204"/>
            </a:endParaRPr>
          </a:p>
        </p:txBody>
      </p:sp>
      <p:sp>
        <p:nvSpPr>
          <p:cNvPr id="34" name="TextBox 33"/>
          <p:cNvSpPr txBox="1"/>
          <p:nvPr/>
        </p:nvSpPr>
        <p:spPr>
          <a:xfrm>
            <a:off x="6217920" y="4498975"/>
            <a:ext cx="5120640" cy="225425"/>
          </a:xfrm>
          <a:prstGeom prst="rect">
            <a:avLst/>
          </a:prstGeom>
          <a:noFill/>
        </p:spPr>
        <p:txBody>
          <a:bodyPr wrap="square" lIns="25400" tIns="12700" rIns="25400" bIns="12700">
            <a:spAutoFit/>
          </a:bodyPr>
          <a:lstStyle/>
          <a:p>
            <a:pPr algn="l"/>
            <a:r>
              <a:rPr sz="1300" b="0" i="0">
                <a:solidFill>
                  <a:srgbClr val="000000"/>
                </a:solidFill>
                <a:latin typeface="Arial" panose="020B0604020202090204"/>
              </a:rPr>
              <a:t>Compute the quantum weight function WS(ν) using x = hν/kBT.</a:t>
            </a:r>
            <a:endParaRPr sz="1300" b="0" i="0">
              <a:solidFill>
                <a:srgbClr val="000000"/>
              </a:solidFill>
              <a:latin typeface="Arial" panose="020B0604020202090204"/>
            </a:endParaRPr>
          </a:p>
        </p:txBody>
      </p:sp>
      <p:sp>
        <p:nvSpPr>
          <p:cNvPr id="35" name="TextBox 34"/>
          <p:cNvSpPr txBox="1"/>
          <p:nvPr/>
        </p:nvSpPr>
        <p:spPr>
          <a:xfrm>
            <a:off x="5989320" y="5002022"/>
            <a:ext cx="4754880" cy="240665"/>
          </a:xfrm>
          <a:prstGeom prst="rect">
            <a:avLst/>
          </a:prstGeom>
          <a:noFill/>
        </p:spPr>
        <p:txBody>
          <a:bodyPr wrap="square" lIns="25400" tIns="12700" rIns="25400" bIns="12700">
            <a:spAutoFit/>
          </a:bodyPr>
          <a:lstStyle/>
          <a:p>
            <a:pPr algn="l"/>
            <a:r>
              <a:rPr sz="1400" b="1" i="0">
                <a:solidFill>
                  <a:srgbClr val="000000"/>
                </a:solidFill>
                <a:latin typeface="Arial" panose="020B0604020202090204"/>
              </a:rPr>
              <a:t>5.  Quantum-Corrected VDOS:</a:t>
            </a:r>
            <a:endParaRPr sz="1400" b="1" i="0">
              <a:solidFill>
                <a:srgbClr val="000000"/>
              </a:solidFill>
              <a:latin typeface="Arial" panose="020B0604020202090204"/>
            </a:endParaRPr>
          </a:p>
        </p:txBody>
      </p:sp>
      <p:sp>
        <p:nvSpPr>
          <p:cNvPr id="36" name="TextBox 35"/>
          <p:cNvSpPr txBox="1"/>
          <p:nvPr/>
        </p:nvSpPr>
        <p:spPr>
          <a:xfrm>
            <a:off x="6217920" y="5248910"/>
            <a:ext cx="5120640" cy="225425"/>
          </a:xfrm>
          <a:prstGeom prst="rect">
            <a:avLst/>
          </a:prstGeom>
          <a:noFill/>
        </p:spPr>
        <p:txBody>
          <a:bodyPr wrap="square" lIns="25400" tIns="12700" rIns="25400" bIns="12700">
            <a:spAutoFit/>
          </a:bodyPr>
          <a:lstStyle/>
          <a:p>
            <a:pPr algn="l"/>
            <a:r>
              <a:rPr sz="1300" b="0" i="0">
                <a:solidFill>
                  <a:srgbClr val="000000"/>
                </a:solidFill>
                <a:latin typeface="Arial" panose="020B0604020202090204"/>
              </a:rPr>
              <a:t>Obtain the quantum-corrected VDOS, gQ(ν) = gcl(ν) · WS(ν).</a:t>
            </a:r>
            <a:endParaRPr sz="1300" b="0" i="0">
              <a:solidFill>
                <a:srgbClr val="000000"/>
              </a:solidFill>
              <a:latin typeface="Arial" panose="020B0604020202090204"/>
            </a:endParaRPr>
          </a:p>
        </p:txBody>
      </p:sp>
      <p:sp>
        <p:nvSpPr>
          <p:cNvPr id="38" name="TextBox 37"/>
          <p:cNvSpPr txBox="1"/>
          <p:nvPr/>
        </p:nvSpPr>
        <p:spPr>
          <a:xfrm>
            <a:off x="6080760" y="5861558"/>
            <a:ext cx="1828800" cy="240665"/>
          </a:xfrm>
          <a:prstGeom prst="rect">
            <a:avLst/>
          </a:prstGeom>
          <a:noFill/>
        </p:spPr>
        <p:txBody>
          <a:bodyPr wrap="square" lIns="25400" tIns="12700" rIns="25400" bIns="12700">
            <a:spAutoFit/>
          </a:bodyPr>
          <a:lstStyle/>
          <a:p>
            <a:pPr algn="l"/>
            <a:r>
              <a:rPr sz="1400" b="1" i="0">
                <a:solidFill>
                  <a:srgbClr val="081F41"/>
                </a:solidFill>
                <a:latin typeface="Arial" panose="020B0604020202090204"/>
              </a:rPr>
              <a:t>Physical Meaning:</a:t>
            </a:r>
            <a:endParaRPr sz="1400" b="1" i="0">
              <a:solidFill>
                <a:srgbClr val="081F41"/>
              </a:solidFill>
              <a:latin typeface="Arial" panose="020B0604020202090204"/>
            </a:endParaRPr>
          </a:p>
        </p:txBody>
      </p:sp>
      <p:sp>
        <p:nvSpPr>
          <p:cNvPr id="39" name="TextBox 38"/>
          <p:cNvSpPr txBox="1"/>
          <p:nvPr/>
        </p:nvSpPr>
        <p:spPr>
          <a:xfrm>
            <a:off x="6080760" y="6117590"/>
            <a:ext cx="5493385" cy="410210"/>
          </a:xfrm>
          <a:prstGeom prst="rect">
            <a:avLst/>
          </a:prstGeom>
          <a:noFill/>
        </p:spPr>
        <p:txBody>
          <a:bodyPr wrap="square" lIns="25400" tIns="12700" rIns="25400" bIns="12700">
            <a:noAutofit/>
          </a:bodyPr>
          <a:lstStyle/>
          <a:p>
            <a:pPr algn="l"/>
            <a:r>
              <a:rPr sz="1300" b="0" i="0">
                <a:solidFill>
                  <a:srgbClr val="000000"/>
                </a:solidFill>
                <a:latin typeface="Arial" panose="020B0604020202090204"/>
              </a:rPr>
              <a:t>Quantum correction suppresses the unphysical overpopulation of high-frequency modes in classical MD, enabling accurate thermodynamic calculations.</a:t>
            </a:r>
            <a:endParaRPr sz="1300" b="0" i="0">
              <a:solidFill>
                <a:srgbClr val="000000"/>
              </a:solidFill>
              <a:latin typeface="Arial" panose="020B0604020202090204"/>
            </a:endParaRPr>
          </a:p>
        </p:txBody>
      </p:sp>
      <p:pic>
        <p:nvPicPr>
          <p:cNvPr id="40" name="图片 39"/>
          <p:cNvPicPr>
            <a:picLocks noChangeAspect="1"/>
          </p:cNvPicPr>
          <p:nvPr/>
        </p:nvPicPr>
        <p:blipFill>
          <a:blip r:embed="rId2"/>
          <a:stretch>
            <a:fillRect/>
          </a:stretch>
        </p:blipFill>
        <p:spPr>
          <a:xfrm>
            <a:off x="685800" y="2557145"/>
            <a:ext cx="2734945" cy="5086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VACF &amp; </a:t>
            </a:r>
            <a:r>
              <a:rPr lang="en-US" altLang="zh-CN" dirty="0" err="1"/>
              <a:t>Vdos</a:t>
            </a:r>
            <a:endParaRPr lang="en-US" altLang="zh-CN" dirty="0"/>
          </a:p>
        </p:txBody>
      </p:sp>
      <p:sp>
        <p:nvSpPr>
          <p:cNvPr id="3" name="内容占位符 2"/>
          <p:cNvSpPr>
            <a:spLocks noGrp="1"/>
          </p:cNvSpPr>
          <p:nvPr>
            <p:ph idx="1"/>
          </p:nvPr>
        </p:nvSpPr>
        <p:spPr/>
        <p:txBody>
          <a:bodyPr/>
          <a:lstStyle/>
          <a:p>
            <a:pPr marL="0" indent="0">
              <a:buNone/>
            </a:pPr>
            <a:r>
              <a:rPr lang="en-US" altLang="zh-CN" dirty="0"/>
              <a:t>Velocity autocorrelation function</a:t>
            </a:r>
            <a:endParaRPr lang="en-US" altLang="zh-CN" dirty="0"/>
          </a:p>
          <a:p>
            <a:pPr marL="0" indent="0">
              <a:buNone/>
            </a:pPr>
            <a:endParaRPr lang="en-US" altLang="zh-CN" dirty="0"/>
          </a:p>
          <a:p>
            <a:pPr marL="0" indent="0">
              <a:buNone/>
            </a:pPr>
            <a:r>
              <a:rPr lang="en-US" altLang="zh-CN" sz="2000" dirty="0"/>
              <a:t>Definition: Measures how atomic velocity correlates with itself over time, describes atomic vibrational dynamics</a:t>
            </a:r>
            <a:endParaRPr lang="en-US" altLang="zh-CN" sz="2000" dirty="0"/>
          </a:p>
          <a:p>
            <a:pPr marL="0" indent="0">
              <a:buNone/>
            </a:pPr>
            <a:endParaRPr lang="en-US" altLang="zh-CN" sz="2000" dirty="0"/>
          </a:p>
          <a:p>
            <a:pPr marL="0" indent="0">
              <a:buNone/>
            </a:pPr>
            <a:r>
              <a:rPr lang="en-US" altLang="zh-CN" dirty="0"/>
              <a:t>Vibrational density od state</a:t>
            </a:r>
            <a:endParaRPr lang="en-US" altLang="zh-CN" dirty="0"/>
          </a:p>
          <a:p>
            <a:pPr marL="0" indent="0">
              <a:buNone/>
            </a:pPr>
            <a:r>
              <a:rPr lang="en-US" altLang="zh-CN" sz="2000" dirty="0"/>
              <a:t>Obtained from Fourier Transform of VACF</a:t>
            </a:r>
            <a:endParaRPr lang="en-US" altLang="zh-CN" sz="2000" dirty="0"/>
          </a:p>
          <a:p>
            <a:pPr marL="0" indent="0">
              <a:buNone/>
            </a:pPr>
            <a:endParaRPr lang="en-US" altLang="zh-CN" sz="2000" dirty="0"/>
          </a:p>
          <a:p>
            <a:pPr marL="0" indent="0">
              <a:buNone/>
            </a:pPr>
            <a:endParaRPr lang="en-US" altLang="zh-CN" sz="2000" dirty="0"/>
          </a:p>
          <a:p>
            <a:pPr marL="0" indent="0">
              <a:buNone/>
            </a:pPr>
            <a:r>
              <a:rPr lang="en-US" altLang="zh-CN" sz="2000" dirty="0"/>
              <a:t>Definition; Represent the distribution of vibrational frequencies in the system</a:t>
            </a: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dirty="0"/>
          </a:p>
          <a:p>
            <a:pPr marL="0" indent="0">
              <a:buNone/>
            </a:pPr>
            <a:endParaRPr lang="en-US" altLang="zh-CN" dirty="0"/>
          </a:p>
        </p:txBody>
      </p:sp>
      <p:pic>
        <p:nvPicPr>
          <p:cNvPr id="6" name="图片 5" descr="截屏2026-03-06 02.30.46"/>
          <p:cNvPicPr>
            <a:picLocks noChangeAspect="1"/>
          </p:cNvPicPr>
          <p:nvPr/>
        </p:nvPicPr>
        <p:blipFill>
          <a:blip r:embed="rId1"/>
          <a:stretch>
            <a:fillRect/>
          </a:stretch>
        </p:blipFill>
        <p:spPr>
          <a:xfrm>
            <a:off x="929005" y="2289175"/>
            <a:ext cx="2120900" cy="596900"/>
          </a:xfrm>
          <a:prstGeom prst="rect">
            <a:avLst/>
          </a:prstGeom>
        </p:spPr>
      </p:pic>
      <p:pic>
        <p:nvPicPr>
          <p:cNvPr id="5" name="图片 4" descr="图示&#10;&#10;AI 生成的内容可能不正确。"/>
          <p:cNvPicPr>
            <a:picLocks noChangeAspect="1"/>
          </p:cNvPicPr>
          <p:nvPr/>
        </p:nvPicPr>
        <p:blipFill>
          <a:blip r:embed="rId2"/>
          <a:stretch>
            <a:fillRect/>
          </a:stretch>
        </p:blipFill>
        <p:spPr>
          <a:xfrm>
            <a:off x="838200" y="4743904"/>
            <a:ext cx="3048000" cy="762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Vdos</a:t>
            </a:r>
            <a:r>
              <a:rPr kumimoji="1" lang="en-US" altLang="zh-CN" dirty="0"/>
              <a:t> for case 2</a:t>
            </a:r>
            <a:endParaRPr kumimoji="1" lang="zh-CN" altLang="en-US" dirty="0"/>
          </a:p>
        </p:txBody>
      </p:sp>
      <p:pic>
        <p:nvPicPr>
          <p:cNvPr id="7" name="图片 6" descr="图表, 折线图&#10;&#10;AI 生成的内容可能不正确。"/>
          <p:cNvPicPr>
            <a:picLocks noChangeAspect="1"/>
          </p:cNvPicPr>
          <p:nvPr/>
        </p:nvPicPr>
        <p:blipFill>
          <a:blip r:embed="rId1"/>
          <a:stretch>
            <a:fillRect/>
          </a:stretch>
        </p:blipFill>
        <p:spPr>
          <a:xfrm>
            <a:off x="6096000" y="1578882"/>
            <a:ext cx="5969000" cy="4457700"/>
          </a:xfrm>
          <a:prstGeom prst="rect">
            <a:avLst/>
          </a:prstGeom>
        </p:spPr>
      </p:pic>
      <p:pic>
        <p:nvPicPr>
          <p:cNvPr id="4" name="内容占位符 3"/>
          <p:cNvPicPr>
            <a:picLocks noChangeAspect="1"/>
          </p:cNvPicPr>
          <p:nvPr>
            <p:ph idx="1"/>
          </p:nvPr>
        </p:nvPicPr>
        <p:blipFill>
          <a:blip r:embed="rId2"/>
          <a:stretch>
            <a:fillRect/>
          </a:stretch>
        </p:blipFill>
        <p:spPr>
          <a:xfrm>
            <a:off x="423545" y="1578610"/>
            <a:ext cx="5952490" cy="43516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a:xfrm>
            <a:off x="638881" y="670218"/>
            <a:ext cx="10909640" cy="1065836"/>
          </a:xfrm>
        </p:spPr>
        <p:txBody>
          <a:bodyPr vert="horz" lIns="91440" tIns="45720" rIns="91440" bIns="45720" rtlCol="0" anchor="ctr">
            <a:normAutofit/>
          </a:bodyPr>
          <a:lstStyle/>
          <a:p>
            <a:pPr algn="ctr"/>
            <a:r>
              <a:rPr kumimoji="1" lang="en-US" altLang="zh-CN" sz="6600"/>
              <a:t>Vdos for case 2</a:t>
            </a:r>
            <a:endParaRPr kumimoji="1" lang="en-US" altLang="zh-CN" sz="6600"/>
          </a:p>
        </p:txBody>
      </p:sp>
      <p:sp>
        <p:nvSpPr>
          <p:cNvPr id="16" name="sketch line"/>
          <p:cNvSpPr>
            <a:spLocks noGrp="1" noRot="1" noChangeAspect="1" noMove="1" noResize="1" noEditPoints="1" noAdjustHandles="1" noChangeArrowheads="1" noChangeShapeType="1" noTextEdit="1"/>
          </p:cNvSpPr>
          <p:nvPr/>
        </p:nvSpPr>
        <p:spPr>
          <a:xfrm>
            <a:off x="3389376" y="1800088"/>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内容占位符 4" descr="图表&#10;&#10;AI 生成的内容可能不正确。"/>
          <p:cNvPicPr>
            <a:picLocks noGrp="1" noChangeAspect="1"/>
          </p:cNvPicPr>
          <p:nvPr>
            <p:ph idx="1"/>
          </p:nvPr>
        </p:nvPicPr>
        <p:blipFill>
          <a:blip r:embed="rId1"/>
          <a:stretch>
            <a:fillRect/>
          </a:stretch>
        </p:blipFill>
        <p:spPr>
          <a:xfrm>
            <a:off x="292608" y="2996393"/>
            <a:ext cx="3758184" cy="2846823"/>
          </a:xfrm>
          <a:prstGeom prst="rect">
            <a:avLst/>
          </a:prstGeom>
        </p:spPr>
      </p:pic>
      <p:pic>
        <p:nvPicPr>
          <p:cNvPr id="9" name="图片 8" descr="图表, 直方图&#10;&#10;AI 生成的内容可能不正确。"/>
          <p:cNvPicPr>
            <a:picLocks noChangeAspect="1"/>
          </p:cNvPicPr>
          <p:nvPr/>
        </p:nvPicPr>
        <p:blipFill>
          <a:blip r:embed="rId2"/>
          <a:stretch>
            <a:fillRect/>
          </a:stretch>
        </p:blipFill>
        <p:spPr>
          <a:xfrm>
            <a:off x="4216908" y="3015183"/>
            <a:ext cx="3758184" cy="2809242"/>
          </a:xfrm>
          <a:prstGeom prst="rect">
            <a:avLst/>
          </a:prstGeom>
        </p:spPr>
      </p:pic>
      <p:pic>
        <p:nvPicPr>
          <p:cNvPr id="7" name="图片 6" descr="图表, 直方图&#10;&#10;AI 生成的内容可能不正确。"/>
          <p:cNvPicPr>
            <a:picLocks noChangeAspect="1"/>
          </p:cNvPicPr>
          <p:nvPr/>
        </p:nvPicPr>
        <p:blipFill>
          <a:blip r:embed="rId3"/>
          <a:stretch>
            <a:fillRect/>
          </a:stretch>
        </p:blipFill>
        <p:spPr>
          <a:xfrm>
            <a:off x="8141208" y="3048068"/>
            <a:ext cx="3758184" cy="27434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Vdos</a:t>
            </a:r>
            <a:r>
              <a:rPr kumimoji="1" lang="en-US" altLang="zh-CN" dirty="0"/>
              <a:t> for case 1</a:t>
            </a:r>
            <a:endParaRPr kumimoji="1" lang="zh-CN" altLang="en-US" dirty="0"/>
          </a:p>
        </p:txBody>
      </p:sp>
      <p:pic>
        <p:nvPicPr>
          <p:cNvPr id="5" name="内容占位符 4" descr="图表, 折线图&#10;&#10;AI 生成的内容可能不正确。"/>
          <p:cNvPicPr>
            <a:picLocks noGrp="1" noChangeAspect="1"/>
          </p:cNvPicPr>
          <p:nvPr>
            <p:ph idx="1"/>
          </p:nvPr>
        </p:nvPicPr>
        <p:blipFill>
          <a:blip r:embed="rId1"/>
          <a:stretch>
            <a:fillRect/>
          </a:stretch>
        </p:blipFill>
        <p:spPr>
          <a:xfrm>
            <a:off x="120123" y="1690688"/>
            <a:ext cx="5797698" cy="4351338"/>
          </a:xfrm>
        </p:spPr>
      </p:pic>
      <p:pic>
        <p:nvPicPr>
          <p:cNvPr id="7" name="图片 6" descr="图表, 折线图&#10;&#10;AI 生成的内容可能不正确。"/>
          <p:cNvPicPr>
            <a:picLocks noChangeAspect="1"/>
          </p:cNvPicPr>
          <p:nvPr/>
        </p:nvPicPr>
        <p:blipFill>
          <a:blip r:embed="rId2"/>
          <a:stretch>
            <a:fillRect/>
          </a:stretch>
        </p:blipFill>
        <p:spPr>
          <a:xfrm>
            <a:off x="6128277" y="1690688"/>
            <a:ext cx="5943600" cy="44577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Perturbation</a:t>
            </a:r>
            <a:r>
              <a:rPr kumimoji="1" lang="zh-CN" altLang="en-US" dirty="0"/>
              <a:t> </a:t>
            </a:r>
            <a:r>
              <a:rPr kumimoji="1" lang="en-US" altLang="zh-CN" dirty="0"/>
              <a:t>graph</a:t>
            </a:r>
            <a:endParaRPr kumimoji="1" lang="zh-CN" altLang="en-US" dirty="0"/>
          </a:p>
        </p:txBody>
      </p:sp>
      <p:pic>
        <p:nvPicPr>
          <p:cNvPr id="5" name="内容占位符 4" descr="图表, 直方图&#10;&#10;AI 生成的内容可能不正确。"/>
          <p:cNvPicPr>
            <a:picLocks noGrp="1" noChangeAspect="1"/>
          </p:cNvPicPr>
          <p:nvPr>
            <p:ph idx="1"/>
          </p:nvPr>
        </p:nvPicPr>
        <p:blipFill>
          <a:blip r:embed="rId1"/>
          <a:stretch>
            <a:fillRect/>
          </a:stretch>
        </p:blipFill>
        <p:spPr>
          <a:xfrm>
            <a:off x="838199" y="1356441"/>
            <a:ext cx="6622143" cy="4966607"/>
          </a:xfrm>
        </p:spPr>
      </p:pic>
      <p:pic>
        <p:nvPicPr>
          <p:cNvPr id="7" name="图片 6" descr="图片包含 信件&#10;&#10;AI 生成的内容可能不正确。"/>
          <p:cNvPicPr>
            <a:picLocks noChangeAspect="1"/>
          </p:cNvPicPr>
          <p:nvPr/>
        </p:nvPicPr>
        <p:blipFill>
          <a:blip r:embed="rId2"/>
          <a:stretch>
            <a:fillRect/>
          </a:stretch>
        </p:blipFill>
        <p:spPr>
          <a:xfrm>
            <a:off x="8022771" y="1690688"/>
            <a:ext cx="2768600" cy="939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endParaRPr lang="zh-CN" altLang="en-US"/>
          </a:p>
        </p:txBody>
      </p:sp>
      <p:pic>
        <p:nvPicPr>
          <p:cNvPr id="4" name="图片 3" descr="a5400bb83c60bedb6f71fb869da42138"/>
          <p:cNvPicPr>
            <a:picLocks noChangeAspect="1"/>
          </p:cNvPicPr>
          <p:nvPr/>
        </p:nvPicPr>
        <p:blipFill>
          <a:blip r:embed="rId1"/>
          <a:stretch>
            <a:fillRect/>
          </a:stretch>
        </p:blipFill>
        <p:spPr>
          <a:xfrm>
            <a:off x="0" y="1133475"/>
            <a:ext cx="6076950" cy="4591050"/>
          </a:xfrm>
          <a:prstGeom prst="rect">
            <a:avLst/>
          </a:prstGeom>
        </p:spPr>
      </p:pic>
      <p:pic>
        <p:nvPicPr>
          <p:cNvPr id="5" name="图片 4" descr="911656163e0ecaad57a60ba40560564a"/>
          <p:cNvPicPr>
            <a:picLocks noChangeAspect="1"/>
          </p:cNvPicPr>
          <p:nvPr/>
        </p:nvPicPr>
        <p:blipFill>
          <a:blip r:embed="rId2"/>
          <a:stretch>
            <a:fillRect/>
          </a:stretch>
        </p:blipFill>
        <p:spPr>
          <a:xfrm>
            <a:off x="6076950" y="1190625"/>
            <a:ext cx="6038850" cy="453390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6022</Words>
  <Application>WPS 演示</Application>
  <PresentationFormat>宽屏</PresentationFormat>
  <Paragraphs>314</Paragraphs>
  <Slides>21</Slides>
  <Notes>11</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21</vt:i4>
      </vt:variant>
    </vt:vector>
  </HeadingPairs>
  <TitlesOfParts>
    <vt:vector size="49" baseType="lpstr">
      <vt:lpstr>Arial</vt:lpstr>
      <vt:lpstr>宋体</vt:lpstr>
      <vt:lpstr>Wingdings</vt:lpstr>
      <vt:lpstr>Calibri</vt:lpstr>
      <vt:lpstr>Avenir Next LT Pro</vt:lpstr>
      <vt:lpstr>等线 Light</vt:lpstr>
      <vt:lpstr>苹方-简</vt:lpstr>
      <vt:lpstr>等线</vt:lpstr>
      <vt:lpstr>微软雅黑</vt:lpstr>
      <vt:lpstr>汉仪旗黑</vt:lpstr>
      <vt:lpstr>宋体</vt:lpstr>
      <vt:lpstr>Arial Unicode MS</vt:lpstr>
      <vt:lpstr>Helvetica Neue</vt:lpstr>
      <vt:lpstr>宋体-简</vt:lpstr>
      <vt:lpstr>Thonburi</vt:lpstr>
      <vt:lpstr>Avenir Next LT Pro</vt:lpstr>
      <vt:lpstr>Calibri</vt:lpstr>
      <vt:lpstr>Aptos Display</vt:lpstr>
      <vt:lpstr>Aptos Display</vt:lpstr>
      <vt:lpstr>Aptos Display</vt:lpstr>
      <vt:lpstr>Aptos</vt:lpstr>
      <vt:lpstr>Aptos</vt:lpstr>
      <vt:lpstr>Aptos</vt:lpstr>
      <vt:lpstr>Arial</vt:lpstr>
      <vt:lpstr>Times New Roman</vt:lpstr>
      <vt:lpstr>Apple Symbols</vt:lpstr>
      <vt:lpstr>DejaVu Math TeX Gyre</vt:lpstr>
      <vt:lpstr>Office 主题​​</vt:lpstr>
      <vt:lpstr>Investigating Defects in REBCO Using DFT and Machine Learning Potentials</vt:lpstr>
      <vt:lpstr>PowerPoint 演示文稿</vt:lpstr>
      <vt:lpstr>PowerPoint 演示文稿</vt:lpstr>
      <vt:lpstr>PowerPoint 演示文稿</vt:lpstr>
      <vt:lpstr>PowerPoint 演示文稿</vt:lpstr>
      <vt:lpstr>Machine learning potential</vt:lpstr>
      <vt:lpstr>Validation strategy</vt:lpstr>
      <vt:lpstr>DFT vs MACE</vt:lpstr>
      <vt:lpstr>DFT vs MACE</vt:lpstr>
      <vt:lpstr>MD set up</vt:lpstr>
      <vt:lpstr>Frankel defects</vt:lpstr>
      <vt:lpstr>Case 1</vt:lpstr>
      <vt:lpstr>Case 2</vt:lpstr>
      <vt:lpstr>PowerPoint 演示文稿</vt:lpstr>
      <vt:lpstr>PowerPoint 演示文稿</vt:lpstr>
      <vt:lpstr>VACF &amp; Vdos</vt:lpstr>
      <vt:lpstr>Vdos for case 2</vt:lpstr>
      <vt:lpstr>Vdos for case 2</vt:lpstr>
      <vt:lpstr>Vdos for case 1</vt:lpstr>
      <vt:lpstr>Perturbation graph</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 Li</dc:creator>
  <cp:lastModifiedBy>啧</cp:lastModifiedBy>
  <cp:revision>11</cp:revision>
  <dcterms:created xsi:type="dcterms:W3CDTF">2026-05-07T09:09:31Z</dcterms:created>
  <dcterms:modified xsi:type="dcterms:W3CDTF">2026-05-07T09:09:31Z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5AB3124531B36374EC069F691B2B6BDA_43</vt:lpwstr>
  </property>
  <property fmtid="{D5CDD505-2E9C-101B-9397-08002B2CF9AE}" pid="3" name="KSOProductBuildVer">
    <vt:lpwstr>2052-12.1.25869.25869</vt:lpwstr>
  </property>
</Properties>
</file>