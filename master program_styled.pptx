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71" r:id="rId6"/>
    <p:sldId id="258" r:id="rId7"/>
    <p:sldId id="272" r:id="rId8"/>
    <p:sldId id="273" r:id="rId9"/>
    <p:sldId id="274" r:id="rId10"/>
    <p:sldId id="262" r:id="rId11"/>
    <p:sldId id="270" r:id="rId12"/>
    <p:sldId id="275" r:id="rId13"/>
    <p:sldId id="276" r:id="rId14"/>
    <p:sldId id="269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52"/>
  </p:normalViewPr>
  <p:slideViewPr>
    <p:cSldViewPr snapToGrid="0">
      <p:cViewPr varScale="1">
        <p:scale>
          <a:sx n="120" d="100"/>
          <a:sy n="120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High-temperature superconductors like REBCO are very important for next-generation fusion reactors, because they can generate the extremely strong magnetic fields needed to confine plasma.</a:t>
            </a:r>
            <a:endParaRPr kumimoji="1" lang="en-GB" altLang="zh-CN" dirty="0"/>
          </a:p>
          <a:p>
            <a:r>
              <a:rPr kumimoji="1" lang="en-GB" altLang="zh-CN" dirty="0"/>
              <a:t>The reactor will generate neutrons, but these neutrons will also damage the material in magnets and other materials in reactor, and REBCO is very sensitive to the damage. 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-GB" altLang="zh-CN" dirty="0"/>
              <a:t>Only need about 4 displacement per 1000 atoms in REBCO to drop critical temperature 10% down. Which means there are many defects in the irradiated REBCO, and the irradiated REBCO no longer have superconductivity. Previous research have pointed out the defect type in irradiated REBCO , mainly O vacancy in Cu O plane, O interstitial, and Frankel defects, and how these defects affect the superconductivity of the material.</a:t>
            </a:r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However, most of these studies are based on static observations, such as using microscopy to observe irradiated REBCO. We are also interested in the dynamic </a:t>
            </a:r>
            <a:r>
              <a:rPr kumimoji="1" lang="en-GB" altLang="zh-CN" dirty="0" err="1"/>
              <a:t>behaviour</a:t>
            </a:r>
            <a:r>
              <a:rPr kumimoji="1" lang="en-GB" altLang="zh-CN" dirty="0"/>
              <a:t> of these defects, for example how defects interact after they are formed, and whether vacancies and interstitials influence each other</a:t>
            </a:r>
            <a:r>
              <a:rPr kumimoji="1" lang="en-US" altLang="zh-CN" dirty="0"/>
              <a:t>.</a:t>
            </a:r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Therefore, we want to study </a:t>
            </a:r>
            <a:r>
              <a:rPr lang="en-GB" altLang="zh-CN" b="1" dirty="0"/>
              <a:t>REBCO</a:t>
            </a:r>
            <a:r>
              <a:rPr lang="en-GB" altLang="zh-CN" dirty="0"/>
              <a:t> using </a:t>
            </a:r>
            <a:r>
              <a:rPr lang="en-GB" altLang="zh-CN" b="1" dirty="0"/>
              <a:t>molecular dynamics (MD)</a:t>
            </a:r>
            <a:r>
              <a:rPr lang="en-GB" altLang="zh-CN" dirty="0"/>
              <a:t> in order to understand the </a:t>
            </a:r>
            <a:r>
              <a:rPr lang="en-GB" altLang="zh-CN" dirty="0" err="1"/>
              <a:t>behaviour</a:t>
            </a:r>
            <a:r>
              <a:rPr lang="en-GB" altLang="zh-CN" dirty="0"/>
              <a:t> of irradiation-induced defects at the atomic scale.</a:t>
            </a:r>
            <a:endParaRPr lang="en-GB" altLang="zh-CN" dirty="0"/>
          </a:p>
          <a:p>
            <a:r>
              <a:rPr lang="en-GB" altLang="zh-CN" dirty="0"/>
              <a:t>However, although traditional </a:t>
            </a:r>
            <a:r>
              <a:rPr lang="en-GB" altLang="zh-CN" b="1" dirty="0"/>
              <a:t>DFT-based MD</a:t>
            </a:r>
            <a:r>
              <a:rPr lang="en-GB" altLang="zh-CN" dirty="0"/>
              <a:t> is highly accurate, it is also computationally very expensive. For a complex system like </a:t>
            </a:r>
            <a:r>
              <a:rPr lang="en-GB" altLang="zh-CN" b="1" dirty="0"/>
              <a:t>REBCO</a:t>
            </a:r>
            <a:r>
              <a:rPr lang="en-GB" altLang="zh-CN" dirty="0"/>
              <a:t>, especially when a large </a:t>
            </a:r>
            <a:r>
              <a:rPr lang="en-GB" altLang="zh-CN" b="1" dirty="0"/>
              <a:t>supercell</a:t>
            </a:r>
            <a:r>
              <a:rPr lang="en-GB" altLang="zh-CN" dirty="0"/>
              <a:t> is needed to model defects, the simulation becomes far too slow. </a:t>
            </a:r>
            <a:endParaRPr lang="en-GB" altLang="zh-CN" dirty="0"/>
          </a:p>
          <a:p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dirty="0"/>
              <a:t>By using </a:t>
            </a:r>
            <a:r>
              <a:rPr lang="en-GB" altLang="zh-CN" b="1" dirty="0"/>
              <a:t>ASE</a:t>
            </a:r>
            <a:r>
              <a:rPr lang="en-GB" altLang="zh-CN" dirty="0"/>
              <a:t>, it is much easier to run </a:t>
            </a:r>
            <a:r>
              <a:rPr lang="en-GB" altLang="zh-CN" b="1" dirty="0"/>
              <a:t>MD</a:t>
            </a:r>
            <a:r>
              <a:rPr lang="en-GB" altLang="zh-CN" dirty="0"/>
              <a:t> simulations However, due to the complicated structure, conventional empirical potentials have limitations  like </a:t>
            </a:r>
            <a:r>
              <a:rPr lang="en-GB" altLang="zh-CN" b="1" dirty="0" err="1"/>
              <a:t>Chaplot</a:t>
            </a:r>
            <a:r>
              <a:rPr lang="en-GB" altLang="zh-CN" b="1" dirty="0"/>
              <a:t> potential</a:t>
            </a:r>
            <a:r>
              <a:rPr lang="en-GB" altLang="zh-CN" dirty="0"/>
              <a:t>, it was developed for more ideal and regular crystal environments. In particular, after irradiation, </a:t>
            </a:r>
            <a:r>
              <a:rPr lang="en-GB" altLang="zh-CN" b="1" dirty="0"/>
              <a:t>REBCO</a:t>
            </a:r>
            <a:r>
              <a:rPr lang="en-GB" altLang="zh-CN" dirty="0"/>
              <a:t> shows significant extension along the </a:t>
            </a:r>
            <a:r>
              <a:rPr lang="en-GB" altLang="zh-CN" b="1" dirty="0"/>
              <a:t>c axis</a:t>
            </a:r>
            <a:r>
              <a:rPr lang="en-GB" altLang="zh-CN" dirty="0"/>
              <a:t>, and these traditional </a:t>
            </a:r>
            <a:r>
              <a:rPr lang="en-GB" altLang="zh-CN" b="1" dirty="0"/>
              <a:t>potentials</a:t>
            </a:r>
            <a:r>
              <a:rPr lang="en-GB" altLang="zh-CN" dirty="0"/>
              <a:t> often struggle to describe such large deformation. </a:t>
            </a:r>
            <a:br>
              <a:rPr lang="en-GB" altLang="zh-CN" dirty="0"/>
            </a:br>
            <a:br>
              <a:rPr lang="en-GB" altLang="zh-CN" dirty="0"/>
            </a:br>
            <a:r>
              <a:rPr lang="en-GB" altLang="zh-CN" dirty="0"/>
              <a:t>So ,we choose MACE. MACE is a machine learning potential, </a:t>
            </a:r>
            <a:r>
              <a:rPr lang="en-GB" altLang="zh-CN" dirty="0" err="1"/>
              <a:t>doesnt</a:t>
            </a:r>
            <a:r>
              <a:rPr lang="en-GB" altLang="zh-CN" dirty="0"/>
              <a:t> have an analytic expression, it works more like a black box, you give it a structure as input, it returns energy and forces. However, MACE is trained on conventional materials and regular crystals, Irradiated </a:t>
            </a:r>
            <a:r>
              <a:rPr lang="en-GB" altLang="zh-CN" b="1" dirty="0"/>
              <a:t>REBCO</a:t>
            </a:r>
            <a:r>
              <a:rPr lang="en-GB" altLang="zh-CN" dirty="0"/>
              <a:t> is much more complicated, we are not sure MACE is accurate or not. </a:t>
            </a:r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dirty="0"/>
          </a:p>
          <a:p>
            <a:endParaRPr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So, the first task of my project is to validate the accuracy of </a:t>
            </a:r>
            <a:r>
              <a:rPr lang="en-GB" altLang="zh-CN" b="1" dirty="0"/>
              <a:t>MACE</a:t>
            </a:r>
            <a:r>
              <a:rPr lang="en-GB" altLang="zh-CN" dirty="0"/>
              <a:t>. I first performed </a:t>
            </a:r>
            <a:r>
              <a:rPr lang="en-GB" altLang="zh-CN" b="1" dirty="0"/>
              <a:t>geometry </a:t>
            </a:r>
            <a:r>
              <a:rPr lang="en-GB" altLang="zh-CN" b="1" dirty="0" err="1"/>
              <a:t>optimisation</a:t>
            </a:r>
            <a:r>
              <a:rPr lang="en-GB" altLang="zh-CN" dirty="0"/>
              <a:t> in </a:t>
            </a:r>
            <a:r>
              <a:rPr lang="en-GB" altLang="zh-CN" b="1" dirty="0"/>
              <a:t>DFT</a:t>
            </a:r>
            <a:r>
              <a:rPr lang="en-GB" altLang="zh-CN" dirty="0"/>
              <a:t> for both </a:t>
            </a:r>
            <a:r>
              <a:rPr lang="en-GB" altLang="zh-CN" b="1" dirty="0"/>
              <a:t>pristine REBCO</a:t>
            </a:r>
            <a:r>
              <a:rPr lang="en-GB" altLang="zh-CN" dirty="0"/>
              <a:t> and defective structures containing </a:t>
            </a:r>
            <a:r>
              <a:rPr lang="en-GB" altLang="zh-CN" b="1" dirty="0"/>
              <a:t>interstitials</a:t>
            </a:r>
            <a:r>
              <a:rPr lang="en-GB" altLang="zh-CN" dirty="0"/>
              <a:t>, </a:t>
            </a:r>
            <a:r>
              <a:rPr lang="en-GB" altLang="zh-CN" b="1" dirty="0"/>
              <a:t>vacancies</a:t>
            </a:r>
            <a:r>
              <a:rPr lang="en-GB" altLang="zh-CN" dirty="0"/>
              <a:t>, and </a:t>
            </a:r>
            <a:r>
              <a:rPr lang="en-GB" altLang="zh-CN" b="1" dirty="0"/>
              <a:t>Frenkel defects</a:t>
            </a:r>
            <a:r>
              <a:rPr lang="en-GB" altLang="zh-CN" dirty="0"/>
              <a:t>, in order to obtain a set benchmark data.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For the </a:t>
            </a:r>
            <a:r>
              <a:rPr lang="en-GB" altLang="zh-CN" b="1" dirty="0"/>
              <a:t>DFT</a:t>
            </a:r>
            <a:r>
              <a:rPr lang="en-GB" altLang="zh-CN" dirty="0"/>
              <a:t> calculations, I used the </a:t>
            </a:r>
            <a:r>
              <a:rPr lang="en-GB" altLang="zh-CN" b="1" dirty="0"/>
              <a:t>PBE functional</a:t>
            </a:r>
            <a:r>
              <a:rPr lang="en-GB" altLang="zh-CN" dirty="0"/>
              <a:t>, because the </a:t>
            </a:r>
            <a:r>
              <a:rPr lang="en-GB" altLang="zh-CN" b="1" dirty="0"/>
              <a:t>MACE </a:t>
            </a:r>
            <a:r>
              <a:rPr lang="en-GB" altLang="zh-CN" dirty="0"/>
              <a:t>was also trained on </a:t>
            </a:r>
            <a:r>
              <a:rPr lang="en-GB" altLang="zh-CN" b="1" dirty="0"/>
              <a:t>PBE DFT data</a:t>
            </a:r>
            <a:r>
              <a:rPr lang="en-GB" altLang="zh-CN" dirty="0"/>
              <a:t>. </a:t>
            </a:r>
            <a:br>
              <a:rPr lang="en-GB" altLang="zh-CN" dirty="0"/>
            </a:br>
            <a:endParaRPr lang="en-GB" altLang="zh-CN" dirty="0"/>
          </a:p>
          <a:p>
            <a:r>
              <a:rPr lang="en-GB" altLang="zh-CN" dirty="0"/>
              <a:t>I then used </a:t>
            </a:r>
            <a:r>
              <a:rPr lang="en-GB" altLang="zh-CN" b="1" dirty="0"/>
              <a:t>MACE</a:t>
            </a:r>
            <a:r>
              <a:rPr lang="en-GB" altLang="zh-CN" dirty="0"/>
              <a:t> within </a:t>
            </a:r>
            <a:r>
              <a:rPr lang="en-GB" altLang="zh-CN" b="1" dirty="0"/>
              <a:t>ASE</a:t>
            </a:r>
            <a:r>
              <a:rPr lang="en-GB" altLang="zh-CN" dirty="0"/>
              <a:t> to perform </a:t>
            </a:r>
            <a:r>
              <a:rPr lang="en-GB" altLang="zh-CN" b="1" dirty="0"/>
              <a:t>geometry </a:t>
            </a:r>
            <a:r>
              <a:rPr lang="en-GB" altLang="zh-CN" b="1" dirty="0" err="1"/>
              <a:t>optimisation</a:t>
            </a:r>
            <a:r>
              <a:rPr lang="en-GB" altLang="zh-CN" dirty="0"/>
              <a:t> on the same structures, and compared the resulting structural data with the </a:t>
            </a:r>
            <a:r>
              <a:rPr lang="en-GB" altLang="zh-CN" b="1" dirty="0"/>
              <a:t>DFT</a:t>
            </a:r>
            <a:r>
              <a:rPr lang="en-GB" altLang="zh-CN" dirty="0"/>
              <a:t> results. The main quantity I focused on was </a:t>
            </a:r>
            <a:r>
              <a:rPr lang="en-GB" altLang="zh-CN" b="1" dirty="0"/>
              <a:t>bond length</a:t>
            </a:r>
            <a:r>
              <a:rPr lang="en-GB" altLang="zh-CN" dirty="0"/>
              <a:t>, because it directly reflects the local atomic environment and is very sensitive to structural distortion near defects.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b="1" dirty="0"/>
              <a:t>This figure shows the comparison of bond lengths between MACE and DFT</a:t>
            </a:r>
            <a:r>
              <a:rPr lang="zh-CN" altLang="en-US" b="1" dirty="0"/>
              <a:t> </a:t>
            </a:r>
            <a:r>
              <a:rPr lang="en-US" altLang="zh-CN" b="1" dirty="0"/>
              <a:t>for pristine </a:t>
            </a:r>
            <a:r>
              <a:rPr lang="en-US" altLang="zh-CN" b="1" dirty="0" err="1"/>
              <a:t>Rebco</a:t>
            </a:r>
            <a:endParaRPr lang="en-GB" altLang="zh-CN" dirty="0"/>
          </a:p>
          <a:p>
            <a:r>
              <a:rPr lang="en-GB" altLang="zh-CN" dirty="0"/>
              <a:t>The </a:t>
            </a:r>
            <a:r>
              <a:rPr lang="en-GB" altLang="zh-CN" b="1" dirty="0"/>
              <a:t>orange line</a:t>
            </a:r>
            <a:r>
              <a:rPr lang="en-GB" altLang="zh-CN" dirty="0"/>
              <a:t> corresponds to </a:t>
            </a:r>
            <a:r>
              <a:rPr lang="en-GB" altLang="zh-CN" b="1" dirty="0"/>
              <a:t>MACE</a:t>
            </a:r>
            <a:r>
              <a:rPr lang="en-GB" altLang="zh-CN" dirty="0"/>
              <a:t>, and the </a:t>
            </a:r>
            <a:r>
              <a:rPr lang="en-GB" altLang="zh-CN" b="1" dirty="0"/>
              <a:t>blue line</a:t>
            </a:r>
            <a:r>
              <a:rPr lang="en-GB" altLang="zh-CN" dirty="0"/>
              <a:t> corresponds to </a:t>
            </a:r>
            <a:r>
              <a:rPr lang="en-GB" altLang="zh-CN" b="1" dirty="0"/>
              <a:t>DFT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On the </a:t>
            </a:r>
            <a:r>
              <a:rPr lang="en-GB" altLang="zh-CN" b="1" dirty="0"/>
              <a:t>x-axis</a:t>
            </a:r>
            <a:r>
              <a:rPr lang="en-GB" altLang="zh-CN" dirty="0"/>
              <a:t>, I list different </a:t>
            </a:r>
            <a:r>
              <a:rPr lang="en-GB" altLang="zh-CN" b="1" dirty="0"/>
              <a:t>bond types</a:t>
            </a:r>
            <a:r>
              <a:rPr lang="en-GB" altLang="zh-CN" dirty="0"/>
              <a:t>, and on the </a:t>
            </a:r>
            <a:r>
              <a:rPr lang="en-GB" altLang="zh-CN" b="1" dirty="0"/>
              <a:t>y-axis</a:t>
            </a:r>
            <a:r>
              <a:rPr lang="en-GB" altLang="zh-CN" dirty="0"/>
              <a:t> is the </a:t>
            </a:r>
            <a:r>
              <a:rPr lang="en-GB" altLang="zh-CN" b="1" dirty="0"/>
              <a:t>bond length</a:t>
            </a:r>
            <a:r>
              <a:rPr lang="en-GB" altLang="zh-CN" dirty="0"/>
              <a:t> in angstrom.</a:t>
            </a:r>
            <a:endParaRPr lang="en-GB" altLang="zh-CN" dirty="0"/>
          </a:p>
          <a:p>
            <a:r>
              <a:rPr lang="en-GB" altLang="zh-CN" dirty="0"/>
              <a:t>As we can see, the two sets of data are in very close agreement across almost all bond types.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b="1" dirty="0"/>
              <a:t>This figure shows the comparison of bond lengths between MACE and DFT</a:t>
            </a:r>
            <a:r>
              <a:rPr lang="zh-CN" altLang="en-US" b="1" dirty="0"/>
              <a:t> </a:t>
            </a:r>
            <a:r>
              <a:rPr lang="en-US" altLang="zh-CN" b="1" dirty="0"/>
              <a:t>for Oxygen vacancy defect.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/>
              <a:t>The data sets are also very close. </a:t>
            </a:r>
            <a:endParaRPr lang="en-GB" altLang="zh-CN" dirty="0"/>
          </a:p>
          <a:p>
            <a:endParaRPr kumimoji="1" lang="en-US" altLang="zh-CN" dirty="0"/>
          </a:p>
          <a:p>
            <a:r>
              <a:rPr lang="en-GB" altLang="zh-CN" dirty="0"/>
              <a:t>This suggests that </a:t>
            </a:r>
            <a:r>
              <a:rPr lang="en-GB" altLang="zh-CN" b="1" dirty="0"/>
              <a:t>MACE</a:t>
            </a:r>
            <a:r>
              <a:rPr lang="en-GB" altLang="zh-CN" dirty="0"/>
              <a:t> can reproduce the local structure of </a:t>
            </a:r>
            <a:r>
              <a:rPr lang="en-GB" altLang="zh-CN" b="1" dirty="0"/>
              <a:t>REBCO</a:t>
            </a:r>
            <a:r>
              <a:rPr lang="en-GB" altLang="zh-CN" dirty="0"/>
              <a:t> very </a:t>
            </a:r>
            <a:r>
              <a:rPr lang="en-GB" altLang="zh-CN" dirty="0" err="1"/>
              <a:t>well,So</a:t>
            </a:r>
            <a:r>
              <a:rPr lang="en-GB" altLang="zh-CN" dirty="0"/>
              <a:t> this gives confidence that </a:t>
            </a:r>
            <a:r>
              <a:rPr lang="en-GB" altLang="zh-CN" b="1" dirty="0"/>
              <a:t>MACE</a:t>
            </a:r>
            <a:r>
              <a:rPr lang="en-GB" altLang="zh-CN" dirty="0"/>
              <a:t> is a reliable tool for modelling </a:t>
            </a:r>
            <a:r>
              <a:rPr lang="en-GB" altLang="zh-CN" b="1" dirty="0" err="1"/>
              <a:t>Rebco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b="1" dirty="0"/>
              <a:t>Since MACE shows very good agreement with DFT in terms of geometry-</a:t>
            </a:r>
            <a:r>
              <a:rPr lang="en-GB" altLang="zh-CN" b="1" dirty="0" err="1"/>
              <a:t>optimised</a:t>
            </a:r>
            <a:r>
              <a:rPr lang="en-GB" altLang="zh-CN" b="1" dirty="0"/>
              <a:t> bond lengths, I then used it for molecular dynamics simulations.</a:t>
            </a:r>
            <a:endParaRPr lang="en-GB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b="1" dirty="0"/>
          </a:p>
          <a:p>
            <a:r>
              <a:rPr lang="en-GB" altLang="zh-CN" dirty="0"/>
              <a:t>My research focuses on the stability of defects in irradiated </a:t>
            </a:r>
            <a:r>
              <a:rPr lang="en-GB" altLang="zh-CN" b="1" dirty="0"/>
              <a:t>REBCO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After irradiation, the material loses its superconductivity and would be removed from the fusion reactor. So in the simulation, I used the </a:t>
            </a:r>
            <a:r>
              <a:rPr lang="en-GB" altLang="zh-CN" b="1" dirty="0"/>
              <a:t>NVT ensemble</a:t>
            </a:r>
            <a:r>
              <a:rPr lang="en-GB" altLang="zh-CN" dirty="0"/>
              <a:t>, where the number of particles, volume, and temperature are kept constant, with the temperature set to </a:t>
            </a:r>
            <a:r>
              <a:rPr lang="en-GB" altLang="zh-CN" b="1" dirty="0"/>
              <a:t>room temperature (298 K)</a:t>
            </a:r>
            <a:r>
              <a:rPr lang="en-GB" altLang="zh-CN" dirty="0"/>
              <a:t>. </a:t>
            </a:r>
            <a:br>
              <a:rPr lang="en-GB" altLang="zh-CN" dirty="0"/>
            </a:br>
            <a:endParaRPr lang="en-GB" altLang="zh-CN" dirty="0"/>
          </a:p>
          <a:p>
            <a:r>
              <a:rPr lang="en-GB" altLang="zh-CN" dirty="0"/>
              <a:t>For temperature control, I used the </a:t>
            </a:r>
            <a:r>
              <a:rPr lang="en-GB" altLang="zh-CN" b="1" dirty="0"/>
              <a:t>Langevin thermostat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This method maintains the system temperature by adding both damping and random forces to the equations of motion, while also mimicking the energy exchange between the lattice and a thermal bath.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For the structural model, I used a </a:t>
            </a:r>
            <a:r>
              <a:rPr lang="en-GB" altLang="zh-CN" b="1" dirty="0"/>
              <a:t>5×5×3 REBCO supercell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which provides a more realistic representation of low-concentration irradiation defects.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MD simulations we observe two different </a:t>
            </a:r>
            <a:r>
              <a:rPr lang="en-GB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behaviours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depending on the defect configuration.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Case 1 the interstitial oxygen recombines with the vacancy during the simulation, while in Case 2 the Frenkel defect remains stable.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simply observing whether recombination occurs, we are also interested in how these defects influence the </a:t>
            </a:r>
            <a:r>
              <a:rPr lang="en-GB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lattice dynamics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material, including defect vibration, bond stiffness, disorder </a:t>
            </a:r>
            <a:r>
              <a:rPr lang="en-GB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ect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GB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effects, we calculate the </a:t>
            </a:r>
            <a:r>
              <a:rPr lang="en-GB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velocity autocorrelation function (VACF)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MD trajectories and obtain the </a:t>
            </a:r>
            <a:r>
              <a:rPr lang="en-GB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vibrational density of states (VDOS)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Fourier transform.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 little bit equations for VDOS and VACF. </a:t>
            </a:r>
            <a:endParaRPr lang="en-US" altLang="zh-CN" dirty="0"/>
          </a:p>
          <a:p>
            <a:endParaRPr lang="en-US" altLang="zh-CN" dirty="0"/>
          </a:p>
          <a:p>
            <a:r>
              <a:rPr lang="en-GB" altLang="zh-CN" dirty="0"/>
              <a:t>The velocity autocorrelation function, or VACF, measures how the velocity of atoms correlates with itself over time.</a:t>
            </a:r>
            <a:endParaRPr lang="en-GB" altLang="zh-CN" dirty="0"/>
          </a:p>
          <a:p>
            <a:r>
              <a:rPr lang="en-GB" altLang="zh-CN" dirty="0"/>
              <a:t>Mathematically, it is defined as the average dot product between the velocity at time zero and the velocity at a later time.</a:t>
            </a:r>
            <a:endParaRPr lang="en-GB" altLang="zh-CN" dirty="0"/>
          </a:p>
          <a:p>
            <a:r>
              <a:rPr lang="en-GB" altLang="zh-CN" dirty="0"/>
              <a:t>Physically, VACF describes how atomic motion evolves in time and therefore reflects the vibrational dynamics of the system.</a:t>
            </a:r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dirty="0"/>
              <a:t>From the VACF, we can obtain the vibrational density of states by performing a Fourier transform.</a:t>
            </a:r>
            <a:endParaRPr lang="en-GB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During the MD simulation, the vacancy and interstitial remain separated, and the overall lattice structure remains relatively stable.</a:t>
            </a:r>
            <a:endParaRPr lang="en-GB" altLang="zh-CN" dirty="0"/>
          </a:p>
          <a:p>
            <a:r>
              <a:rPr lang="en-GB" altLang="zh-CN" dirty="0"/>
              <a:t>First, looking at the total VDOS, the main vibrational intensity is between approximately 5 and 10 THz, with the strongest peak around 8 to 9 THz.</a:t>
            </a:r>
            <a:br>
              <a:rPr lang="en-GB" altLang="zh-CN" dirty="0"/>
            </a:br>
            <a:endParaRPr lang="en-GB" altLang="zh-CN" dirty="0"/>
          </a:p>
          <a:p>
            <a:r>
              <a:rPr lang="en-GB" altLang="zh-CN" dirty="0"/>
              <a:t>Next, we examine the element-resolved VDOS.</a:t>
            </a:r>
            <a:endParaRPr lang="en-GB" altLang="zh-CN" dirty="0"/>
          </a:p>
          <a:p>
            <a:r>
              <a:rPr lang="en-GB" altLang="zh-CN" dirty="0"/>
              <a:t>For oxygen, the spectrum closely follows the total VDOS, indicating that oxygen atoms dominate the vibrational </a:t>
            </a:r>
            <a:r>
              <a:rPr lang="en-GB" altLang="zh-CN" dirty="0" err="1"/>
              <a:t>behaviour</a:t>
            </a:r>
            <a:r>
              <a:rPr lang="en-GB" altLang="zh-CN" dirty="0"/>
              <a:t> of the system.</a:t>
            </a:r>
            <a:br>
              <a:rPr lang="en-GB" altLang="zh-CN" dirty="0"/>
            </a:b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For barium and yttrium, the peaks are mainly located in the low-frequency region, around 3 to 5 THz.</a:t>
            </a:r>
            <a:br>
              <a:rPr lang="en-GB" altLang="zh-CN" dirty="0"/>
            </a:br>
            <a:r>
              <a:rPr lang="en-GB" altLang="zh-CN" dirty="0"/>
              <a:t>This is dur to their larger atomic masses, which lead to lower vibrational frequencies.</a:t>
            </a:r>
            <a:endParaRPr lang="en-GB" altLang="zh-CN" dirty="0"/>
          </a:p>
          <a:p>
            <a:r>
              <a:rPr lang="en-GB" altLang="zh-CN" dirty="0"/>
              <a:t>For copper, the main contribution appears in the intermediate frequency range, roughly between 4 and 8 THz, with a small contribution extending into higher frequencies.</a:t>
            </a:r>
            <a:br>
              <a:rPr lang="en-GB" altLang="zh-CN" dirty="0"/>
            </a:b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Overall, the absence of any sharp abnormal peaks suggests that the Frenkel defect does not introduce strong lattice instability in this configuration, although it still perturbs the local vibrational environment.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sz="3600" b="1">
                <a:solidFill>
                  <a:srgbClr val="FFFFFF"/>
                </a:solidFill>
                <a:latin typeface="Calibri"/>
              </a:rPr>
              <a:t>Investigating Defects in REBCO Using DFT and Machine Learning Potentials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97876" y="3875307"/>
            <a:ext cx="9144000" cy="1655762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en-US" altLang="zh-CN" dirty="0" sz="2000" b="0">
                <a:solidFill>
                  <a:srgbClr val="41B6E6"/>
                </a:solidFill>
                <a:latin typeface="Calibri"/>
              </a:rPr>
              <a:t>Supervisors: Rebecca Nicholls &amp; Jonathan Yates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Background</a:t>
            </a:r>
            <a:endParaRPr kumimoji="1" lang="en-US" altLang="zh-CN" dirty="0"/>
          </a:p>
        </p:txBody>
      </p:sp>
      <p:pic>
        <p:nvPicPr>
          <p:cNvPr id="5" name="内容占位符 4" descr="有钟表的建筑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3575" y="1574800"/>
            <a:ext cx="7368540" cy="3524885"/>
          </a:xfrm>
        </p:spPr>
      </p:pic>
      <p:sp>
        <p:nvSpPr>
          <p:cNvPr id="9" name="文本框 8"/>
          <p:cNvSpPr txBox="1"/>
          <p:nvPr/>
        </p:nvSpPr>
        <p:spPr>
          <a:xfrm>
            <a:off x="663575" y="5365750"/>
            <a:ext cx="7258685" cy="528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zh-CN" dirty="0">
                <a:solidFill>
                  <a:srgbClr val="FFFFFF"/>
                </a:solidFill>
                <a:latin typeface="Calibri"/>
              </a:rPr>
              <a:t>High magnetic fields in fusion magnets rely on REBCO superconductors</a:t>
            </a:r>
            <a:endParaRPr kumimoji="1" lang="zh-CN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FFFFFF"/>
                </a:solidFill>
                <a:latin typeface="Calibri"/>
              </a:rPr>
              <a:t>Background</a:t>
            </a:r>
            <a:endParaRPr lang="en-US" altLang="zh-CN"/>
          </a:p>
        </p:txBody>
      </p:sp>
      <p:pic>
        <p:nvPicPr>
          <p:cNvPr id="7" name="图片 6" descr="截屏2026-03-06 05.53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47495"/>
            <a:ext cx="2883535" cy="4128770"/>
          </a:xfrm>
          <a:prstGeom prst="rect">
            <a:avLst/>
          </a:prstGeom>
        </p:spPr>
      </p:pic>
      <p:pic>
        <p:nvPicPr>
          <p:cNvPr id="8" name="图片 7" descr="截屏2026-03-06 05.54.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280" y="1691005"/>
            <a:ext cx="5702300" cy="3365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81965" y="5676265"/>
            <a:ext cx="4816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FFFF"/>
                </a:solidFill>
                <a:latin typeface="Calibri"/>
              </a:rPr>
              <a:t> Part of the REBCO unit cell showing the two different Cu sites (in red) and their coordination with O atoms (in grey).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799580" y="56762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FFFF"/>
                </a:solidFill>
                <a:latin typeface="Calibri"/>
              </a:rPr>
              <a:t>Schematic diagram of a generic coated conductor tape</a:t>
            </a:r>
            <a:endParaRPr lang="en-US" altLang="zh-CN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kumimoji="1" lang="en-US" altLang="zh-CN" sz="3800" b="1">
                <a:solidFill>
                  <a:srgbClr val="41B6E6"/>
                </a:solidFill>
                <a:latin typeface="Calibri"/>
              </a:rPr>
              <a:t>Machine learning potential</a:t>
            </a:r>
            <a:endParaRPr kumimoji="1" lang="en-US" altLang="zh-CN" sz="3800"/>
          </a:p>
        </p:txBody>
      </p:sp>
      <p:sp>
        <p:nvSpPr>
          <p:cNvPr id="12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kumimoji="1" lang="zh-CN" altLang="en-US" sz="2200"/>
          </a:p>
          <a:p>
            <a:pPr marL="0" indent="0">
              <a:buNone/>
            </a:pPr>
            <a:endParaRPr kumimoji="1" lang="zh-CN" altLang="en-US" sz="2200"/>
          </a:p>
          <a:p>
            <a:pPr marL="0" indent="0">
              <a:buNone/>
            </a:pPr>
            <a:endParaRPr kumimoji="1" lang="zh-CN" altLang="en-US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</p:txBody>
      </p:sp>
      <p:pic>
        <p:nvPicPr>
          <p:cNvPr id="5" name="图片 4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296" y="1081735"/>
            <a:ext cx="6903720" cy="46945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Validation strategy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>
                <a:solidFill>
                  <a:srgbClr val="FFFFFF"/>
                </a:solidFill>
                <a:latin typeface="Calibri"/>
              </a:rPr>
              <a:t>Compare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DFT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ASE + MACE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 for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geometry </a:t>
            </a:r>
            <a:r>
              <a:rPr lang="en-GB" altLang="zh-CN" b="1" dirty="0" err="1">
                <a:solidFill>
                  <a:srgbClr val="FFFFFF"/>
                </a:solidFill>
                <a:latin typeface="Calibri"/>
              </a:rPr>
              <a:t>optimisation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.</a:t>
            </a:r>
            <a:endParaRPr lang="en-GB" altLang="zh-CN" dirty="0"/>
          </a:p>
          <a:p>
            <a:r>
              <a:rPr lang="en-GB" altLang="zh-CN" dirty="0">
                <a:solidFill>
                  <a:srgbClr val="FFFFFF"/>
                </a:solidFill>
                <a:latin typeface="Calibri"/>
              </a:rPr>
              <a:t>Test both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pristine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 and defective structures: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interstitial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vacancy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, and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Frenkel defect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.</a:t>
            </a:r>
            <a:endParaRPr lang="en-GB" altLang="zh-CN" dirty="0"/>
          </a:p>
          <a:p>
            <a:r>
              <a:rPr lang="en-GB" altLang="zh-CN" dirty="0">
                <a:solidFill>
                  <a:srgbClr val="FFFFFF"/>
                </a:solidFill>
                <a:latin typeface="Calibri"/>
              </a:rPr>
              <a:t>Use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bond length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 as the main structural metric, because it is sensitive to local distortion around defects.</a:t>
            </a:r>
            <a:endParaRPr lang="en-GB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DFT vs MACE</a:t>
            </a:r>
            <a:endParaRPr kumimoji="1" lang="zh-CN" altLang="en-US" dirty="0"/>
          </a:p>
        </p:txBody>
      </p:sp>
      <p:pic>
        <p:nvPicPr>
          <p:cNvPr id="5" name="内容占位符 4" descr="图表, 折线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0190" y="1809886"/>
            <a:ext cx="10515600" cy="4293704"/>
          </a:xfr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DFT vs MACE</a:t>
            </a:r>
            <a:endParaRPr kumimoji="1" lang="zh-CN" altLang="en-US" dirty="0"/>
          </a:p>
        </p:txBody>
      </p:sp>
      <p:pic>
        <p:nvPicPr>
          <p:cNvPr id="5" name="内容占位符 4" descr="图表, 折线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5972" y="1839927"/>
            <a:ext cx="10515600" cy="4293704"/>
          </a:xfr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FF"/>
                </a:solidFill>
                <a:latin typeface="Calibri"/>
              </a:rPr>
              <a:t>MD set up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5000"/>
          </a:bodyPr>
          <a:lstStyle/>
          <a:p>
            <a:r>
              <a:rPr lang="en-GB" altLang="zh-CN" dirty="0">
                <a:solidFill>
                  <a:srgbClr val="FFFFFF"/>
                </a:solidFill>
                <a:latin typeface="Calibri"/>
              </a:rPr>
              <a:t>Target: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stability of defects in irradiated REBCO</a:t>
            </a:r>
            <a:endParaRPr lang="en-GB" altLang="zh-CN" dirty="0"/>
          </a:p>
          <a:p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NVT ensemble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 at </a:t>
            </a:r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298 K</a:t>
            </a:r>
            <a:endParaRPr lang="en-GB" altLang="zh-CN" dirty="0"/>
          </a:p>
          <a:p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Langevin thermostat</a:t>
            </a:r>
            <a:r>
              <a:rPr lang="en-GB" altLang="zh-CN" dirty="0">
                <a:solidFill>
                  <a:srgbClr val="FFFFFF"/>
                </a:solidFill>
                <a:latin typeface="Calibri"/>
              </a:rPr>
              <a:t> for temperature control</a:t>
            </a:r>
            <a:endParaRPr lang="en-GB" altLang="zh-CN" dirty="0"/>
          </a:p>
          <a:p>
            <a:r>
              <a:rPr lang="en-GB" altLang="zh-CN" dirty="0">
                <a:solidFill>
                  <a:srgbClr val="FFFFFF"/>
                </a:solidFill>
                <a:latin typeface="Calibri"/>
              </a:rPr>
              <a:t>Fixed-volume simulation of thermal equilibrium</a:t>
            </a:r>
            <a:endParaRPr lang="en-GB" altLang="zh-CN" dirty="0"/>
          </a:p>
          <a:p>
            <a:r>
              <a:rPr lang="en-GB" altLang="zh-CN" b="1" dirty="0">
                <a:solidFill>
                  <a:srgbClr val="FFFFFF"/>
                </a:solidFill>
                <a:latin typeface="Calibri"/>
              </a:rPr>
              <a:t>5×5×3 supercell</a:t>
            </a:r>
            <a:endParaRPr lang="en-GB" altLang="zh-CN" dirty="0"/>
          </a:p>
          <a:p>
            <a:pPr marL="0" indent="0" fontAlgn="auto">
              <a:lnSpc>
                <a:spcPct val="130000"/>
              </a:lnSpc>
              <a:buNone/>
            </a:pP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FF"/>
                </a:solidFill>
                <a:latin typeface="Calibri"/>
              </a:rPr>
              <a:t>Frankel defects</a:t>
            </a:r>
            <a:endParaRPr lang="en-US" altLang="zh-CN" dirty="0"/>
          </a:p>
        </p:txBody>
      </p:sp>
      <p:pic>
        <p:nvPicPr>
          <p:cNvPr id="5" name="内容占位符 4" descr="图片包含 游戏机, 食物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2268" y="1508505"/>
            <a:ext cx="2619868" cy="4351338"/>
          </a:xfrm>
        </p:spPr>
      </p:pic>
      <p:pic>
        <p:nvPicPr>
          <p:cNvPr id="7" name="图片 6" descr="图片包含 游戏机, 食物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004" y="1599597"/>
            <a:ext cx="2869833" cy="435133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12135" y="3222509"/>
            <a:ext cx="1969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Case 1:</a:t>
            </a:r>
            <a:br>
              <a:rPr kumimoji="1" lang="en-US" altLang="zh-CN" dirty="0"/>
            </a:br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Oxygen Vacancy and Interstitial in same unit cell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356960" y="3208332"/>
            <a:ext cx="1996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Case 2: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Oxygen Vacancy and Interstitial in different unit cell</a:t>
            </a:r>
            <a:endParaRPr kumimoji="1" lang="zh-CN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 descr="图片包含 图示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rcRect l="15074" r="15946"/>
          <a:stretch>
            <a:fillRect/>
          </a:stretch>
        </p:blipFill>
        <p:spPr>
          <a:xfrm>
            <a:off x="3621262" y="36287"/>
            <a:ext cx="4375870" cy="6858000"/>
          </a:xfrm>
          <a:custGeom>
            <a:avLst/>
            <a:gdLst/>
            <a:ahLst/>
            <a:cxnLst/>
            <a:rect l="l" t="t" r="r" b="b"/>
            <a:pathLst>
              <a:path w="4375870" h="6858000">
                <a:moveTo>
                  <a:pt x="4441" y="0"/>
                </a:moveTo>
                <a:lnTo>
                  <a:pt x="4375870" y="0"/>
                </a:lnTo>
                <a:lnTo>
                  <a:pt x="4375870" y="23"/>
                </a:lnTo>
                <a:lnTo>
                  <a:pt x="4375870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7" name="图片 6" descr="图片包含 图表&#10;&#10;AI 生成的内容可能不正确。"/>
          <p:cNvPicPr>
            <a:picLocks noChangeAspect="1"/>
          </p:cNvPicPr>
          <p:nvPr/>
        </p:nvPicPr>
        <p:blipFill>
          <a:blip r:embed="rId2"/>
          <a:srcRect l="10296" r="11158"/>
          <a:stretch>
            <a:fillRect/>
          </a:stretch>
        </p:blipFill>
        <p:spPr>
          <a:xfrm>
            <a:off x="7052220" y="18144"/>
            <a:ext cx="4942298" cy="6857999"/>
          </a:xfrm>
          <a:custGeom>
            <a:avLst/>
            <a:gdLst/>
            <a:ahLst/>
            <a:cxnLst/>
            <a:rect l="l" t="t" r="r" b="b"/>
            <a:pathLst>
              <a:path w="4942298" h="6857999">
                <a:moveTo>
                  <a:pt x="0" y="0"/>
                </a:moveTo>
                <a:lnTo>
                  <a:pt x="4164238" y="0"/>
                </a:lnTo>
                <a:lnTo>
                  <a:pt x="4271743" y="210478"/>
                </a:lnTo>
                <a:cubicBezTo>
                  <a:pt x="4695097" y="1127919"/>
                  <a:pt x="4942298" y="2233909"/>
                  <a:pt x="4942298" y="3424428"/>
                </a:cubicBezTo>
                <a:cubicBezTo>
                  <a:pt x="4942298" y="4614948"/>
                  <a:pt x="4695097" y="5720938"/>
                  <a:pt x="4271743" y="6638378"/>
                </a:cubicBezTo>
                <a:lnTo>
                  <a:pt x="4159568" y="6857999"/>
                </a:lnTo>
                <a:lnTo>
                  <a:pt x="49488" y="6857999"/>
                </a:lnTo>
                <a:lnTo>
                  <a:pt x="119616" y="6721637"/>
                </a:lnTo>
                <a:cubicBezTo>
                  <a:pt x="540124" y="5863919"/>
                  <a:pt x="796416" y="4724528"/>
                  <a:pt x="796416" y="3474162"/>
                </a:cubicBezTo>
                <a:cubicBezTo>
                  <a:pt x="796416" y="2140439"/>
                  <a:pt x="504812" y="932979"/>
                  <a:pt x="33352" y="58950"/>
                </a:cubicBezTo>
                <a:close/>
              </a:path>
            </a:pathLst>
          </a:custGeom>
        </p:spPr>
      </p:pic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3" y="1511589"/>
            <a:ext cx="3430958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zh-CN" sz="4000" kern="1200" b="1">
                <a:solidFill>
                  <a:srgbClr val="41B6E6"/>
                </a:solidFill>
                <a:latin typeface="Calibri"/>
                <a:ea typeface="+mj-ea"/>
                <a:cs typeface="+mj-cs"/>
              </a:rPr>
              <a:t>Case 1</a:t>
            </a:r>
            <a:endParaRPr kumimoji="1" lang="en-US" altLang="zh-CN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 descr="图片包含 图示&#10;&#10;AI 生成的内容可能不正确。"/>
          <p:cNvPicPr>
            <a:picLocks noChangeAspect="1"/>
          </p:cNvPicPr>
          <p:nvPr/>
        </p:nvPicPr>
        <p:blipFill>
          <a:blip r:embed="rId1"/>
          <a:srcRect l="15351" r="15855"/>
          <a:stretch>
            <a:fillRect/>
          </a:stretch>
        </p:blipFill>
        <p:spPr>
          <a:xfrm>
            <a:off x="3624852" y="0"/>
            <a:ext cx="4375870" cy="6858000"/>
          </a:xfrm>
          <a:custGeom>
            <a:avLst/>
            <a:gdLst/>
            <a:ahLst/>
            <a:cxnLst/>
            <a:rect l="l" t="t" r="r" b="b"/>
            <a:pathLst>
              <a:path w="4375870" h="6858000">
                <a:moveTo>
                  <a:pt x="4441" y="0"/>
                </a:moveTo>
                <a:lnTo>
                  <a:pt x="4375870" y="0"/>
                </a:lnTo>
                <a:lnTo>
                  <a:pt x="4375870" y="23"/>
                </a:lnTo>
                <a:lnTo>
                  <a:pt x="4375870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5" name="内容占位符 4" descr="图片包含 图示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/>
          <a:srcRect l="10805" r="11285"/>
          <a:stretch>
            <a:fillRect/>
          </a:stretch>
        </p:blipFill>
        <p:spPr>
          <a:xfrm>
            <a:off x="7055810" y="0"/>
            <a:ext cx="4942298" cy="6857999"/>
          </a:xfrm>
          <a:custGeom>
            <a:avLst/>
            <a:gdLst/>
            <a:ahLst/>
            <a:cxnLst/>
            <a:rect l="l" t="t" r="r" b="b"/>
            <a:pathLst>
              <a:path w="4942298" h="6857999">
                <a:moveTo>
                  <a:pt x="0" y="0"/>
                </a:moveTo>
                <a:lnTo>
                  <a:pt x="4164238" y="0"/>
                </a:lnTo>
                <a:lnTo>
                  <a:pt x="4271743" y="210478"/>
                </a:lnTo>
                <a:cubicBezTo>
                  <a:pt x="4695097" y="1127919"/>
                  <a:pt x="4942298" y="2233909"/>
                  <a:pt x="4942298" y="3424428"/>
                </a:cubicBezTo>
                <a:cubicBezTo>
                  <a:pt x="4942298" y="4614948"/>
                  <a:pt x="4695097" y="5720938"/>
                  <a:pt x="4271743" y="6638378"/>
                </a:cubicBezTo>
                <a:lnTo>
                  <a:pt x="4159568" y="6857999"/>
                </a:lnTo>
                <a:lnTo>
                  <a:pt x="49488" y="6857999"/>
                </a:lnTo>
                <a:lnTo>
                  <a:pt x="119616" y="6721637"/>
                </a:lnTo>
                <a:cubicBezTo>
                  <a:pt x="540124" y="5863919"/>
                  <a:pt x="796416" y="4724528"/>
                  <a:pt x="796416" y="3474162"/>
                </a:cubicBezTo>
                <a:cubicBezTo>
                  <a:pt x="796416" y="2140439"/>
                  <a:pt x="504812" y="932979"/>
                  <a:pt x="33352" y="58950"/>
                </a:cubicBezTo>
                <a:close/>
              </a:path>
            </a:pathLst>
          </a:custGeom>
        </p:spPr>
      </p:pic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3" y="1511589"/>
            <a:ext cx="3430958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zh-CN" sz="4000" kern="1200" b="1">
                <a:solidFill>
                  <a:srgbClr val="41B6E6"/>
                </a:solidFill>
                <a:latin typeface="Calibri"/>
                <a:ea typeface="+mj-ea"/>
                <a:cs typeface="+mj-cs"/>
              </a:rPr>
              <a:t>Case 2</a:t>
            </a:r>
            <a:endParaRPr kumimoji="1" lang="en-US" altLang="zh-CN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FF"/>
                </a:solidFill>
                <a:latin typeface="Calibri"/>
              </a:rPr>
              <a:t>VACF &amp; </a:t>
            </a:r>
            <a:r>
              <a:rPr lang="en-US" altLang="zh-CN" dirty="0" err="1">
                <a:solidFill>
                  <a:srgbClr val="FFFFFF"/>
                </a:solidFill>
                <a:latin typeface="Calibri"/>
              </a:rPr>
              <a:t>Vdos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FFFF"/>
                </a:solidFill>
                <a:latin typeface="Calibri"/>
              </a:rPr>
              <a:t>Velocity autocorrelation function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FFFFFF"/>
                </a:solidFill>
                <a:latin typeface="Calibri"/>
              </a:rPr>
              <a:t>Definition: Measures how atomic velocity correlates with itself over time, describes atomic vibrational dynamics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dirty="0">
                <a:solidFill>
                  <a:srgbClr val="FFFFFF"/>
                </a:solidFill>
                <a:latin typeface="Calibri"/>
              </a:rPr>
              <a:t>Vibrational density od state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FFFFFF"/>
                </a:solidFill>
                <a:latin typeface="Calibri"/>
              </a:rPr>
              <a:t>Obtained from Fourier Transform of VACF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FFFFFF"/>
                </a:solidFill>
                <a:latin typeface="Calibri"/>
              </a:rPr>
              <a:t>Definition; Represent the distribution of vibrational frequencies in the system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 descr="截屏2026-03-06 02.30.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05" y="2289175"/>
            <a:ext cx="2120900" cy="596900"/>
          </a:xfrm>
          <a:prstGeom prst="rect">
            <a:avLst/>
          </a:prstGeom>
        </p:spPr>
      </p:pic>
      <p:pic>
        <p:nvPicPr>
          <p:cNvPr id="5" name="图片 4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43904"/>
            <a:ext cx="3048000" cy="76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solidFill>
                  <a:srgbClr val="FFFFFF"/>
                </a:solidFill>
                <a:latin typeface="Calibri"/>
              </a:rPr>
              <a:t>Vdos</a:t>
            </a:r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 for case 2</a:t>
            </a:r>
            <a:endParaRPr kumimoji="1" lang="zh-CN" altLang="en-US" dirty="0"/>
          </a:p>
        </p:txBody>
      </p:sp>
      <p:pic>
        <p:nvPicPr>
          <p:cNvPr id="5" name="内容占位符 4" descr="图表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000" y="1578882"/>
            <a:ext cx="5826577" cy="4351338"/>
          </a:xfrm>
        </p:spPr>
      </p:pic>
      <p:pic>
        <p:nvPicPr>
          <p:cNvPr id="7" name="图片 6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8882"/>
            <a:ext cx="5969000" cy="4457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zh-CN" sz="6600" b="1">
                <a:solidFill>
                  <a:srgbClr val="41B6E6"/>
                </a:solidFill>
                <a:latin typeface="Calibri"/>
              </a:rPr>
              <a:t>Vdos for case 2</a:t>
            </a:r>
            <a:endParaRPr kumimoji="1" lang="en-US" altLang="zh-CN" sz="6600"/>
          </a:p>
        </p:txBody>
      </p:sp>
      <p:sp>
        <p:nvSpPr>
          <p:cNvPr id="16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 descr="图表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608" y="2996393"/>
            <a:ext cx="3758184" cy="2846823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908" y="3015183"/>
            <a:ext cx="3758184" cy="2809242"/>
          </a:xfrm>
          <a:prstGeom prst="rect">
            <a:avLst/>
          </a:prstGeom>
        </p:spPr>
      </p:pic>
      <p:pic>
        <p:nvPicPr>
          <p:cNvPr id="7" name="图片 6" descr="图表, 直方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208" y="3048068"/>
            <a:ext cx="3758184" cy="274347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solidFill>
                  <a:srgbClr val="FFFFFF"/>
                </a:solidFill>
                <a:latin typeface="Calibri"/>
              </a:rPr>
              <a:t>Vdos</a:t>
            </a:r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 for case 1</a:t>
            </a:r>
            <a:endParaRPr kumimoji="1" lang="zh-CN" altLang="en-US" dirty="0"/>
          </a:p>
        </p:txBody>
      </p:sp>
      <p:pic>
        <p:nvPicPr>
          <p:cNvPr id="5" name="内容占位符 4" descr="图表, 折线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123" y="1690688"/>
            <a:ext cx="5797698" cy="4351338"/>
          </a:xfrm>
        </p:spPr>
      </p:pic>
      <p:pic>
        <p:nvPicPr>
          <p:cNvPr id="7" name="图片 6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77" y="1690688"/>
            <a:ext cx="5943600" cy="4457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Perturbation</a:t>
            </a:r>
            <a:r>
              <a:rPr kumimoji="1" lang="zh-CN" alt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kumimoji="1" lang="en-US" altLang="zh-CN" dirty="0">
                <a:solidFill>
                  <a:srgbClr val="FFFFFF"/>
                </a:solidFill>
                <a:latin typeface="Calibri"/>
              </a:rPr>
              <a:t>graph</a:t>
            </a:r>
            <a:endParaRPr kumimoji="1" lang="zh-CN" altLang="en-US" dirty="0"/>
          </a:p>
        </p:txBody>
      </p:sp>
      <p:pic>
        <p:nvPicPr>
          <p:cNvPr id="5" name="内容占位符 4" descr="图表, 直方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199" y="1356441"/>
            <a:ext cx="6622143" cy="4966607"/>
          </a:xfrm>
        </p:spPr>
      </p:pic>
      <p:pic>
        <p:nvPicPr>
          <p:cNvPr id="7" name="图片 6" descr="图片包含 信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771" y="1690688"/>
            <a:ext cx="2768600" cy="939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a5400bb83c60bedb6f71fb869da42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3475"/>
            <a:ext cx="6076950" cy="4591050"/>
          </a:xfrm>
          <a:prstGeom prst="rect">
            <a:avLst/>
          </a:prstGeom>
        </p:spPr>
      </p:pic>
      <p:pic>
        <p:nvPicPr>
          <p:cNvPr id="5" name="图片 4" descr="911656163e0ecaad57a60ba40560564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1190625"/>
            <a:ext cx="6038850" cy="4533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WPS 演示</Application>
  <PresentationFormat>宽屏</PresentationFormat>
  <Paragraphs>80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Avenir Next LT Pro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Helvetica Neue</vt:lpstr>
      <vt:lpstr>汉仪书宋二KW</vt:lpstr>
      <vt:lpstr>Thonburi</vt:lpstr>
      <vt:lpstr>Avenir Next LT Pro</vt:lpstr>
      <vt:lpstr>苹方-简</vt:lpstr>
      <vt:lpstr>Calibri</vt:lpstr>
      <vt:lpstr>Office 主题​​</vt:lpstr>
      <vt:lpstr>Investigating Defects in REBCO Using DFT and Machine Learning Potentials</vt:lpstr>
      <vt:lpstr>Background</vt:lpstr>
      <vt:lpstr>Background</vt:lpstr>
      <vt:lpstr>Machine learning potential</vt:lpstr>
      <vt:lpstr>Validation strategy</vt:lpstr>
      <vt:lpstr>DFT vs MACE</vt:lpstr>
      <vt:lpstr>DFT vs MACE</vt:lpstr>
      <vt:lpstr>MD set up</vt:lpstr>
      <vt:lpstr>Frankel defects</vt:lpstr>
      <vt:lpstr>Case 1</vt:lpstr>
      <vt:lpstr>Case 2</vt:lpstr>
      <vt:lpstr>VACF &amp; Vdos</vt:lpstr>
      <vt:lpstr>Vdos for case 2</vt:lpstr>
      <vt:lpstr>Vdos for case 2</vt:lpstr>
      <vt:lpstr>Vdos for case 1</vt:lpstr>
      <vt:lpstr>Perturbation graph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Li</dc:creator>
  <cp:lastModifiedBy>啧</cp:lastModifiedBy>
  <cp:revision>6</cp:revision>
  <dcterms:created xsi:type="dcterms:W3CDTF">2026-03-13T15:00:43Z</dcterms:created>
  <dcterms:modified xsi:type="dcterms:W3CDTF">2026-03-13T15:00:43Z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5AB3124531B36374EC069F691B2B6BDA_43</vt:lpwstr>
  </property>
  <property fmtid="{D5CDD505-2E9C-101B-9397-08002B2CF9AE}" pid="3" name="KSOProductBuildVer">
    <vt:lpwstr>2052-7.3.1.8967</vt:lpwstr>
  </property>
</Properties>
</file>